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ROUGE-1 F1 Scores per Sample</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1A73E8"/>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Sample 1</c:v>
                  </c:pt>
                  <c:pt idx="1">
                    <c:v>Sample 2</c:v>
                  </c:pt>
                  <c:pt idx="2">
                    <c:v>Sample 3</c:v>
                  </c:pt>
                  <c:pt idx="3">
                    <c:v>Sample 4</c:v>
                  </c:pt>
                  <c:pt idx="4">
                    <c:v>Sample 5</c:v>
                  </c:pt>
                  <c:pt idx="5">
                    <c:v>Average</c:v>
                  </c:pt>
                </c:lvl>
              </c:multiLvlStrCache>
            </c:multiLvlStrRef>
          </c:cat>
          <c:val>
            <c:numRef>
              <c:f>Sheet1!$B$2:$B$7</c:f>
              <c:numCache>
                <c:formatCode>General</c:formatCode>
                <c:ptCount val="6"/>
                <c:pt idx="0">
                  <c:v>0.48</c:v>
                </c:pt>
                <c:pt idx="1">
                  <c:v>0.55</c:v>
                </c:pt>
                <c:pt idx="2">
                  <c:v>0.42</c:v>
                </c:pt>
                <c:pt idx="3">
                  <c:v>0.51</c:v>
                </c:pt>
                <c:pt idx="4">
                  <c:v>0.53</c:v>
                </c:pt>
                <c:pt idx="5">
                  <c:v>0.498</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Cosine Similarity: Original vs Paraphrase</a:t>
            </a:r>
          </a:p>
        </c:rich>
      </c:tx>
      <c:layout/>
      <c:overlay val="0"/>
    </c:title>
    <c:autoTitleDeleted val="0"/>
    <c:plotArea>
      <c:layout/>
      <c:barChart>
        <c:barDir val="col"/>
        <c:grouping val="clustered"/>
        <c:varyColors val="0"/>
        <c:ser>
          <c:idx val="0"/>
          <c:order val="0"/>
          <c:tx>
            <c:strRef>
              <c:f>Sheet1!$B$1</c:f>
              <c:strCache>
                <c:ptCount val="1"/>
                <c:pt idx="0">
                  <c:v>Cosine Similarity</c:v>
                </c:pt>
              </c:strCache>
            </c:strRef>
          </c:tx>
          <c:spPr>
            <a:solidFill>
              <a:srgbClr val="00BFA5"/>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Sample 1</c:v>
                  </c:pt>
                  <c:pt idx="1">
                    <c:v>Sample 2</c:v>
                  </c:pt>
                  <c:pt idx="2">
                    <c:v>Sample 3</c:v>
                  </c:pt>
                  <c:pt idx="3">
                    <c:v>Sample 4</c:v>
                  </c:pt>
                  <c:pt idx="4">
                    <c:v>Sample 5</c:v>
                  </c:pt>
                  <c:pt idx="5">
                    <c:v>Average</c:v>
                  </c:pt>
                </c:lvl>
              </c:multiLvlStrCache>
            </c:multiLvlStrRef>
          </c:cat>
          <c:val>
            <c:numRef>
              <c:f>Sheet1!$B$2:$B$7</c:f>
              <c:numCache>
                <c:formatCode>General</c:formatCode>
                <c:ptCount val="6"/>
                <c:pt idx="0">
                  <c:v>0.83</c:v>
                </c:pt>
                <c:pt idx="1">
                  <c:v>0.79</c:v>
                </c:pt>
                <c:pt idx="2">
                  <c:v>0.86</c:v>
                </c:pt>
                <c:pt idx="3">
                  <c:v>0.81</c:v>
                </c:pt>
                <c:pt idx="4">
                  <c:v>0.84</c:v>
                </c:pt>
                <c:pt idx="5">
                  <c:v>0.826</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217920" y="-914400"/>
            <a:ext cx="4572000" cy="4572000"/>
          </a:xfrm>
          <a:prstGeom prst="ellipse">
            <a:avLst/>
          </a:prstGeom>
          <a:solidFill>
            <a:srgbClr val="1A73E8">
              <a:alpha val="20000"/>
            </a:srgbClr>
          </a:solidFill>
          <a:ln w="12700">
            <a:solidFill>
              <a:srgbClr val="000000"/>
            </a:solidFill>
            <a:prstDash val="solid"/>
          </a:ln>
        </p:spPr>
      </p:sp>
      <p:sp>
        <p:nvSpPr>
          <p:cNvPr id="3" name="Shape 1"/>
          <p:cNvSpPr/>
          <p:nvPr/>
        </p:nvSpPr>
        <p:spPr>
          <a:xfrm>
            <a:off x="-1371600" y="2926080"/>
            <a:ext cx="3657600" cy="3657600"/>
          </a:xfrm>
          <a:prstGeom prst="ellipse">
            <a:avLst/>
          </a:prstGeom>
          <a:solidFill>
            <a:srgbClr val="00BFA5">
              <a:alpha val="15000"/>
            </a:srgbClr>
          </a:solidFill>
          <a:ln w="12700">
            <a:solidFill>
              <a:srgbClr val="000000"/>
            </a:solidFill>
            <a:prstDash val="solid"/>
          </a:ln>
        </p:spPr>
      </p:sp>
      <p:sp>
        <p:nvSpPr>
          <p:cNvPr id="4" name="Shape 2"/>
          <p:cNvSpPr/>
          <p:nvPr/>
        </p:nvSpPr>
        <p:spPr>
          <a:xfrm>
            <a:off x="457200" y="731520"/>
            <a:ext cx="1005840" cy="1005840"/>
          </a:xfrm>
          <a:prstGeom prst="rect">
            <a:avLst/>
          </a:prstGeom>
          <a:solidFill>
            <a:srgbClr val="00BFA5"/>
          </a:solidFill>
          <a:ln w="12700">
            <a:solidFill>
              <a:srgbClr val="000000"/>
            </a:solidFill>
            <a:prstDash val="solid"/>
          </a:ln>
        </p:spPr>
      </p:sp>
      <p:sp>
        <p:nvSpPr>
          <p:cNvPr id="5" name="Text 3"/>
          <p:cNvSpPr/>
          <p:nvPr/>
        </p:nvSpPr>
        <p:spPr>
          <a:xfrm>
            <a:off x="457200" y="731520"/>
            <a:ext cx="1005840" cy="1005840"/>
          </a:xfrm>
          <a:prstGeom prst="rect">
            <a:avLst/>
          </a:prstGeom>
          <a:noFill/>
          <a:ln/>
        </p:spPr>
        <p:txBody>
          <a:bodyPr wrap="square" lIns="0" tIns="0" rIns="0" bIns="0" rtlCol="0" anchor="ctr"/>
          <a:lstStyle/>
          <a:p>
            <a:pPr algn="ctr" indent="0" marL="0">
              <a:buNone/>
            </a:pPr>
            <a:r>
              <a:rPr lang="en-US" sz="2800" b="1" dirty="0">
                <a:solidFill>
                  <a:srgbClr val="FFFFFF"/>
                </a:solidFill>
              </a:rPr>
              <a:t>DT</a:t>
            </a:r>
            <a:endParaRPr lang="en-US" sz="2800" dirty="0"/>
          </a:p>
        </p:txBody>
      </p:sp>
      <p:sp>
        <p:nvSpPr>
          <p:cNvPr id="6" name="Text 4"/>
          <p:cNvSpPr/>
          <p:nvPr/>
        </p:nvSpPr>
        <p:spPr>
          <a:xfrm>
            <a:off x="1645920" y="685800"/>
            <a:ext cx="6400800" cy="73152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DocTrust</a:t>
            </a:r>
            <a:endParaRPr lang="en-US" sz="4800" dirty="0"/>
          </a:p>
        </p:txBody>
      </p:sp>
      <p:sp>
        <p:nvSpPr>
          <p:cNvPr id="7" name="Text 5"/>
          <p:cNvSpPr/>
          <p:nvPr/>
        </p:nvSpPr>
        <p:spPr>
          <a:xfrm>
            <a:off x="1645920" y="1417320"/>
            <a:ext cx="6858000" cy="411480"/>
          </a:xfrm>
          <a:prstGeom prst="rect">
            <a:avLst/>
          </a:prstGeom>
          <a:noFill/>
          <a:ln/>
        </p:spPr>
        <p:txBody>
          <a:bodyPr wrap="square" rtlCol="0" anchor="ctr"/>
          <a:lstStyle/>
          <a:p>
            <a:pPr indent="0" marL="0">
              <a:buNone/>
            </a:pPr>
            <a:r>
              <a:rPr lang="en-US" sz="1600" dirty="0">
                <a:solidFill>
                  <a:srgbClr val="00BFA5"/>
                </a:solidFill>
                <a:latin typeface="Calibri" pitchFamily="34" charset="0"/>
                <a:ea typeface="Calibri" pitchFamily="34" charset="-122"/>
                <a:cs typeface="Calibri" pitchFamily="34" charset="-120"/>
              </a:rPr>
              <a:t>Integrated Academic Writing Assistance System</a:t>
            </a:r>
            <a:endParaRPr lang="en-US" sz="1600" dirty="0"/>
          </a:p>
        </p:txBody>
      </p:sp>
      <p:sp>
        <p:nvSpPr>
          <p:cNvPr id="8" name="Shape 6"/>
          <p:cNvSpPr/>
          <p:nvPr/>
        </p:nvSpPr>
        <p:spPr>
          <a:xfrm>
            <a:off x="457200" y="1965960"/>
            <a:ext cx="8229600" cy="0"/>
          </a:xfrm>
          <a:prstGeom prst="line">
            <a:avLst/>
          </a:prstGeom>
          <a:noFill/>
          <a:ln w="19050">
            <a:solidFill>
              <a:srgbClr val="1A73E8"/>
            </a:solidFill>
            <a:prstDash val="solid"/>
          </a:ln>
        </p:spPr>
      </p:sp>
      <p:sp>
        <p:nvSpPr>
          <p:cNvPr id="9" name="Shape 7"/>
          <p:cNvSpPr/>
          <p:nvPr/>
        </p:nvSpPr>
        <p:spPr>
          <a:xfrm>
            <a:off x="457200" y="2148840"/>
            <a:ext cx="2606040" cy="365760"/>
          </a:xfrm>
          <a:prstGeom prst="rect">
            <a:avLst/>
          </a:prstGeom>
          <a:solidFill>
            <a:srgbClr val="1A73E8">
              <a:alpha val="70000"/>
            </a:srgbClr>
          </a:solidFill>
          <a:ln w="12700">
            <a:solidFill>
              <a:srgbClr val="1A73E8"/>
            </a:solidFill>
            <a:prstDash val="solid"/>
          </a:ln>
        </p:spPr>
      </p:sp>
      <p:sp>
        <p:nvSpPr>
          <p:cNvPr id="10" name="Text 8"/>
          <p:cNvSpPr/>
          <p:nvPr/>
        </p:nvSpPr>
        <p:spPr>
          <a:xfrm>
            <a:off x="457200" y="2148840"/>
            <a:ext cx="2606040" cy="365760"/>
          </a:xfrm>
          <a:prstGeom prst="rect">
            <a:avLst/>
          </a:prstGeom>
          <a:noFill/>
          <a:ln/>
        </p:spPr>
        <p:txBody>
          <a:bodyPr wrap="square" lIns="0" tIns="0" rIns="0" bIns="0" rtlCol="0" anchor="ctr"/>
          <a:lstStyle/>
          <a:p>
            <a:pPr algn="ctr" indent="0" marL="0">
              <a:buNone/>
            </a:pPr>
            <a:r>
              <a:rPr lang="en-US" sz="1000" b="1" dirty="0">
                <a:solidFill>
                  <a:srgbClr val="FFFFFF"/>
                </a:solidFill>
              </a:rPr>
              <a:t>📝 Text Summarization (BART)</a:t>
            </a:r>
            <a:endParaRPr lang="en-US" sz="1000" dirty="0"/>
          </a:p>
        </p:txBody>
      </p:sp>
      <p:sp>
        <p:nvSpPr>
          <p:cNvPr id="11" name="Shape 9"/>
          <p:cNvSpPr/>
          <p:nvPr/>
        </p:nvSpPr>
        <p:spPr>
          <a:xfrm>
            <a:off x="3291840" y="2148840"/>
            <a:ext cx="2606040" cy="365760"/>
          </a:xfrm>
          <a:prstGeom prst="rect">
            <a:avLst/>
          </a:prstGeom>
          <a:solidFill>
            <a:srgbClr val="00BFA5">
              <a:alpha val="70000"/>
            </a:srgbClr>
          </a:solidFill>
          <a:ln w="12700">
            <a:solidFill>
              <a:srgbClr val="00BFA5"/>
            </a:solidFill>
            <a:prstDash val="solid"/>
          </a:ln>
        </p:spPr>
      </p:sp>
      <p:sp>
        <p:nvSpPr>
          <p:cNvPr id="12" name="Text 10"/>
          <p:cNvSpPr/>
          <p:nvPr/>
        </p:nvSpPr>
        <p:spPr>
          <a:xfrm>
            <a:off x="3291840" y="2148840"/>
            <a:ext cx="2606040" cy="365760"/>
          </a:xfrm>
          <a:prstGeom prst="rect">
            <a:avLst/>
          </a:prstGeom>
          <a:noFill/>
          <a:ln/>
        </p:spPr>
        <p:txBody>
          <a:bodyPr wrap="square" lIns="0" tIns="0" rIns="0" bIns="0" rtlCol="0" anchor="ctr"/>
          <a:lstStyle/>
          <a:p>
            <a:pPr algn="ctr" indent="0" marL="0">
              <a:buNone/>
            </a:pPr>
            <a:r>
              <a:rPr lang="en-US" sz="1000" b="1" dirty="0">
                <a:solidFill>
                  <a:srgbClr val="FFFFFF"/>
                </a:solidFill>
              </a:rPr>
              <a:t>✍️ Text Paraphrasing (T5)</a:t>
            </a:r>
            <a:endParaRPr lang="en-US" sz="1000" dirty="0"/>
          </a:p>
        </p:txBody>
      </p:sp>
      <p:sp>
        <p:nvSpPr>
          <p:cNvPr id="13" name="Shape 11"/>
          <p:cNvSpPr/>
          <p:nvPr/>
        </p:nvSpPr>
        <p:spPr>
          <a:xfrm>
            <a:off x="6126480" y="2148840"/>
            <a:ext cx="2606040" cy="365760"/>
          </a:xfrm>
          <a:prstGeom prst="rect">
            <a:avLst/>
          </a:prstGeom>
          <a:solidFill>
            <a:srgbClr val="7C3AED">
              <a:alpha val="70000"/>
            </a:srgbClr>
          </a:solidFill>
          <a:ln w="12700">
            <a:solidFill>
              <a:srgbClr val="7C3AED"/>
            </a:solidFill>
            <a:prstDash val="solid"/>
          </a:ln>
        </p:spPr>
      </p:sp>
      <p:sp>
        <p:nvSpPr>
          <p:cNvPr id="14" name="Text 12"/>
          <p:cNvSpPr/>
          <p:nvPr/>
        </p:nvSpPr>
        <p:spPr>
          <a:xfrm>
            <a:off x="6126480" y="2148840"/>
            <a:ext cx="2606040" cy="365760"/>
          </a:xfrm>
          <a:prstGeom prst="rect">
            <a:avLst/>
          </a:prstGeom>
          <a:noFill/>
          <a:ln/>
        </p:spPr>
        <p:txBody>
          <a:bodyPr wrap="square" lIns="0" tIns="0" rIns="0" bIns="0" rtlCol="0" anchor="ctr"/>
          <a:lstStyle/>
          <a:p>
            <a:pPr algn="ctr" indent="0" marL="0">
              <a:buNone/>
            </a:pPr>
            <a:r>
              <a:rPr lang="en-US" sz="1000" b="1" dirty="0">
                <a:solidFill>
                  <a:srgbClr val="FFFFFF"/>
                </a:solidFill>
              </a:rPr>
              <a:t>🔍 Plagiarism Detection (SBERT)</a:t>
            </a:r>
            <a:endParaRPr lang="en-US" sz="1000" dirty="0"/>
          </a:p>
        </p:txBody>
      </p:sp>
      <p:sp>
        <p:nvSpPr>
          <p:cNvPr id="15" name="Text 13"/>
          <p:cNvSpPr/>
          <p:nvPr/>
        </p:nvSpPr>
        <p:spPr>
          <a:xfrm>
            <a:off x="457200" y="2743200"/>
            <a:ext cx="8229600" cy="274320"/>
          </a:xfrm>
          <a:prstGeom prst="rect">
            <a:avLst/>
          </a:prstGeom>
          <a:noFill/>
          <a:ln/>
        </p:spPr>
        <p:txBody>
          <a:bodyPr wrap="square" rtlCol="0" anchor="ctr"/>
          <a:lstStyle/>
          <a:p>
            <a:pPr indent="0" marL="0">
              <a:buNone/>
            </a:pPr>
            <a:r>
              <a:rPr lang="en-US" sz="1200" b="1" dirty="0">
                <a:solidFill>
                  <a:srgbClr val="F59E0B"/>
                </a:solidFill>
              </a:rPr>
              <a:t>Team Members</a:t>
            </a:r>
            <a:endParaRPr lang="en-US" sz="1200" dirty="0"/>
          </a:p>
        </p:txBody>
      </p:sp>
      <p:sp>
        <p:nvSpPr>
          <p:cNvPr id="16" name="Shape 14"/>
          <p:cNvSpPr/>
          <p:nvPr/>
        </p:nvSpPr>
        <p:spPr>
          <a:xfrm>
            <a:off x="457200" y="3063240"/>
            <a:ext cx="1965960" cy="320040"/>
          </a:xfrm>
          <a:prstGeom prst="rect">
            <a:avLst/>
          </a:prstGeom>
          <a:solidFill>
            <a:srgbClr val="1E293B"/>
          </a:solidFill>
          <a:ln w="12700">
            <a:solidFill>
              <a:srgbClr val="1A73E8"/>
            </a:solidFill>
            <a:prstDash val="solid"/>
          </a:ln>
        </p:spPr>
      </p:sp>
      <p:sp>
        <p:nvSpPr>
          <p:cNvPr id="17" name="Text 15"/>
          <p:cNvSpPr/>
          <p:nvPr/>
        </p:nvSpPr>
        <p:spPr>
          <a:xfrm>
            <a:off x="457200" y="3063240"/>
            <a:ext cx="1965960" cy="320040"/>
          </a:xfrm>
          <a:prstGeom prst="rect">
            <a:avLst/>
          </a:prstGeom>
          <a:noFill/>
          <a:ln/>
        </p:spPr>
        <p:txBody>
          <a:bodyPr wrap="square" lIns="0" tIns="0" rIns="0" bIns="0" rtlCol="0" anchor="ctr"/>
          <a:lstStyle/>
          <a:p>
            <a:pPr algn="ctr" indent="0" marL="0">
              <a:buNone/>
            </a:pPr>
            <a:r>
              <a:rPr lang="en-US" sz="950" dirty="0">
                <a:solidFill>
                  <a:srgbClr val="FFFFFF"/>
                </a:solidFill>
              </a:rPr>
              <a:t>Omar Essam (Team Leader)</a:t>
            </a:r>
            <a:endParaRPr lang="en-US" sz="950" dirty="0"/>
          </a:p>
        </p:txBody>
      </p:sp>
      <p:sp>
        <p:nvSpPr>
          <p:cNvPr id="18" name="Shape 16"/>
          <p:cNvSpPr/>
          <p:nvPr/>
        </p:nvSpPr>
        <p:spPr>
          <a:xfrm>
            <a:off x="2606040" y="3063240"/>
            <a:ext cx="1965960" cy="320040"/>
          </a:xfrm>
          <a:prstGeom prst="rect">
            <a:avLst/>
          </a:prstGeom>
          <a:solidFill>
            <a:srgbClr val="1E293B"/>
          </a:solidFill>
          <a:ln w="12700">
            <a:solidFill>
              <a:srgbClr val="1A73E8"/>
            </a:solidFill>
            <a:prstDash val="solid"/>
          </a:ln>
        </p:spPr>
      </p:sp>
      <p:sp>
        <p:nvSpPr>
          <p:cNvPr id="19" name="Text 17"/>
          <p:cNvSpPr/>
          <p:nvPr/>
        </p:nvSpPr>
        <p:spPr>
          <a:xfrm>
            <a:off x="2606040" y="3063240"/>
            <a:ext cx="1965960" cy="320040"/>
          </a:xfrm>
          <a:prstGeom prst="rect">
            <a:avLst/>
          </a:prstGeom>
          <a:noFill/>
          <a:ln/>
        </p:spPr>
        <p:txBody>
          <a:bodyPr wrap="square" lIns="0" tIns="0" rIns="0" bIns="0" rtlCol="0" anchor="ctr"/>
          <a:lstStyle/>
          <a:p>
            <a:pPr algn="ctr" indent="0" marL="0">
              <a:buNone/>
            </a:pPr>
            <a:r>
              <a:rPr lang="en-US" sz="950" dirty="0">
                <a:solidFill>
                  <a:srgbClr val="FFFFFF"/>
                </a:solidFill>
              </a:rPr>
              <a:t>Ahmed Khaled</a:t>
            </a:r>
            <a:endParaRPr lang="en-US" sz="950" dirty="0"/>
          </a:p>
        </p:txBody>
      </p:sp>
      <p:sp>
        <p:nvSpPr>
          <p:cNvPr id="20" name="Shape 18"/>
          <p:cNvSpPr/>
          <p:nvPr/>
        </p:nvSpPr>
        <p:spPr>
          <a:xfrm>
            <a:off x="4754880" y="3063240"/>
            <a:ext cx="1965960" cy="320040"/>
          </a:xfrm>
          <a:prstGeom prst="rect">
            <a:avLst/>
          </a:prstGeom>
          <a:solidFill>
            <a:srgbClr val="1E293B"/>
          </a:solidFill>
          <a:ln w="12700">
            <a:solidFill>
              <a:srgbClr val="1A73E8"/>
            </a:solidFill>
            <a:prstDash val="solid"/>
          </a:ln>
        </p:spPr>
      </p:sp>
      <p:sp>
        <p:nvSpPr>
          <p:cNvPr id="21" name="Text 19"/>
          <p:cNvSpPr/>
          <p:nvPr/>
        </p:nvSpPr>
        <p:spPr>
          <a:xfrm>
            <a:off x="4754880" y="3063240"/>
            <a:ext cx="1965960" cy="320040"/>
          </a:xfrm>
          <a:prstGeom prst="rect">
            <a:avLst/>
          </a:prstGeom>
          <a:noFill/>
          <a:ln/>
        </p:spPr>
        <p:txBody>
          <a:bodyPr wrap="square" lIns="0" tIns="0" rIns="0" bIns="0" rtlCol="0" anchor="ctr"/>
          <a:lstStyle/>
          <a:p>
            <a:pPr algn="ctr" indent="0" marL="0">
              <a:buNone/>
            </a:pPr>
            <a:r>
              <a:rPr lang="en-US" sz="950" dirty="0">
                <a:solidFill>
                  <a:srgbClr val="FFFFFF"/>
                </a:solidFill>
              </a:rPr>
              <a:t>Sara Mohamed</a:t>
            </a:r>
            <a:endParaRPr lang="en-US" sz="950" dirty="0"/>
          </a:p>
        </p:txBody>
      </p:sp>
      <p:sp>
        <p:nvSpPr>
          <p:cNvPr id="22" name="Shape 20"/>
          <p:cNvSpPr/>
          <p:nvPr/>
        </p:nvSpPr>
        <p:spPr>
          <a:xfrm>
            <a:off x="6903720" y="3063240"/>
            <a:ext cx="1965960" cy="320040"/>
          </a:xfrm>
          <a:prstGeom prst="rect">
            <a:avLst/>
          </a:prstGeom>
          <a:solidFill>
            <a:srgbClr val="1E293B"/>
          </a:solidFill>
          <a:ln w="12700">
            <a:solidFill>
              <a:srgbClr val="1A73E8"/>
            </a:solidFill>
            <a:prstDash val="solid"/>
          </a:ln>
        </p:spPr>
      </p:sp>
      <p:sp>
        <p:nvSpPr>
          <p:cNvPr id="23" name="Text 21"/>
          <p:cNvSpPr/>
          <p:nvPr/>
        </p:nvSpPr>
        <p:spPr>
          <a:xfrm>
            <a:off x="6903720" y="3063240"/>
            <a:ext cx="1965960" cy="320040"/>
          </a:xfrm>
          <a:prstGeom prst="rect">
            <a:avLst/>
          </a:prstGeom>
          <a:noFill/>
          <a:ln/>
        </p:spPr>
        <p:txBody>
          <a:bodyPr wrap="square" lIns="0" tIns="0" rIns="0" bIns="0" rtlCol="0" anchor="ctr"/>
          <a:lstStyle/>
          <a:p>
            <a:pPr algn="ctr" indent="0" marL="0">
              <a:buNone/>
            </a:pPr>
            <a:r>
              <a:rPr lang="en-US" sz="950" dirty="0">
                <a:solidFill>
                  <a:srgbClr val="FFFFFF"/>
                </a:solidFill>
              </a:rPr>
              <a:t>Seif Tarek</a:t>
            </a:r>
            <a:endParaRPr lang="en-US" sz="950" dirty="0"/>
          </a:p>
        </p:txBody>
      </p:sp>
      <p:sp>
        <p:nvSpPr>
          <p:cNvPr id="24" name="Shape 22"/>
          <p:cNvSpPr/>
          <p:nvPr/>
        </p:nvSpPr>
        <p:spPr>
          <a:xfrm>
            <a:off x="1531620" y="3456432"/>
            <a:ext cx="1965960" cy="320040"/>
          </a:xfrm>
          <a:prstGeom prst="rect">
            <a:avLst/>
          </a:prstGeom>
          <a:solidFill>
            <a:srgbClr val="1E293B"/>
          </a:solidFill>
          <a:ln w="12700">
            <a:solidFill>
              <a:srgbClr val="00BFA5"/>
            </a:solidFill>
            <a:prstDash val="solid"/>
          </a:ln>
        </p:spPr>
      </p:sp>
      <p:sp>
        <p:nvSpPr>
          <p:cNvPr id="25" name="Text 23"/>
          <p:cNvSpPr/>
          <p:nvPr/>
        </p:nvSpPr>
        <p:spPr>
          <a:xfrm>
            <a:off x="1531620" y="3456432"/>
            <a:ext cx="1965960" cy="320040"/>
          </a:xfrm>
          <a:prstGeom prst="rect">
            <a:avLst/>
          </a:prstGeom>
          <a:noFill/>
          <a:ln/>
        </p:spPr>
        <p:txBody>
          <a:bodyPr wrap="square" lIns="0" tIns="0" rIns="0" bIns="0" rtlCol="0" anchor="ctr"/>
          <a:lstStyle/>
          <a:p>
            <a:pPr algn="ctr" indent="0" marL="0">
              <a:buNone/>
            </a:pPr>
            <a:r>
              <a:rPr lang="en-US" sz="950" dirty="0">
                <a:solidFill>
                  <a:srgbClr val="FFFFFF"/>
                </a:solidFill>
              </a:rPr>
              <a:t>Abdelrahman Khaled</a:t>
            </a:r>
            <a:endParaRPr lang="en-US" sz="950" dirty="0"/>
          </a:p>
        </p:txBody>
      </p:sp>
      <p:sp>
        <p:nvSpPr>
          <p:cNvPr id="26" name="Shape 24"/>
          <p:cNvSpPr/>
          <p:nvPr/>
        </p:nvSpPr>
        <p:spPr>
          <a:xfrm>
            <a:off x="3680460" y="3456432"/>
            <a:ext cx="1965960" cy="320040"/>
          </a:xfrm>
          <a:prstGeom prst="rect">
            <a:avLst/>
          </a:prstGeom>
          <a:solidFill>
            <a:srgbClr val="1E293B"/>
          </a:solidFill>
          <a:ln w="12700">
            <a:solidFill>
              <a:srgbClr val="00BFA5"/>
            </a:solidFill>
            <a:prstDash val="solid"/>
          </a:ln>
        </p:spPr>
      </p:sp>
      <p:sp>
        <p:nvSpPr>
          <p:cNvPr id="27" name="Text 25"/>
          <p:cNvSpPr/>
          <p:nvPr/>
        </p:nvSpPr>
        <p:spPr>
          <a:xfrm>
            <a:off x="3680460" y="3456432"/>
            <a:ext cx="1965960" cy="320040"/>
          </a:xfrm>
          <a:prstGeom prst="rect">
            <a:avLst/>
          </a:prstGeom>
          <a:noFill/>
          <a:ln/>
        </p:spPr>
        <p:txBody>
          <a:bodyPr wrap="square" lIns="0" tIns="0" rIns="0" bIns="0" rtlCol="0" anchor="ctr"/>
          <a:lstStyle/>
          <a:p>
            <a:pPr algn="ctr" indent="0" marL="0">
              <a:buNone/>
            </a:pPr>
            <a:r>
              <a:rPr lang="en-US" sz="950" dirty="0">
                <a:solidFill>
                  <a:srgbClr val="FFFFFF"/>
                </a:solidFill>
              </a:rPr>
              <a:t>Mohamed Mahmoud</a:t>
            </a:r>
            <a:endParaRPr lang="en-US" sz="950" dirty="0"/>
          </a:p>
        </p:txBody>
      </p:sp>
      <p:sp>
        <p:nvSpPr>
          <p:cNvPr id="28" name="Shape 26"/>
          <p:cNvSpPr/>
          <p:nvPr/>
        </p:nvSpPr>
        <p:spPr>
          <a:xfrm>
            <a:off x="5829300" y="3456432"/>
            <a:ext cx="1965960" cy="320040"/>
          </a:xfrm>
          <a:prstGeom prst="rect">
            <a:avLst/>
          </a:prstGeom>
          <a:solidFill>
            <a:srgbClr val="1E293B"/>
          </a:solidFill>
          <a:ln w="12700">
            <a:solidFill>
              <a:srgbClr val="00BFA5"/>
            </a:solidFill>
            <a:prstDash val="solid"/>
          </a:ln>
        </p:spPr>
      </p:sp>
      <p:sp>
        <p:nvSpPr>
          <p:cNvPr id="29" name="Text 27"/>
          <p:cNvSpPr/>
          <p:nvPr/>
        </p:nvSpPr>
        <p:spPr>
          <a:xfrm>
            <a:off x="5829300" y="3456432"/>
            <a:ext cx="1965960" cy="320040"/>
          </a:xfrm>
          <a:prstGeom prst="rect">
            <a:avLst/>
          </a:prstGeom>
          <a:noFill/>
          <a:ln/>
        </p:spPr>
        <p:txBody>
          <a:bodyPr wrap="square" lIns="0" tIns="0" rIns="0" bIns="0" rtlCol="0" anchor="ctr"/>
          <a:lstStyle/>
          <a:p>
            <a:pPr algn="ctr" indent="0" marL="0">
              <a:buNone/>
            </a:pPr>
            <a:r>
              <a:rPr lang="en-US" sz="950" dirty="0">
                <a:solidFill>
                  <a:srgbClr val="FFFFFF"/>
                </a:solidFill>
              </a:rPr>
              <a:t>Nesma Mohamed</a:t>
            </a:r>
            <a:endParaRPr lang="en-US" sz="950" dirty="0"/>
          </a:p>
        </p:txBody>
      </p:sp>
      <p:sp>
        <p:nvSpPr>
          <p:cNvPr id="30" name="Text 28"/>
          <p:cNvSpPr/>
          <p:nvPr/>
        </p:nvSpPr>
        <p:spPr>
          <a:xfrm>
            <a:off x="457200" y="4663440"/>
            <a:ext cx="8229600" cy="228600"/>
          </a:xfrm>
          <a:prstGeom prst="rect">
            <a:avLst/>
          </a:prstGeom>
          <a:noFill/>
          <a:ln/>
        </p:spPr>
        <p:txBody>
          <a:bodyPr wrap="square" rtlCol="0" anchor="ctr"/>
          <a:lstStyle/>
          <a:p>
            <a:pPr algn="ctr" indent="0" marL="0">
              <a:buNone/>
            </a:pPr>
            <a:r>
              <a:rPr lang="en-US" sz="1000" dirty="0">
                <a:solidFill>
                  <a:srgbClr val="CBD5E1"/>
                </a:solidFill>
              </a:rPr>
              <a:t>Supervised by: Dr. Haithem Ghallab  •  2026</a:t>
            </a:r>
            <a:endParaRPr lang="en-US" sz="1000" dirty="0"/>
          </a:p>
        </p:txBody>
      </p:sp>
      <p:sp>
        <p:nvSpPr>
          <p:cNvPr id="31" name="Text 29"/>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00BFA5">
              <a:alpha val="80000"/>
            </a:srgbClr>
          </a:solidFill>
          <a:ln w="12700">
            <a:solidFill>
              <a:srgbClr val="00BFA5"/>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AGENDA</a:t>
            </a:r>
            <a:endParaRPr lang="en-US" sz="900" dirty="0"/>
          </a:p>
        </p:txBody>
      </p:sp>
      <p:sp>
        <p:nvSpPr>
          <p:cNvPr id="4" name="Text 2"/>
          <p:cNvSpPr/>
          <p:nvPr/>
        </p:nvSpPr>
        <p:spPr>
          <a:xfrm>
            <a:off x="365760" y="640080"/>
            <a:ext cx="8229600" cy="50292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Presentation Outline</a:t>
            </a:r>
            <a:endParaRPr lang="en-US" sz="3000" dirty="0"/>
          </a:p>
        </p:txBody>
      </p:sp>
      <p:sp>
        <p:nvSpPr>
          <p:cNvPr id="5" name="Shape 3"/>
          <p:cNvSpPr/>
          <p:nvPr/>
        </p:nvSpPr>
        <p:spPr>
          <a:xfrm>
            <a:off x="365760" y="132588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365760" y="1325880"/>
            <a:ext cx="411480" cy="731520"/>
          </a:xfrm>
          <a:prstGeom prst="rect">
            <a:avLst/>
          </a:prstGeom>
          <a:solidFill>
            <a:srgbClr val="1A73E8"/>
          </a:solidFill>
          <a:ln w="12700">
            <a:solidFill>
              <a:srgbClr val="000000"/>
            </a:solidFill>
            <a:prstDash val="solid"/>
          </a:ln>
        </p:spPr>
      </p:sp>
      <p:sp>
        <p:nvSpPr>
          <p:cNvPr id="7" name="Text 5"/>
          <p:cNvSpPr/>
          <p:nvPr/>
        </p:nvSpPr>
        <p:spPr>
          <a:xfrm>
            <a:off x="365760" y="132588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8" name="Text 6"/>
          <p:cNvSpPr/>
          <p:nvPr/>
        </p:nvSpPr>
        <p:spPr>
          <a:xfrm>
            <a:off x="868680" y="138074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Project Overview</a:t>
            </a:r>
            <a:endParaRPr lang="en-US" sz="1200" dirty="0"/>
          </a:p>
        </p:txBody>
      </p:sp>
      <p:sp>
        <p:nvSpPr>
          <p:cNvPr id="9" name="Text 7"/>
          <p:cNvSpPr/>
          <p:nvPr/>
        </p:nvSpPr>
        <p:spPr>
          <a:xfrm>
            <a:off x="868680" y="1709928"/>
            <a:ext cx="3520440" cy="256032"/>
          </a:xfrm>
          <a:prstGeom prst="rect">
            <a:avLst/>
          </a:prstGeom>
          <a:noFill/>
          <a:ln/>
        </p:spPr>
        <p:txBody>
          <a:bodyPr wrap="square" lIns="0" tIns="0" rIns="0" bIns="0" rtlCol="0" anchor="ctr"/>
          <a:lstStyle/>
          <a:p>
            <a:pPr indent="0" marL="0">
              <a:buNone/>
            </a:pPr>
            <a:r>
              <a:rPr lang="en-US" sz="950" dirty="0">
                <a:solidFill>
                  <a:srgbClr val="64748B"/>
                </a:solidFill>
              </a:rPr>
              <a:t>Problem, motivation and scope</a:t>
            </a:r>
            <a:endParaRPr lang="en-US" sz="950" dirty="0"/>
          </a:p>
        </p:txBody>
      </p:sp>
      <p:sp>
        <p:nvSpPr>
          <p:cNvPr id="10" name="Shape 8"/>
          <p:cNvSpPr/>
          <p:nvPr/>
        </p:nvSpPr>
        <p:spPr>
          <a:xfrm>
            <a:off x="365760" y="219456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11" name="Shape 9"/>
          <p:cNvSpPr/>
          <p:nvPr/>
        </p:nvSpPr>
        <p:spPr>
          <a:xfrm>
            <a:off x="365760" y="2194560"/>
            <a:ext cx="411480" cy="731520"/>
          </a:xfrm>
          <a:prstGeom prst="rect">
            <a:avLst/>
          </a:prstGeom>
          <a:solidFill>
            <a:srgbClr val="1A73E8"/>
          </a:solidFill>
          <a:ln w="12700">
            <a:solidFill>
              <a:srgbClr val="000000"/>
            </a:solidFill>
            <a:prstDash val="solid"/>
          </a:ln>
        </p:spPr>
      </p:sp>
      <p:sp>
        <p:nvSpPr>
          <p:cNvPr id="12" name="Text 10"/>
          <p:cNvSpPr/>
          <p:nvPr/>
        </p:nvSpPr>
        <p:spPr>
          <a:xfrm>
            <a:off x="365760" y="219456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3" name="Text 11"/>
          <p:cNvSpPr/>
          <p:nvPr/>
        </p:nvSpPr>
        <p:spPr>
          <a:xfrm>
            <a:off x="868680" y="224942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System Architecture</a:t>
            </a:r>
            <a:endParaRPr lang="en-US" sz="1200" dirty="0"/>
          </a:p>
        </p:txBody>
      </p:sp>
      <p:sp>
        <p:nvSpPr>
          <p:cNvPr id="14" name="Text 12"/>
          <p:cNvSpPr/>
          <p:nvPr/>
        </p:nvSpPr>
        <p:spPr>
          <a:xfrm>
            <a:off x="868680" y="2578608"/>
            <a:ext cx="3520440" cy="256032"/>
          </a:xfrm>
          <a:prstGeom prst="rect">
            <a:avLst/>
          </a:prstGeom>
          <a:noFill/>
          <a:ln/>
        </p:spPr>
        <p:txBody>
          <a:bodyPr wrap="square" lIns="0" tIns="0" rIns="0" bIns="0" rtlCol="0" anchor="ctr"/>
          <a:lstStyle/>
          <a:p>
            <a:pPr indent="0" marL="0">
              <a:buNone/>
            </a:pPr>
            <a:r>
              <a:rPr lang="en-US" sz="950" dirty="0">
                <a:solidFill>
                  <a:srgbClr val="64748B"/>
                </a:solidFill>
              </a:rPr>
              <a:t>Overall design and data flow</a:t>
            </a:r>
            <a:endParaRPr lang="en-US" sz="950" dirty="0"/>
          </a:p>
        </p:txBody>
      </p:sp>
      <p:sp>
        <p:nvSpPr>
          <p:cNvPr id="15" name="Shape 13"/>
          <p:cNvSpPr/>
          <p:nvPr/>
        </p:nvSpPr>
        <p:spPr>
          <a:xfrm>
            <a:off x="365760" y="306324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365760" y="3063240"/>
            <a:ext cx="411480" cy="731520"/>
          </a:xfrm>
          <a:prstGeom prst="rect">
            <a:avLst/>
          </a:prstGeom>
          <a:solidFill>
            <a:srgbClr val="1A73E8"/>
          </a:solidFill>
          <a:ln w="12700">
            <a:solidFill>
              <a:srgbClr val="000000"/>
            </a:solidFill>
            <a:prstDash val="solid"/>
          </a:ln>
        </p:spPr>
      </p:sp>
      <p:sp>
        <p:nvSpPr>
          <p:cNvPr id="17" name="Text 15"/>
          <p:cNvSpPr/>
          <p:nvPr/>
        </p:nvSpPr>
        <p:spPr>
          <a:xfrm>
            <a:off x="365760" y="306324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18" name="Text 16"/>
          <p:cNvSpPr/>
          <p:nvPr/>
        </p:nvSpPr>
        <p:spPr>
          <a:xfrm>
            <a:off x="868680" y="311810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Module 1 — Summarization</a:t>
            </a:r>
            <a:endParaRPr lang="en-US" sz="1200" dirty="0"/>
          </a:p>
        </p:txBody>
      </p:sp>
      <p:sp>
        <p:nvSpPr>
          <p:cNvPr id="19" name="Text 17"/>
          <p:cNvSpPr/>
          <p:nvPr/>
        </p:nvSpPr>
        <p:spPr>
          <a:xfrm>
            <a:off x="868680" y="3447288"/>
            <a:ext cx="3520440" cy="256032"/>
          </a:xfrm>
          <a:prstGeom prst="rect">
            <a:avLst/>
          </a:prstGeom>
          <a:noFill/>
          <a:ln/>
        </p:spPr>
        <p:txBody>
          <a:bodyPr wrap="square" lIns="0" tIns="0" rIns="0" bIns="0" rtlCol="0" anchor="ctr"/>
          <a:lstStyle/>
          <a:p>
            <a:pPr indent="0" marL="0">
              <a:buNone/>
            </a:pPr>
            <a:r>
              <a:rPr lang="en-US" sz="950" dirty="0">
                <a:solidFill>
                  <a:srgbClr val="64748B"/>
                </a:solidFill>
              </a:rPr>
              <a:t>BART model, preprocessing, beam search</a:t>
            </a:r>
            <a:endParaRPr lang="en-US" sz="950" dirty="0"/>
          </a:p>
        </p:txBody>
      </p:sp>
      <p:sp>
        <p:nvSpPr>
          <p:cNvPr id="20" name="Shape 18"/>
          <p:cNvSpPr/>
          <p:nvPr/>
        </p:nvSpPr>
        <p:spPr>
          <a:xfrm>
            <a:off x="365760" y="393192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365760" y="3931920"/>
            <a:ext cx="411480" cy="731520"/>
          </a:xfrm>
          <a:prstGeom prst="rect">
            <a:avLst/>
          </a:prstGeom>
          <a:solidFill>
            <a:srgbClr val="1A73E8"/>
          </a:solidFill>
          <a:ln w="12700">
            <a:solidFill>
              <a:srgbClr val="000000"/>
            </a:solidFill>
            <a:prstDash val="solid"/>
          </a:ln>
        </p:spPr>
      </p:sp>
      <p:sp>
        <p:nvSpPr>
          <p:cNvPr id="22" name="Text 20"/>
          <p:cNvSpPr/>
          <p:nvPr/>
        </p:nvSpPr>
        <p:spPr>
          <a:xfrm>
            <a:off x="365760" y="393192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3" name="Text 21"/>
          <p:cNvSpPr/>
          <p:nvPr/>
        </p:nvSpPr>
        <p:spPr>
          <a:xfrm>
            <a:off x="868680" y="398678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Module 2 — Paraphrasing</a:t>
            </a:r>
            <a:endParaRPr lang="en-US" sz="1200" dirty="0"/>
          </a:p>
        </p:txBody>
      </p:sp>
      <p:sp>
        <p:nvSpPr>
          <p:cNvPr id="24" name="Text 22"/>
          <p:cNvSpPr/>
          <p:nvPr/>
        </p:nvSpPr>
        <p:spPr>
          <a:xfrm>
            <a:off x="868680" y="4315968"/>
            <a:ext cx="3520440" cy="256032"/>
          </a:xfrm>
          <a:prstGeom prst="rect">
            <a:avLst/>
          </a:prstGeom>
          <a:noFill/>
          <a:ln/>
        </p:spPr>
        <p:txBody>
          <a:bodyPr wrap="square" lIns="0" tIns="0" rIns="0" bIns="0" rtlCol="0" anchor="ctr"/>
          <a:lstStyle/>
          <a:p>
            <a:pPr indent="0" marL="0">
              <a:buNone/>
            </a:pPr>
            <a:r>
              <a:rPr lang="en-US" sz="950" dirty="0">
                <a:solidFill>
                  <a:srgbClr val="64748B"/>
                </a:solidFill>
              </a:rPr>
              <a:t>T5-PAWS model, sampling strategy, bug fixes</a:t>
            </a:r>
            <a:endParaRPr lang="en-US" sz="950" dirty="0"/>
          </a:p>
        </p:txBody>
      </p:sp>
      <p:sp>
        <p:nvSpPr>
          <p:cNvPr id="25" name="Shape 23"/>
          <p:cNvSpPr/>
          <p:nvPr/>
        </p:nvSpPr>
        <p:spPr>
          <a:xfrm>
            <a:off x="4754880" y="132588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4754880" y="1325880"/>
            <a:ext cx="411480" cy="731520"/>
          </a:xfrm>
          <a:prstGeom prst="rect">
            <a:avLst/>
          </a:prstGeom>
          <a:solidFill>
            <a:srgbClr val="1A73E8"/>
          </a:solidFill>
          <a:ln w="12700">
            <a:solidFill>
              <a:srgbClr val="000000"/>
            </a:solidFill>
            <a:prstDash val="solid"/>
          </a:ln>
        </p:spPr>
      </p:sp>
      <p:sp>
        <p:nvSpPr>
          <p:cNvPr id="27" name="Text 25"/>
          <p:cNvSpPr/>
          <p:nvPr/>
        </p:nvSpPr>
        <p:spPr>
          <a:xfrm>
            <a:off x="4754880" y="132588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28" name="Text 26"/>
          <p:cNvSpPr/>
          <p:nvPr/>
        </p:nvSpPr>
        <p:spPr>
          <a:xfrm>
            <a:off x="5257800" y="138074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Module 3 — Plagiarism Detection</a:t>
            </a:r>
            <a:endParaRPr lang="en-US" sz="1200" dirty="0"/>
          </a:p>
        </p:txBody>
      </p:sp>
      <p:sp>
        <p:nvSpPr>
          <p:cNvPr id="29" name="Text 27"/>
          <p:cNvSpPr/>
          <p:nvPr/>
        </p:nvSpPr>
        <p:spPr>
          <a:xfrm>
            <a:off x="5257800" y="1709928"/>
            <a:ext cx="3520440" cy="256032"/>
          </a:xfrm>
          <a:prstGeom prst="rect">
            <a:avLst/>
          </a:prstGeom>
          <a:noFill/>
          <a:ln/>
        </p:spPr>
        <p:txBody>
          <a:bodyPr wrap="square" lIns="0" tIns="0" rIns="0" bIns="0" rtlCol="0" anchor="ctr"/>
          <a:lstStyle/>
          <a:p>
            <a:pPr indent="0" marL="0">
              <a:buNone/>
            </a:pPr>
            <a:r>
              <a:rPr lang="en-US" sz="950" dirty="0">
                <a:solidFill>
                  <a:srgbClr val="64748B"/>
                </a:solidFill>
              </a:rPr>
              <a:t>SBERT embeddings, FAISS, cosine similarity</a:t>
            </a:r>
            <a:endParaRPr lang="en-US" sz="950" dirty="0"/>
          </a:p>
        </p:txBody>
      </p:sp>
      <p:sp>
        <p:nvSpPr>
          <p:cNvPr id="30" name="Shape 28"/>
          <p:cNvSpPr/>
          <p:nvPr/>
        </p:nvSpPr>
        <p:spPr>
          <a:xfrm>
            <a:off x="4754880" y="219456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31" name="Shape 29"/>
          <p:cNvSpPr/>
          <p:nvPr/>
        </p:nvSpPr>
        <p:spPr>
          <a:xfrm>
            <a:off x="4754880" y="2194560"/>
            <a:ext cx="411480" cy="731520"/>
          </a:xfrm>
          <a:prstGeom prst="rect">
            <a:avLst/>
          </a:prstGeom>
          <a:solidFill>
            <a:srgbClr val="1A73E8"/>
          </a:solidFill>
          <a:ln w="12700">
            <a:solidFill>
              <a:srgbClr val="000000"/>
            </a:solidFill>
            <a:prstDash val="solid"/>
          </a:ln>
        </p:spPr>
      </p:sp>
      <p:sp>
        <p:nvSpPr>
          <p:cNvPr id="32" name="Text 30"/>
          <p:cNvSpPr/>
          <p:nvPr/>
        </p:nvSpPr>
        <p:spPr>
          <a:xfrm>
            <a:off x="4754880" y="219456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3" name="Text 31"/>
          <p:cNvSpPr/>
          <p:nvPr/>
        </p:nvSpPr>
        <p:spPr>
          <a:xfrm>
            <a:off x="5257800" y="224942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Evaluation &amp; Results</a:t>
            </a:r>
            <a:endParaRPr lang="en-US" sz="1200" dirty="0"/>
          </a:p>
        </p:txBody>
      </p:sp>
      <p:sp>
        <p:nvSpPr>
          <p:cNvPr id="34" name="Text 32"/>
          <p:cNvSpPr/>
          <p:nvPr/>
        </p:nvSpPr>
        <p:spPr>
          <a:xfrm>
            <a:off x="5257800" y="2578608"/>
            <a:ext cx="3520440" cy="256032"/>
          </a:xfrm>
          <a:prstGeom prst="rect">
            <a:avLst/>
          </a:prstGeom>
          <a:noFill/>
          <a:ln/>
        </p:spPr>
        <p:txBody>
          <a:bodyPr wrap="square" lIns="0" tIns="0" rIns="0" bIns="0" rtlCol="0" anchor="ctr"/>
          <a:lstStyle/>
          <a:p>
            <a:pPr indent="0" marL="0">
              <a:buNone/>
            </a:pPr>
            <a:r>
              <a:rPr lang="en-US" sz="950" dirty="0">
                <a:solidFill>
                  <a:srgbClr val="64748B"/>
                </a:solidFill>
              </a:rPr>
              <a:t>ROUGE scores, similarity metrics, analysis</a:t>
            </a:r>
            <a:endParaRPr lang="en-US" sz="950" dirty="0"/>
          </a:p>
        </p:txBody>
      </p:sp>
      <p:sp>
        <p:nvSpPr>
          <p:cNvPr id="35" name="Shape 33"/>
          <p:cNvSpPr/>
          <p:nvPr/>
        </p:nvSpPr>
        <p:spPr>
          <a:xfrm>
            <a:off x="4754880" y="306324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4754880" y="3063240"/>
            <a:ext cx="411480" cy="731520"/>
          </a:xfrm>
          <a:prstGeom prst="rect">
            <a:avLst/>
          </a:prstGeom>
          <a:solidFill>
            <a:srgbClr val="1A73E8"/>
          </a:solidFill>
          <a:ln w="12700">
            <a:solidFill>
              <a:srgbClr val="000000"/>
            </a:solidFill>
            <a:prstDash val="solid"/>
          </a:ln>
        </p:spPr>
      </p:sp>
      <p:sp>
        <p:nvSpPr>
          <p:cNvPr id="37" name="Text 35"/>
          <p:cNvSpPr/>
          <p:nvPr/>
        </p:nvSpPr>
        <p:spPr>
          <a:xfrm>
            <a:off x="4754880" y="306324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07</a:t>
            </a:r>
            <a:endParaRPr lang="en-US" sz="1100" dirty="0"/>
          </a:p>
        </p:txBody>
      </p:sp>
      <p:sp>
        <p:nvSpPr>
          <p:cNvPr id="38" name="Text 36"/>
          <p:cNvSpPr/>
          <p:nvPr/>
        </p:nvSpPr>
        <p:spPr>
          <a:xfrm>
            <a:off x="5257800" y="311810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Application (Streamlit)</a:t>
            </a:r>
            <a:endParaRPr lang="en-US" sz="1200" dirty="0"/>
          </a:p>
        </p:txBody>
      </p:sp>
      <p:sp>
        <p:nvSpPr>
          <p:cNvPr id="39" name="Text 37"/>
          <p:cNvSpPr/>
          <p:nvPr/>
        </p:nvSpPr>
        <p:spPr>
          <a:xfrm>
            <a:off x="5257800" y="3447288"/>
            <a:ext cx="3520440" cy="256032"/>
          </a:xfrm>
          <a:prstGeom prst="rect">
            <a:avLst/>
          </a:prstGeom>
          <a:noFill/>
          <a:ln/>
        </p:spPr>
        <p:txBody>
          <a:bodyPr wrap="square" lIns="0" tIns="0" rIns="0" bIns="0" rtlCol="0" anchor="ctr"/>
          <a:lstStyle/>
          <a:p>
            <a:pPr indent="0" marL="0">
              <a:buNone/>
            </a:pPr>
            <a:r>
              <a:rPr lang="en-US" sz="950" dirty="0">
                <a:solidFill>
                  <a:srgbClr val="64748B"/>
                </a:solidFill>
              </a:rPr>
              <a:t>Web interface, integrated pipeline, deployment</a:t>
            </a:r>
            <a:endParaRPr lang="en-US" sz="950" dirty="0"/>
          </a:p>
        </p:txBody>
      </p:sp>
      <p:sp>
        <p:nvSpPr>
          <p:cNvPr id="40" name="Shape 38"/>
          <p:cNvSpPr/>
          <p:nvPr/>
        </p:nvSpPr>
        <p:spPr>
          <a:xfrm>
            <a:off x="4754880" y="3931920"/>
            <a:ext cx="4114800" cy="7315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41" name="Shape 39"/>
          <p:cNvSpPr/>
          <p:nvPr/>
        </p:nvSpPr>
        <p:spPr>
          <a:xfrm>
            <a:off x="4754880" y="3931920"/>
            <a:ext cx="411480" cy="731520"/>
          </a:xfrm>
          <a:prstGeom prst="rect">
            <a:avLst/>
          </a:prstGeom>
          <a:solidFill>
            <a:srgbClr val="1A73E8"/>
          </a:solidFill>
          <a:ln w="12700">
            <a:solidFill>
              <a:srgbClr val="000000"/>
            </a:solidFill>
            <a:prstDash val="solid"/>
          </a:ln>
        </p:spPr>
      </p:sp>
      <p:sp>
        <p:nvSpPr>
          <p:cNvPr id="42" name="Text 40"/>
          <p:cNvSpPr/>
          <p:nvPr/>
        </p:nvSpPr>
        <p:spPr>
          <a:xfrm>
            <a:off x="4754880" y="3931920"/>
            <a:ext cx="411480" cy="731520"/>
          </a:xfrm>
          <a:prstGeom prst="rect">
            <a:avLst/>
          </a:prstGeom>
          <a:noFill/>
          <a:ln/>
        </p:spPr>
        <p:txBody>
          <a:bodyPr wrap="square" lIns="0" tIns="0" rIns="0" bIns="0" rtlCol="0" anchor="ctr"/>
          <a:lstStyle/>
          <a:p>
            <a:pPr algn="ctr" indent="0" marL="0">
              <a:buNone/>
            </a:pPr>
            <a:r>
              <a:rPr lang="en-US" sz="1100" b="1" dirty="0">
                <a:solidFill>
                  <a:srgbClr val="FFFFFF"/>
                </a:solidFill>
              </a:rPr>
              <a:t>08</a:t>
            </a:r>
            <a:endParaRPr lang="en-US" sz="1100" dirty="0"/>
          </a:p>
        </p:txBody>
      </p:sp>
      <p:sp>
        <p:nvSpPr>
          <p:cNvPr id="43" name="Text 41"/>
          <p:cNvSpPr/>
          <p:nvPr/>
        </p:nvSpPr>
        <p:spPr>
          <a:xfrm>
            <a:off x="5257800" y="3986784"/>
            <a:ext cx="3520440" cy="274320"/>
          </a:xfrm>
          <a:prstGeom prst="rect">
            <a:avLst/>
          </a:prstGeom>
          <a:noFill/>
          <a:ln/>
        </p:spPr>
        <p:txBody>
          <a:bodyPr wrap="square" lIns="0" tIns="0" rIns="0" bIns="0" rtlCol="0" anchor="ctr"/>
          <a:lstStyle/>
          <a:p>
            <a:pPr indent="0" marL="0">
              <a:buNone/>
            </a:pPr>
            <a:r>
              <a:rPr lang="en-US" sz="1200" b="1" dirty="0">
                <a:solidFill>
                  <a:srgbClr val="1E293B"/>
                </a:solidFill>
              </a:rPr>
              <a:t>Conclusion &amp; Future Work</a:t>
            </a:r>
            <a:endParaRPr lang="en-US" sz="1200" dirty="0"/>
          </a:p>
        </p:txBody>
      </p:sp>
      <p:sp>
        <p:nvSpPr>
          <p:cNvPr id="44" name="Text 42"/>
          <p:cNvSpPr/>
          <p:nvPr/>
        </p:nvSpPr>
        <p:spPr>
          <a:xfrm>
            <a:off x="5257800" y="4315968"/>
            <a:ext cx="3520440" cy="256032"/>
          </a:xfrm>
          <a:prstGeom prst="rect">
            <a:avLst/>
          </a:prstGeom>
          <a:noFill/>
          <a:ln/>
        </p:spPr>
        <p:txBody>
          <a:bodyPr wrap="square" lIns="0" tIns="0" rIns="0" bIns="0" rtlCol="0" anchor="ctr"/>
          <a:lstStyle/>
          <a:p>
            <a:pPr indent="0" marL="0">
              <a:buNone/>
            </a:pPr>
            <a:r>
              <a:rPr lang="en-US" sz="950" dirty="0">
                <a:solidFill>
                  <a:srgbClr val="64748B"/>
                </a:solidFill>
              </a:rPr>
              <a:t>Key findings and next steps</a:t>
            </a:r>
            <a:endParaRPr lang="en-US" sz="950" dirty="0"/>
          </a:p>
        </p:txBody>
      </p:sp>
      <p:sp>
        <p:nvSpPr>
          <p:cNvPr id="45" name="Text 43"/>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01 · OVERVIEW</a:t>
            </a:r>
            <a:endParaRPr lang="en-US" sz="900" dirty="0"/>
          </a:p>
        </p:txBody>
      </p:sp>
      <p:sp>
        <p:nvSpPr>
          <p:cNvPr id="4" name="Text 2"/>
          <p:cNvSpPr/>
          <p:nvPr/>
        </p:nvSpPr>
        <p:spPr>
          <a:xfrm>
            <a:off x="365760" y="640080"/>
            <a:ext cx="8229600" cy="502920"/>
          </a:xfrm>
          <a:prstGeom prst="rect">
            <a:avLst/>
          </a:prstGeom>
          <a:noFill/>
          <a:ln/>
        </p:spPr>
        <p:txBody>
          <a:bodyPr wrap="square" rtlCol="0" anchor="ctr"/>
          <a:lstStyle/>
          <a:p>
            <a:pPr indent="0" marL="0">
              <a:buNone/>
            </a:pPr>
            <a:r>
              <a:rPr lang="en-US" sz="3000" b="1" dirty="0">
                <a:solidFill>
                  <a:srgbClr val="1E293B"/>
                </a:solidFill>
              </a:rPr>
              <a:t>What is DocTrust?</a:t>
            </a:r>
            <a:endParaRPr lang="en-US" sz="3000" dirty="0"/>
          </a:p>
        </p:txBody>
      </p:sp>
      <p:sp>
        <p:nvSpPr>
          <p:cNvPr id="5" name="Text 3"/>
          <p:cNvSpPr/>
          <p:nvPr/>
        </p:nvSpPr>
        <p:spPr>
          <a:xfrm>
            <a:off x="365760" y="1280160"/>
            <a:ext cx="4663440" cy="2286000"/>
          </a:xfrm>
          <a:prstGeom prst="rect">
            <a:avLst/>
          </a:prstGeom>
          <a:noFill/>
          <a:ln/>
        </p:spPr>
        <p:txBody>
          <a:bodyPr wrap="square" rtlCol="0" anchor="t"/>
          <a:lstStyle/>
          <a:p>
            <a:pPr indent="0" marL="0">
              <a:buNone/>
            </a:pPr>
            <a:r>
              <a:rPr lang="en-US" sz="1300" b="1" dirty="0">
                <a:solidFill>
                  <a:srgbClr val="1A73E8"/>
                </a:solidFill>
              </a:rPr>
              <a:t>The Problem
</a:t>
            </a:r>
            <a:endParaRPr lang="en-US" sz="1300" dirty="0"/>
          </a:p>
          <a:p>
            <a:pPr indent="0" marL="0">
              <a:buNone/>
            </a:pPr>
            <a:r>
              <a:rPr lang="en-US" sz="1100" dirty="0">
                <a:solidFill>
                  <a:srgbClr val="1E293B"/>
                </a:solidFill>
              </a:rPr>
              <a:t>Students, researchers, and professionals face three persistent challenges:
</a:t>
            </a:r>
            <a:endParaRPr lang="en-US" sz="1300" dirty="0"/>
          </a:p>
          <a:p>
            <a:pPr indent="0" marL="0">
              <a:buNone/>
            </a:pPr>
            <a:r>
              <a:rPr lang="en-US" sz="1100" dirty="0">
                <a:solidFill>
                  <a:srgbClr val="1E293B"/>
                </a:solidFill>
              </a:rPr>
              <a:t>  • Summarizing long documents without losing key ideas
</a:t>
            </a:r>
            <a:endParaRPr lang="en-US" sz="1300" dirty="0"/>
          </a:p>
          <a:p>
            <a:pPr indent="0" marL="0">
              <a:buNone/>
            </a:pPr>
            <a:r>
              <a:rPr lang="en-US" sz="1100" dirty="0">
                <a:solidFill>
                  <a:srgbClr val="1E293B"/>
                </a:solidFill>
              </a:rPr>
              <a:t>  • Paraphrasing text accurately while preserving meaning
</a:t>
            </a:r>
            <a:endParaRPr lang="en-US" sz="1300" dirty="0"/>
          </a:p>
          <a:p>
            <a:pPr indent="0" marL="0">
              <a:buNone/>
            </a:pPr>
            <a:r>
              <a:rPr lang="en-US" sz="1100" dirty="0">
                <a:solidFill>
                  <a:srgbClr val="1E293B"/>
                </a:solidFill>
              </a:rPr>
              <a:t>  • Detecting plagiarism reliably and affordably
</a:t>
            </a:r>
            <a:endParaRPr lang="en-US" sz="1300" dirty="0"/>
          </a:p>
          <a:p>
            <a:pPr indent="0" marL="0">
              <a:buNone/>
            </a:pPr>
            <a:r>
              <a:rPr lang="en-US" sz="1100" dirty="0">
                <a:solidFill>
                  <a:srgbClr val="64748B"/>
                </a:solidFill>
              </a:rPr>
              <a:t>Existing tools are fragmented, often paid, and semantically unreliable.</a:t>
            </a:r>
            <a:endParaRPr lang="en-US" sz="1300" dirty="0"/>
          </a:p>
        </p:txBody>
      </p:sp>
      <p:sp>
        <p:nvSpPr>
          <p:cNvPr id="6" name="Shape 4"/>
          <p:cNvSpPr/>
          <p:nvPr/>
        </p:nvSpPr>
        <p:spPr>
          <a:xfrm>
            <a:off x="5212080" y="1234440"/>
            <a:ext cx="3657600" cy="914400"/>
          </a:xfrm>
          <a:prstGeom prst="rect">
            <a:avLst/>
          </a:prstGeom>
          <a:solidFill>
            <a:srgbClr val="FFFFFF"/>
          </a:solidFill>
          <a:ln w="12700">
            <a:solidFill>
              <a:srgbClr val="BFDBFE"/>
            </a:solidFill>
            <a:prstDash val="solid"/>
          </a:ln>
          <a:effectLst>
            <a:outerShdw sx="100000" sy="100000" kx="0" ky="0" algn="bl" rotWithShape="0" blurRad="50800" dist="25400" dir="8100000">
              <a:srgbClr val="000000">
                <a:alpha val="7000"/>
              </a:srgbClr>
            </a:outerShdw>
          </a:effectLst>
        </p:spPr>
      </p:sp>
      <p:sp>
        <p:nvSpPr>
          <p:cNvPr id="7" name="Shape 5"/>
          <p:cNvSpPr/>
          <p:nvPr/>
        </p:nvSpPr>
        <p:spPr>
          <a:xfrm>
            <a:off x="5212080" y="1234440"/>
            <a:ext cx="73152" cy="914400"/>
          </a:xfrm>
          <a:prstGeom prst="rect">
            <a:avLst/>
          </a:prstGeom>
          <a:solidFill>
            <a:srgbClr val="1A73E8"/>
          </a:solidFill>
          <a:ln w="12700">
            <a:solidFill>
              <a:srgbClr val="000000"/>
            </a:solidFill>
            <a:prstDash val="solid"/>
          </a:ln>
        </p:spPr>
      </p:sp>
      <p:sp>
        <p:nvSpPr>
          <p:cNvPr id="8" name="Text 6"/>
          <p:cNvSpPr/>
          <p:nvPr/>
        </p:nvSpPr>
        <p:spPr>
          <a:xfrm>
            <a:off x="5376672" y="1325880"/>
            <a:ext cx="3383280" cy="292608"/>
          </a:xfrm>
          <a:prstGeom prst="rect">
            <a:avLst/>
          </a:prstGeom>
          <a:noFill/>
          <a:ln/>
        </p:spPr>
        <p:txBody>
          <a:bodyPr wrap="square" lIns="0" tIns="0" rIns="0" bIns="0" rtlCol="0" anchor="ctr"/>
          <a:lstStyle/>
          <a:p>
            <a:pPr indent="0" marL="0">
              <a:buNone/>
            </a:pPr>
            <a:r>
              <a:rPr lang="en-US" sz="1300" b="1" dirty="0">
                <a:solidFill>
                  <a:srgbClr val="1E293B"/>
                </a:solidFill>
              </a:rPr>
              <a:t>📝  Summarization</a:t>
            </a:r>
            <a:endParaRPr lang="en-US" sz="1300" dirty="0"/>
          </a:p>
        </p:txBody>
      </p:sp>
      <p:sp>
        <p:nvSpPr>
          <p:cNvPr id="9" name="Text 7"/>
          <p:cNvSpPr/>
          <p:nvPr/>
        </p:nvSpPr>
        <p:spPr>
          <a:xfrm>
            <a:off x="5376672" y="1691640"/>
            <a:ext cx="3383280" cy="256032"/>
          </a:xfrm>
          <a:prstGeom prst="rect">
            <a:avLst/>
          </a:prstGeom>
          <a:noFill/>
          <a:ln/>
        </p:spPr>
        <p:txBody>
          <a:bodyPr wrap="square" lIns="0" tIns="0" rIns="0" bIns="0" rtlCol="0" anchor="ctr"/>
          <a:lstStyle/>
          <a:p>
            <a:pPr indent="0" marL="0">
              <a:buNone/>
            </a:pPr>
            <a:r>
              <a:rPr lang="en-US" sz="1000" dirty="0">
                <a:solidFill>
                  <a:srgbClr val="64748B"/>
                </a:solidFill>
              </a:rPr>
              <a:t>BART (facebook/bart-large-cnn)</a:t>
            </a:r>
            <a:endParaRPr lang="en-US" sz="1000" dirty="0"/>
          </a:p>
        </p:txBody>
      </p:sp>
      <p:sp>
        <p:nvSpPr>
          <p:cNvPr id="10" name="Shape 8"/>
          <p:cNvSpPr/>
          <p:nvPr/>
        </p:nvSpPr>
        <p:spPr>
          <a:xfrm>
            <a:off x="5212080" y="2331720"/>
            <a:ext cx="3657600" cy="914400"/>
          </a:xfrm>
          <a:prstGeom prst="rect">
            <a:avLst/>
          </a:prstGeom>
          <a:solidFill>
            <a:srgbClr val="FFFFFF"/>
          </a:solidFill>
          <a:ln w="12700">
            <a:solidFill>
              <a:srgbClr val="BFDBFE"/>
            </a:solidFill>
            <a:prstDash val="solid"/>
          </a:ln>
          <a:effectLst>
            <a:outerShdw sx="100000" sy="100000" kx="0" ky="0" algn="bl" rotWithShape="0" blurRad="50800" dist="25400" dir="8100000">
              <a:srgbClr val="000000">
                <a:alpha val="7000"/>
              </a:srgbClr>
            </a:outerShdw>
          </a:effectLst>
        </p:spPr>
      </p:sp>
      <p:sp>
        <p:nvSpPr>
          <p:cNvPr id="11" name="Shape 9"/>
          <p:cNvSpPr/>
          <p:nvPr/>
        </p:nvSpPr>
        <p:spPr>
          <a:xfrm>
            <a:off x="5212080" y="2331720"/>
            <a:ext cx="73152" cy="914400"/>
          </a:xfrm>
          <a:prstGeom prst="rect">
            <a:avLst/>
          </a:prstGeom>
          <a:solidFill>
            <a:srgbClr val="00BFA5"/>
          </a:solidFill>
          <a:ln w="12700">
            <a:solidFill>
              <a:srgbClr val="000000"/>
            </a:solidFill>
            <a:prstDash val="solid"/>
          </a:ln>
        </p:spPr>
      </p:sp>
      <p:sp>
        <p:nvSpPr>
          <p:cNvPr id="12" name="Text 10"/>
          <p:cNvSpPr/>
          <p:nvPr/>
        </p:nvSpPr>
        <p:spPr>
          <a:xfrm>
            <a:off x="5376672" y="2423160"/>
            <a:ext cx="3383280" cy="292608"/>
          </a:xfrm>
          <a:prstGeom prst="rect">
            <a:avLst/>
          </a:prstGeom>
          <a:noFill/>
          <a:ln/>
        </p:spPr>
        <p:txBody>
          <a:bodyPr wrap="square" lIns="0" tIns="0" rIns="0" bIns="0" rtlCol="0" anchor="ctr"/>
          <a:lstStyle/>
          <a:p>
            <a:pPr indent="0" marL="0">
              <a:buNone/>
            </a:pPr>
            <a:r>
              <a:rPr lang="en-US" sz="1300" b="1" dirty="0">
                <a:solidFill>
                  <a:srgbClr val="1E293B"/>
                </a:solidFill>
              </a:rPr>
              <a:t>✍️  Paraphrasing</a:t>
            </a:r>
            <a:endParaRPr lang="en-US" sz="1300" dirty="0"/>
          </a:p>
        </p:txBody>
      </p:sp>
      <p:sp>
        <p:nvSpPr>
          <p:cNvPr id="13" name="Text 11"/>
          <p:cNvSpPr/>
          <p:nvPr/>
        </p:nvSpPr>
        <p:spPr>
          <a:xfrm>
            <a:off x="5376672" y="2788920"/>
            <a:ext cx="3383280" cy="256032"/>
          </a:xfrm>
          <a:prstGeom prst="rect">
            <a:avLst/>
          </a:prstGeom>
          <a:noFill/>
          <a:ln/>
        </p:spPr>
        <p:txBody>
          <a:bodyPr wrap="square" lIns="0" tIns="0" rIns="0" bIns="0" rtlCol="0" anchor="ctr"/>
          <a:lstStyle/>
          <a:p>
            <a:pPr indent="0" marL="0">
              <a:buNone/>
            </a:pPr>
            <a:r>
              <a:rPr lang="en-US" sz="1000" dirty="0">
                <a:solidFill>
                  <a:srgbClr val="64748B"/>
                </a:solidFill>
              </a:rPr>
              <a:t>T5 (Vamsi/T5_Paraphrase_Paws)</a:t>
            </a:r>
            <a:endParaRPr lang="en-US" sz="1000" dirty="0"/>
          </a:p>
        </p:txBody>
      </p:sp>
      <p:sp>
        <p:nvSpPr>
          <p:cNvPr id="14" name="Shape 12"/>
          <p:cNvSpPr/>
          <p:nvPr/>
        </p:nvSpPr>
        <p:spPr>
          <a:xfrm>
            <a:off x="5212080" y="3429000"/>
            <a:ext cx="3657600" cy="914400"/>
          </a:xfrm>
          <a:prstGeom prst="rect">
            <a:avLst/>
          </a:prstGeom>
          <a:solidFill>
            <a:srgbClr val="FFFFFF"/>
          </a:solidFill>
          <a:ln w="12700">
            <a:solidFill>
              <a:srgbClr val="BFDBFE"/>
            </a:solidFill>
            <a:prstDash val="solid"/>
          </a:ln>
          <a:effectLst>
            <a:outerShdw sx="100000" sy="100000" kx="0" ky="0" algn="bl" rotWithShape="0" blurRad="50800" dist="25400" dir="8100000">
              <a:srgbClr val="000000">
                <a:alpha val="7000"/>
              </a:srgbClr>
            </a:outerShdw>
          </a:effectLst>
        </p:spPr>
      </p:sp>
      <p:sp>
        <p:nvSpPr>
          <p:cNvPr id="15" name="Shape 13"/>
          <p:cNvSpPr/>
          <p:nvPr/>
        </p:nvSpPr>
        <p:spPr>
          <a:xfrm>
            <a:off x="5212080" y="3429000"/>
            <a:ext cx="73152" cy="914400"/>
          </a:xfrm>
          <a:prstGeom prst="rect">
            <a:avLst/>
          </a:prstGeom>
          <a:solidFill>
            <a:srgbClr val="7C3AED"/>
          </a:solidFill>
          <a:ln w="12700">
            <a:solidFill>
              <a:srgbClr val="000000"/>
            </a:solidFill>
            <a:prstDash val="solid"/>
          </a:ln>
        </p:spPr>
      </p:sp>
      <p:sp>
        <p:nvSpPr>
          <p:cNvPr id="16" name="Text 14"/>
          <p:cNvSpPr/>
          <p:nvPr/>
        </p:nvSpPr>
        <p:spPr>
          <a:xfrm>
            <a:off x="5376672" y="3520440"/>
            <a:ext cx="3383280" cy="292608"/>
          </a:xfrm>
          <a:prstGeom prst="rect">
            <a:avLst/>
          </a:prstGeom>
          <a:noFill/>
          <a:ln/>
        </p:spPr>
        <p:txBody>
          <a:bodyPr wrap="square" lIns="0" tIns="0" rIns="0" bIns="0" rtlCol="0" anchor="ctr"/>
          <a:lstStyle/>
          <a:p>
            <a:pPr indent="0" marL="0">
              <a:buNone/>
            </a:pPr>
            <a:r>
              <a:rPr lang="en-US" sz="1300" b="1" dirty="0">
                <a:solidFill>
                  <a:srgbClr val="1E293B"/>
                </a:solidFill>
              </a:rPr>
              <a:t>🔍  Plagiarism Detection</a:t>
            </a:r>
            <a:endParaRPr lang="en-US" sz="1300" dirty="0"/>
          </a:p>
        </p:txBody>
      </p:sp>
      <p:sp>
        <p:nvSpPr>
          <p:cNvPr id="17" name="Text 15"/>
          <p:cNvSpPr/>
          <p:nvPr/>
        </p:nvSpPr>
        <p:spPr>
          <a:xfrm>
            <a:off x="5376672" y="3886200"/>
            <a:ext cx="3383280" cy="256032"/>
          </a:xfrm>
          <a:prstGeom prst="rect">
            <a:avLst/>
          </a:prstGeom>
          <a:noFill/>
          <a:ln/>
        </p:spPr>
        <p:txBody>
          <a:bodyPr wrap="square" lIns="0" tIns="0" rIns="0" bIns="0" rtlCol="0" anchor="ctr"/>
          <a:lstStyle/>
          <a:p>
            <a:pPr indent="0" marL="0">
              <a:buNone/>
            </a:pPr>
            <a:r>
              <a:rPr lang="en-US" sz="1000" dirty="0">
                <a:solidFill>
                  <a:srgbClr val="64748B"/>
                </a:solidFill>
              </a:rPr>
              <a:t>SBERT (all-MiniLM-L6-v2)</a:t>
            </a:r>
            <a:endParaRPr lang="en-US" sz="1000" dirty="0"/>
          </a:p>
        </p:txBody>
      </p:sp>
      <p:sp>
        <p:nvSpPr>
          <p:cNvPr id="18" name="Shape 16"/>
          <p:cNvSpPr/>
          <p:nvPr/>
        </p:nvSpPr>
        <p:spPr>
          <a:xfrm>
            <a:off x="365760" y="3749040"/>
            <a:ext cx="4663440" cy="457200"/>
          </a:xfrm>
          <a:prstGeom prst="rect">
            <a:avLst/>
          </a:prstGeom>
          <a:solidFill>
            <a:srgbClr val="FFF7ED"/>
          </a:solidFill>
          <a:ln w="12700">
            <a:solidFill>
              <a:srgbClr val="FED7AA"/>
            </a:solidFill>
            <a:prstDash val="solid"/>
          </a:ln>
        </p:spPr>
      </p:sp>
      <p:sp>
        <p:nvSpPr>
          <p:cNvPr id="19" name="Text 17"/>
          <p:cNvSpPr/>
          <p:nvPr/>
        </p:nvSpPr>
        <p:spPr>
          <a:xfrm>
            <a:off x="365760" y="3749040"/>
            <a:ext cx="4663440" cy="457200"/>
          </a:xfrm>
          <a:prstGeom prst="rect">
            <a:avLst/>
          </a:prstGeom>
          <a:noFill/>
          <a:ln/>
        </p:spPr>
        <p:txBody>
          <a:bodyPr wrap="square" lIns="0" tIns="0" rIns="101600" bIns="0" rtlCol="0" anchor="ctr"/>
          <a:lstStyle/>
          <a:p>
            <a:pPr indent="0" marL="0">
              <a:buNone/>
            </a:pPr>
            <a:r>
              <a:rPr lang="en-US" sz="1000" dirty="0">
                <a:solidFill>
                  <a:srgbClr val="92400E"/>
                </a:solidFill>
              </a:rPr>
              <a:t>📊 Dataset: CNN/DailyMail 3.0.0  —  Standard NLP benchmark for summarization tasks</a:t>
            </a:r>
            <a:endParaRPr lang="en-US" sz="1000" dirty="0"/>
          </a:p>
        </p:txBody>
      </p:sp>
      <p:sp>
        <p:nvSpPr>
          <p:cNvPr id="20" name="Shape 18"/>
          <p:cNvSpPr/>
          <p:nvPr/>
        </p:nvSpPr>
        <p:spPr>
          <a:xfrm>
            <a:off x="5212080" y="4297680"/>
            <a:ext cx="3657600" cy="457200"/>
          </a:xfrm>
          <a:prstGeom prst="rect">
            <a:avLst/>
          </a:prstGeom>
          <a:solidFill>
            <a:srgbClr val="F0FDF4"/>
          </a:solidFill>
          <a:ln w="12700">
            <a:solidFill>
              <a:srgbClr val="BBF7D0"/>
            </a:solidFill>
            <a:prstDash val="solid"/>
          </a:ln>
        </p:spPr>
      </p:sp>
      <p:sp>
        <p:nvSpPr>
          <p:cNvPr id="21" name="Text 19"/>
          <p:cNvSpPr/>
          <p:nvPr/>
        </p:nvSpPr>
        <p:spPr>
          <a:xfrm>
            <a:off x="5212080" y="4297680"/>
            <a:ext cx="3657600" cy="457200"/>
          </a:xfrm>
          <a:prstGeom prst="rect">
            <a:avLst/>
          </a:prstGeom>
          <a:noFill/>
          <a:ln/>
        </p:spPr>
        <p:txBody>
          <a:bodyPr wrap="square" lIns="0" tIns="0" rIns="101600" bIns="0" rtlCol="0" anchor="ctr"/>
          <a:lstStyle/>
          <a:p>
            <a:pPr indent="0" marL="0">
              <a:buNone/>
            </a:pPr>
            <a:r>
              <a:rPr lang="en-US" sz="1000" dirty="0">
                <a:solidFill>
                  <a:srgbClr val="166534"/>
                </a:solidFill>
              </a:rPr>
              <a:t>🌐 Deployed as a Streamlit web app accessible via ngrok</a:t>
            </a:r>
            <a:endParaRPr lang="en-US" sz="1000" dirty="0"/>
          </a:p>
        </p:txBody>
      </p:sp>
      <p:sp>
        <p:nvSpPr>
          <p:cNvPr id="22" name="Text 20"/>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02 · ARCHITECTURE</a:t>
            </a:r>
            <a:endParaRPr lang="en-US" sz="900" dirty="0"/>
          </a:p>
        </p:txBody>
      </p:sp>
      <p:sp>
        <p:nvSpPr>
          <p:cNvPr id="4" name="Text 2"/>
          <p:cNvSpPr/>
          <p:nvPr/>
        </p:nvSpPr>
        <p:spPr>
          <a:xfrm>
            <a:off x="365760" y="640080"/>
            <a:ext cx="8229600" cy="502920"/>
          </a:xfrm>
          <a:prstGeom prst="rect">
            <a:avLst/>
          </a:prstGeom>
          <a:noFill/>
          <a:ln/>
        </p:spPr>
        <p:txBody>
          <a:bodyPr wrap="square" rtlCol="0" anchor="ctr"/>
          <a:lstStyle/>
          <a:p>
            <a:pPr indent="0" marL="0">
              <a:buNone/>
            </a:pPr>
            <a:r>
              <a:rPr lang="en-US" sz="2800" b="1" dirty="0">
                <a:solidFill>
                  <a:srgbClr val="1E293B"/>
                </a:solidFill>
              </a:rPr>
              <a:t>System Architecture &amp; Data Flow</a:t>
            </a:r>
            <a:endParaRPr lang="en-US" sz="2800" dirty="0"/>
          </a:p>
        </p:txBody>
      </p:sp>
      <p:sp>
        <p:nvSpPr>
          <p:cNvPr id="5" name="Shape 3"/>
          <p:cNvSpPr/>
          <p:nvPr/>
        </p:nvSpPr>
        <p:spPr>
          <a:xfrm>
            <a:off x="457200" y="1280160"/>
            <a:ext cx="1737360" cy="685800"/>
          </a:xfrm>
          <a:prstGeom prst="rect">
            <a:avLst/>
          </a:prstGeom>
          <a:solidFill>
            <a:srgbClr val="1A73E8"/>
          </a:solidFill>
          <a:ln w="12700">
            <a:solidFill>
              <a:srgbClr val="000000"/>
            </a:solidFill>
            <a:prstDash val="solid"/>
          </a:ln>
        </p:spPr>
      </p:sp>
      <p:sp>
        <p:nvSpPr>
          <p:cNvPr id="6" name="Text 4"/>
          <p:cNvSpPr/>
          <p:nvPr/>
        </p:nvSpPr>
        <p:spPr>
          <a:xfrm>
            <a:off x="457200" y="1280160"/>
            <a:ext cx="1737360" cy="685800"/>
          </a:xfrm>
          <a:prstGeom prst="rect">
            <a:avLst/>
          </a:prstGeom>
          <a:noFill/>
          <a:ln/>
        </p:spPr>
        <p:txBody>
          <a:bodyPr wrap="square" lIns="0" tIns="0" rIns="0" bIns="0" rtlCol="0" anchor="ctr"/>
          <a:lstStyle/>
          <a:p>
            <a:pPr algn="ctr" indent="0" marL="0">
              <a:buNone/>
            </a:pPr>
            <a:r>
              <a:rPr lang="en-US" sz="1100" b="1" dirty="0">
                <a:solidFill>
                  <a:srgbClr val="FFFFFF"/>
                </a:solidFill>
              </a:rPr>
              <a:t>User Input</a:t>
            </a:r>
            <a:endParaRPr lang="en-US" sz="1100" dirty="0"/>
          </a:p>
          <a:p>
            <a:pPr algn="ctr" indent="0" marL="0">
              <a:buNone/>
            </a:pPr>
            <a:r>
              <a:rPr lang="en-US" sz="1100" b="1" dirty="0">
                <a:solidFill>
                  <a:srgbClr val="FFFFFF"/>
                </a:solidFill>
              </a:rPr>
              <a:t>(Text)</a:t>
            </a:r>
            <a:endParaRPr lang="en-US" sz="1100" dirty="0"/>
          </a:p>
        </p:txBody>
      </p:sp>
      <p:sp>
        <p:nvSpPr>
          <p:cNvPr id="7" name="Shape 5"/>
          <p:cNvSpPr/>
          <p:nvPr/>
        </p:nvSpPr>
        <p:spPr>
          <a:xfrm>
            <a:off x="2194560" y="1627632"/>
            <a:ext cx="365760" cy="0"/>
          </a:xfrm>
          <a:prstGeom prst="line">
            <a:avLst/>
          </a:prstGeom>
          <a:noFill/>
          <a:ln w="19050">
            <a:solidFill>
              <a:srgbClr val="64748B"/>
            </a:solidFill>
            <a:prstDash val="solid"/>
          </a:ln>
        </p:spPr>
      </p:sp>
      <p:sp>
        <p:nvSpPr>
          <p:cNvPr id="8" name="Shape 6"/>
          <p:cNvSpPr/>
          <p:nvPr/>
        </p:nvSpPr>
        <p:spPr>
          <a:xfrm>
            <a:off x="2560320" y="1280160"/>
            <a:ext cx="1737360" cy="685800"/>
          </a:xfrm>
          <a:prstGeom prst="rect">
            <a:avLst/>
          </a:prstGeom>
          <a:solidFill>
            <a:srgbClr val="00BFA5"/>
          </a:solidFill>
          <a:ln w="12700">
            <a:solidFill>
              <a:srgbClr val="000000"/>
            </a:solidFill>
            <a:prstDash val="solid"/>
          </a:ln>
        </p:spPr>
      </p:sp>
      <p:sp>
        <p:nvSpPr>
          <p:cNvPr id="9" name="Text 7"/>
          <p:cNvSpPr/>
          <p:nvPr/>
        </p:nvSpPr>
        <p:spPr>
          <a:xfrm>
            <a:off x="2560320" y="1280160"/>
            <a:ext cx="1737360" cy="685800"/>
          </a:xfrm>
          <a:prstGeom prst="rect">
            <a:avLst/>
          </a:prstGeom>
          <a:noFill/>
          <a:ln/>
        </p:spPr>
        <p:txBody>
          <a:bodyPr wrap="square" lIns="0" tIns="0" rIns="0" bIns="0" rtlCol="0" anchor="ctr"/>
          <a:lstStyle/>
          <a:p>
            <a:pPr algn="ctr" indent="0" marL="0">
              <a:buNone/>
            </a:pPr>
            <a:r>
              <a:rPr lang="en-US" sz="1100" b="1" dirty="0">
                <a:solidFill>
                  <a:srgbClr val="FFFFFF"/>
                </a:solidFill>
              </a:rPr>
              <a:t>Pre-</a:t>
            </a:r>
            <a:endParaRPr lang="en-US" sz="1100" dirty="0"/>
          </a:p>
          <a:p>
            <a:pPr algn="ctr" indent="0" marL="0">
              <a:buNone/>
            </a:pPr>
            <a:r>
              <a:rPr lang="en-US" sz="1100" b="1" dirty="0">
                <a:solidFill>
                  <a:srgbClr val="FFFFFF"/>
                </a:solidFill>
              </a:rPr>
              <a:t>processing</a:t>
            </a:r>
            <a:endParaRPr lang="en-US" sz="1100" dirty="0"/>
          </a:p>
        </p:txBody>
      </p:sp>
      <p:sp>
        <p:nvSpPr>
          <p:cNvPr id="10" name="Shape 8"/>
          <p:cNvSpPr/>
          <p:nvPr/>
        </p:nvSpPr>
        <p:spPr>
          <a:xfrm>
            <a:off x="4297680" y="1627632"/>
            <a:ext cx="365760" cy="0"/>
          </a:xfrm>
          <a:prstGeom prst="line">
            <a:avLst/>
          </a:prstGeom>
          <a:noFill/>
          <a:ln w="19050">
            <a:solidFill>
              <a:srgbClr val="64748B"/>
            </a:solidFill>
            <a:prstDash val="solid"/>
          </a:ln>
        </p:spPr>
      </p:sp>
      <p:sp>
        <p:nvSpPr>
          <p:cNvPr id="11" name="Shape 9"/>
          <p:cNvSpPr/>
          <p:nvPr/>
        </p:nvSpPr>
        <p:spPr>
          <a:xfrm>
            <a:off x="4663440" y="1280160"/>
            <a:ext cx="1737360" cy="685800"/>
          </a:xfrm>
          <a:prstGeom prst="rect">
            <a:avLst/>
          </a:prstGeom>
          <a:solidFill>
            <a:srgbClr val="7C3AED"/>
          </a:solidFill>
          <a:ln w="12700">
            <a:solidFill>
              <a:srgbClr val="000000"/>
            </a:solidFill>
            <a:prstDash val="solid"/>
          </a:ln>
        </p:spPr>
      </p:sp>
      <p:sp>
        <p:nvSpPr>
          <p:cNvPr id="12" name="Text 10"/>
          <p:cNvSpPr/>
          <p:nvPr/>
        </p:nvSpPr>
        <p:spPr>
          <a:xfrm>
            <a:off x="4663440" y="1280160"/>
            <a:ext cx="1737360" cy="685800"/>
          </a:xfrm>
          <a:prstGeom prst="rect">
            <a:avLst/>
          </a:prstGeom>
          <a:noFill/>
          <a:ln/>
        </p:spPr>
        <p:txBody>
          <a:bodyPr wrap="square" lIns="0" tIns="0" rIns="0" bIns="0" rtlCol="0" anchor="ctr"/>
          <a:lstStyle/>
          <a:p>
            <a:pPr algn="ctr" indent="0" marL="0">
              <a:buNone/>
            </a:pPr>
            <a:r>
              <a:rPr lang="en-US" sz="1100" b="1" dirty="0">
                <a:solidFill>
                  <a:srgbClr val="FFFFFF"/>
                </a:solidFill>
              </a:rPr>
              <a:t>Module</a:t>
            </a:r>
            <a:endParaRPr lang="en-US" sz="1100" dirty="0"/>
          </a:p>
          <a:p>
            <a:pPr algn="ctr" indent="0" marL="0">
              <a:buNone/>
            </a:pPr>
            <a:r>
              <a:rPr lang="en-US" sz="1100" b="1" dirty="0">
                <a:solidFill>
                  <a:srgbClr val="FFFFFF"/>
                </a:solidFill>
              </a:rPr>
              <a:t>Router</a:t>
            </a:r>
            <a:endParaRPr lang="en-US" sz="1100" dirty="0"/>
          </a:p>
        </p:txBody>
      </p:sp>
      <p:sp>
        <p:nvSpPr>
          <p:cNvPr id="13" name="Shape 11"/>
          <p:cNvSpPr/>
          <p:nvPr/>
        </p:nvSpPr>
        <p:spPr>
          <a:xfrm>
            <a:off x="6309360" y="1965960"/>
            <a:ext cx="0" cy="365760"/>
          </a:xfrm>
          <a:prstGeom prst="line">
            <a:avLst/>
          </a:prstGeom>
          <a:noFill/>
          <a:ln w="19050">
            <a:solidFill>
              <a:srgbClr val="64748B"/>
            </a:solidFill>
            <a:prstDash val="solid"/>
          </a:ln>
        </p:spPr>
      </p:sp>
      <p:sp>
        <p:nvSpPr>
          <p:cNvPr id="14" name="Shape 12"/>
          <p:cNvSpPr/>
          <p:nvPr/>
        </p:nvSpPr>
        <p:spPr>
          <a:xfrm>
            <a:off x="4846320" y="2331720"/>
            <a:ext cx="2926080" cy="0"/>
          </a:xfrm>
          <a:prstGeom prst="line">
            <a:avLst/>
          </a:prstGeom>
          <a:noFill/>
          <a:ln w="19050">
            <a:solidFill>
              <a:srgbClr val="64748B"/>
            </a:solidFill>
            <a:prstDash val="solid"/>
          </a:ln>
        </p:spPr>
      </p:sp>
      <p:sp>
        <p:nvSpPr>
          <p:cNvPr id="15" name="Shape 13"/>
          <p:cNvSpPr/>
          <p:nvPr/>
        </p:nvSpPr>
        <p:spPr>
          <a:xfrm>
            <a:off x="4937760" y="2331720"/>
            <a:ext cx="0" cy="274320"/>
          </a:xfrm>
          <a:prstGeom prst="line">
            <a:avLst/>
          </a:prstGeom>
          <a:noFill/>
          <a:ln w="19050">
            <a:solidFill>
              <a:srgbClr val="64748B"/>
            </a:solidFill>
            <a:prstDash val="solid"/>
          </a:ln>
        </p:spPr>
      </p:sp>
      <p:sp>
        <p:nvSpPr>
          <p:cNvPr id="16" name="Shape 14"/>
          <p:cNvSpPr/>
          <p:nvPr/>
        </p:nvSpPr>
        <p:spPr>
          <a:xfrm>
            <a:off x="4389120" y="2606040"/>
            <a:ext cx="1645920" cy="685800"/>
          </a:xfrm>
          <a:prstGeom prst="rect">
            <a:avLst/>
          </a:prstGeom>
          <a:solidFill>
            <a:srgbClr val="1A73E8">
              <a:alpha val="85000"/>
            </a:srgbClr>
          </a:solidFill>
          <a:ln w="19050">
            <a:solidFill>
              <a:srgbClr val="1A73E8"/>
            </a:solidFill>
            <a:prstDash val="solid"/>
          </a:ln>
        </p:spPr>
      </p:sp>
      <p:sp>
        <p:nvSpPr>
          <p:cNvPr id="17" name="Text 15"/>
          <p:cNvSpPr/>
          <p:nvPr/>
        </p:nvSpPr>
        <p:spPr>
          <a:xfrm>
            <a:off x="4389120" y="2606040"/>
            <a:ext cx="1645920" cy="685800"/>
          </a:xfrm>
          <a:prstGeom prst="rect">
            <a:avLst/>
          </a:prstGeom>
          <a:noFill/>
          <a:ln/>
        </p:spPr>
        <p:txBody>
          <a:bodyPr wrap="square" lIns="0" tIns="0" rIns="0" bIns="0" rtlCol="0" anchor="ctr"/>
          <a:lstStyle/>
          <a:p>
            <a:pPr algn="ctr" indent="0" marL="0">
              <a:buNone/>
            </a:pPr>
            <a:r>
              <a:rPr lang="en-US" sz="1000" b="1" dirty="0">
                <a:solidFill>
                  <a:srgbClr val="1E293B"/>
                </a:solidFill>
              </a:rPr>
              <a:t>BART</a:t>
            </a:r>
            <a:endParaRPr lang="en-US" sz="1000" dirty="0"/>
          </a:p>
          <a:p>
            <a:pPr algn="ctr" indent="0" marL="0">
              <a:buNone/>
            </a:pPr>
            <a:r>
              <a:rPr lang="en-US" sz="1000" b="1" dirty="0">
                <a:solidFill>
                  <a:srgbClr val="1E293B"/>
                </a:solidFill>
              </a:rPr>
              <a:t>Summarize</a:t>
            </a:r>
            <a:endParaRPr lang="en-US" sz="1000" dirty="0"/>
          </a:p>
        </p:txBody>
      </p:sp>
      <p:sp>
        <p:nvSpPr>
          <p:cNvPr id="18" name="Shape 16"/>
          <p:cNvSpPr/>
          <p:nvPr/>
        </p:nvSpPr>
        <p:spPr>
          <a:xfrm>
            <a:off x="4937760" y="3291840"/>
            <a:ext cx="0" cy="274320"/>
          </a:xfrm>
          <a:prstGeom prst="line">
            <a:avLst/>
          </a:prstGeom>
          <a:noFill/>
          <a:ln w="19050">
            <a:solidFill>
              <a:srgbClr val="64748B"/>
            </a:solidFill>
            <a:prstDash val="solid"/>
          </a:ln>
        </p:spPr>
      </p:sp>
      <p:sp>
        <p:nvSpPr>
          <p:cNvPr id="19" name="Shape 17"/>
          <p:cNvSpPr/>
          <p:nvPr/>
        </p:nvSpPr>
        <p:spPr>
          <a:xfrm>
            <a:off x="4389120" y="3566160"/>
            <a:ext cx="1645920" cy="594360"/>
          </a:xfrm>
          <a:prstGeom prst="rect">
            <a:avLst/>
          </a:prstGeom>
          <a:solidFill>
            <a:srgbClr val="FFFFFF"/>
          </a:solidFill>
          <a:ln w="12700">
            <a:solidFill>
              <a:srgbClr val="CBD5E1"/>
            </a:solidFill>
            <a:prstDash val="solid"/>
          </a:ln>
        </p:spPr>
      </p:sp>
      <p:sp>
        <p:nvSpPr>
          <p:cNvPr id="20" name="Text 18"/>
          <p:cNvSpPr/>
          <p:nvPr/>
        </p:nvSpPr>
        <p:spPr>
          <a:xfrm>
            <a:off x="4389120" y="3566160"/>
            <a:ext cx="1645920" cy="594360"/>
          </a:xfrm>
          <a:prstGeom prst="rect">
            <a:avLst/>
          </a:prstGeom>
          <a:noFill/>
          <a:ln/>
        </p:spPr>
        <p:txBody>
          <a:bodyPr wrap="square" lIns="0" tIns="0" rIns="0" bIns="0" rtlCol="0" anchor="ctr"/>
          <a:lstStyle/>
          <a:p>
            <a:pPr algn="ctr" indent="0" marL="0">
              <a:buNone/>
            </a:pPr>
            <a:r>
              <a:rPr lang="en-US" sz="950" dirty="0">
                <a:solidFill>
                  <a:srgbClr val="64748B"/>
                </a:solidFill>
              </a:rPr>
              <a:t>Summary</a:t>
            </a:r>
            <a:endParaRPr lang="en-US" sz="950" dirty="0"/>
          </a:p>
          <a:p>
            <a:pPr algn="ctr" indent="0" marL="0">
              <a:buNone/>
            </a:pPr>
            <a:r>
              <a:rPr lang="en-US" sz="950" dirty="0">
                <a:solidFill>
                  <a:srgbClr val="64748B"/>
                </a:solidFill>
              </a:rPr>
              <a:t>Text</a:t>
            </a:r>
            <a:endParaRPr lang="en-US" sz="950" dirty="0"/>
          </a:p>
        </p:txBody>
      </p:sp>
      <p:sp>
        <p:nvSpPr>
          <p:cNvPr id="21" name="Shape 19"/>
          <p:cNvSpPr/>
          <p:nvPr/>
        </p:nvSpPr>
        <p:spPr>
          <a:xfrm>
            <a:off x="6766560" y="2331720"/>
            <a:ext cx="0" cy="274320"/>
          </a:xfrm>
          <a:prstGeom prst="line">
            <a:avLst/>
          </a:prstGeom>
          <a:noFill/>
          <a:ln w="19050">
            <a:solidFill>
              <a:srgbClr val="64748B"/>
            </a:solidFill>
            <a:prstDash val="solid"/>
          </a:ln>
        </p:spPr>
      </p:sp>
      <p:sp>
        <p:nvSpPr>
          <p:cNvPr id="22" name="Shape 20"/>
          <p:cNvSpPr/>
          <p:nvPr/>
        </p:nvSpPr>
        <p:spPr>
          <a:xfrm>
            <a:off x="6217920" y="2606040"/>
            <a:ext cx="1645920" cy="685800"/>
          </a:xfrm>
          <a:prstGeom prst="rect">
            <a:avLst/>
          </a:prstGeom>
          <a:solidFill>
            <a:srgbClr val="00BFA5">
              <a:alpha val="85000"/>
            </a:srgbClr>
          </a:solidFill>
          <a:ln w="19050">
            <a:solidFill>
              <a:srgbClr val="00BFA5"/>
            </a:solidFill>
            <a:prstDash val="solid"/>
          </a:ln>
        </p:spPr>
      </p:sp>
      <p:sp>
        <p:nvSpPr>
          <p:cNvPr id="23" name="Text 21"/>
          <p:cNvSpPr/>
          <p:nvPr/>
        </p:nvSpPr>
        <p:spPr>
          <a:xfrm>
            <a:off x="6217920" y="2606040"/>
            <a:ext cx="1645920" cy="685800"/>
          </a:xfrm>
          <a:prstGeom prst="rect">
            <a:avLst/>
          </a:prstGeom>
          <a:noFill/>
          <a:ln/>
        </p:spPr>
        <p:txBody>
          <a:bodyPr wrap="square" lIns="0" tIns="0" rIns="0" bIns="0" rtlCol="0" anchor="ctr"/>
          <a:lstStyle/>
          <a:p>
            <a:pPr algn="ctr" indent="0" marL="0">
              <a:buNone/>
            </a:pPr>
            <a:r>
              <a:rPr lang="en-US" sz="1000" b="1" dirty="0">
                <a:solidFill>
                  <a:srgbClr val="1E293B"/>
                </a:solidFill>
              </a:rPr>
              <a:t>T5-PAWS</a:t>
            </a:r>
            <a:endParaRPr lang="en-US" sz="1000" dirty="0"/>
          </a:p>
          <a:p>
            <a:pPr algn="ctr" indent="0" marL="0">
              <a:buNone/>
            </a:pPr>
            <a:r>
              <a:rPr lang="en-US" sz="1000" b="1" dirty="0">
                <a:solidFill>
                  <a:srgbClr val="1E293B"/>
                </a:solidFill>
              </a:rPr>
              <a:t>Paraphrase</a:t>
            </a:r>
            <a:endParaRPr lang="en-US" sz="1000" dirty="0"/>
          </a:p>
        </p:txBody>
      </p:sp>
      <p:sp>
        <p:nvSpPr>
          <p:cNvPr id="24" name="Shape 22"/>
          <p:cNvSpPr/>
          <p:nvPr/>
        </p:nvSpPr>
        <p:spPr>
          <a:xfrm>
            <a:off x="6766560" y="3291840"/>
            <a:ext cx="0" cy="274320"/>
          </a:xfrm>
          <a:prstGeom prst="line">
            <a:avLst/>
          </a:prstGeom>
          <a:noFill/>
          <a:ln w="19050">
            <a:solidFill>
              <a:srgbClr val="64748B"/>
            </a:solidFill>
            <a:prstDash val="solid"/>
          </a:ln>
        </p:spPr>
      </p:sp>
      <p:sp>
        <p:nvSpPr>
          <p:cNvPr id="25" name="Shape 23"/>
          <p:cNvSpPr/>
          <p:nvPr/>
        </p:nvSpPr>
        <p:spPr>
          <a:xfrm>
            <a:off x="6217920" y="3566160"/>
            <a:ext cx="1645920" cy="594360"/>
          </a:xfrm>
          <a:prstGeom prst="rect">
            <a:avLst/>
          </a:prstGeom>
          <a:solidFill>
            <a:srgbClr val="FFFFFF"/>
          </a:solidFill>
          <a:ln w="12700">
            <a:solidFill>
              <a:srgbClr val="CBD5E1"/>
            </a:solidFill>
            <a:prstDash val="solid"/>
          </a:ln>
        </p:spPr>
      </p:sp>
      <p:sp>
        <p:nvSpPr>
          <p:cNvPr id="26" name="Text 24"/>
          <p:cNvSpPr/>
          <p:nvPr/>
        </p:nvSpPr>
        <p:spPr>
          <a:xfrm>
            <a:off x="6217920" y="3566160"/>
            <a:ext cx="1645920" cy="594360"/>
          </a:xfrm>
          <a:prstGeom prst="rect">
            <a:avLst/>
          </a:prstGeom>
          <a:noFill/>
          <a:ln/>
        </p:spPr>
        <p:txBody>
          <a:bodyPr wrap="square" lIns="0" tIns="0" rIns="0" bIns="0" rtlCol="0" anchor="ctr"/>
          <a:lstStyle/>
          <a:p>
            <a:pPr algn="ctr" indent="0" marL="0">
              <a:buNone/>
            </a:pPr>
            <a:r>
              <a:rPr lang="en-US" sz="950" dirty="0">
                <a:solidFill>
                  <a:srgbClr val="64748B"/>
                </a:solidFill>
              </a:rPr>
              <a:t>Paraphrased</a:t>
            </a:r>
            <a:endParaRPr lang="en-US" sz="950" dirty="0"/>
          </a:p>
          <a:p>
            <a:pPr algn="ctr" indent="0" marL="0">
              <a:buNone/>
            </a:pPr>
            <a:r>
              <a:rPr lang="en-US" sz="950" dirty="0">
                <a:solidFill>
                  <a:srgbClr val="64748B"/>
                </a:solidFill>
              </a:rPr>
              <a:t>Text</a:t>
            </a:r>
            <a:endParaRPr lang="en-US" sz="950" dirty="0"/>
          </a:p>
        </p:txBody>
      </p:sp>
      <p:sp>
        <p:nvSpPr>
          <p:cNvPr id="27" name="Shape 25"/>
          <p:cNvSpPr/>
          <p:nvPr/>
        </p:nvSpPr>
        <p:spPr>
          <a:xfrm>
            <a:off x="8595360" y="2331720"/>
            <a:ext cx="0" cy="274320"/>
          </a:xfrm>
          <a:prstGeom prst="line">
            <a:avLst/>
          </a:prstGeom>
          <a:noFill/>
          <a:ln w="19050">
            <a:solidFill>
              <a:srgbClr val="64748B"/>
            </a:solidFill>
            <a:prstDash val="solid"/>
          </a:ln>
        </p:spPr>
      </p:sp>
      <p:sp>
        <p:nvSpPr>
          <p:cNvPr id="28" name="Shape 26"/>
          <p:cNvSpPr/>
          <p:nvPr/>
        </p:nvSpPr>
        <p:spPr>
          <a:xfrm>
            <a:off x="8046720" y="2606040"/>
            <a:ext cx="1645920" cy="685800"/>
          </a:xfrm>
          <a:prstGeom prst="rect">
            <a:avLst/>
          </a:prstGeom>
          <a:solidFill>
            <a:srgbClr val="7C3AED">
              <a:alpha val="85000"/>
            </a:srgbClr>
          </a:solidFill>
          <a:ln w="19050">
            <a:solidFill>
              <a:srgbClr val="7C3AED"/>
            </a:solidFill>
            <a:prstDash val="solid"/>
          </a:ln>
        </p:spPr>
      </p:sp>
      <p:sp>
        <p:nvSpPr>
          <p:cNvPr id="29" name="Text 27"/>
          <p:cNvSpPr/>
          <p:nvPr/>
        </p:nvSpPr>
        <p:spPr>
          <a:xfrm>
            <a:off x="8046720" y="2606040"/>
            <a:ext cx="1645920" cy="685800"/>
          </a:xfrm>
          <a:prstGeom prst="rect">
            <a:avLst/>
          </a:prstGeom>
          <a:noFill/>
          <a:ln/>
        </p:spPr>
        <p:txBody>
          <a:bodyPr wrap="square" lIns="0" tIns="0" rIns="0" bIns="0" rtlCol="0" anchor="ctr"/>
          <a:lstStyle/>
          <a:p>
            <a:pPr algn="ctr" indent="0" marL="0">
              <a:buNone/>
            </a:pPr>
            <a:r>
              <a:rPr lang="en-US" sz="1000" b="1" dirty="0">
                <a:solidFill>
                  <a:srgbClr val="1E293B"/>
                </a:solidFill>
              </a:rPr>
              <a:t>SBERT</a:t>
            </a:r>
            <a:endParaRPr lang="en-US" sz="1000" dirty="0"/>
          </a:p>
          <a:p>
            <a:pPr algn="ctr" indent="0" marL="0">
              <a:buNone/>
            </a:pPr>
            <a:r>
              <a:rPr lang="en-US" sz="1000" b="1" dirty="0">
                <a:solidFill>
                  <a:srgbClr val="1E293B"/>
                </a:solidFill>
              </a:rPr>
              <a:t>+ FAISS</a:t>
            </a:r>
            <a:endParaRPr lang="en-US" sz="1000" dirty="0"/>
          </a:p>
        </p:txBody>
      </p:sp>
      <p:sp>
        <p:nvSpPr>
          <p:cNvPr id="30" name="Shape 28"/>
          <p:cNvSpPr/>
          <p:nvPr/>
        </p:nvSpPr>
        <p:spPr>
          <a:xfrm>
            <a:off x="8595360" y="3291840"/>
            <a:ext cx="0" cy="274320"/>
          </a:xfrm>
          <a:prstGeom prst="line">
            <a:avLst/>
          </a:prstGeom>
          <a:noFill/>
          <a:ln w="19050">
            <a:solidFill>
              <a:srgbClr val="64748B"/>
            </a:solidFill>
            <a:prstDash val="solid"/>
          </a:ln>
        </p:spPr>
      </p:sp>
      <p:sp>
        <p:nvSpPr>
          <p:cNvPr id="31" name="Shape 29"/>
          <p:cNvSpPr/>
          <p:nvPr/>
        </p:nvSpPr>
        <p:spPr>
          <a:xfrm>
            <a:off x="8046720" y="3566160"/>
            <a:ext cx="1645920" cy="594360"/>
          </a:xfrm>
          <a:prstGeom prst="rect">
            <a:avLst/>
          </a:prstGeom>
          <a:solidFill>
            <a:srgbClr val="FFFFFF"/>
          </a:solidFill>
          <a:ln w="12700">
            <a:solidFill>
              <a:srgbClr val="CBD5E1"/>
            </a:solidFill>
            <a:prstDash val="solid"/>
          </a:ln>
        </p:spPr>
      </p:sp>
      <p:sp>
        <p:nvSpPr>
          <p:cNvPr id="32" name="Text 30"/>
          <p:cNvSpPr/>
          <p:nvPr/>
        </p:nvSpPr>
        <p:spPr>
          <a:xfrm>
            <a:off x="8046720" y="3566160"/>
            <a:ext cx="1645920" cy="594360"/>
          </a:xfrm>
          <a:prstGeom prst="rect">
            <a:avLst/>
          </a:prstGeom>
          <a:noFill/>
          <a:ln/>
        </p:spPr>
        <p:txBody>
          <a:bodyPr wrap="square" lIns="0" tIns="0" rIns="0" bIns="0" rtlCol="0" anchor="ctr"/>
          <a:lstStyle/>
          <a:p>
            <a:pPr algn="ctr" indent="0" marL="0">
              <a:buNone/>
            </a:pPr>
            <a:r>
              <a:rPr lang="en-US" sz="950" dirty="0">
                <a:solidFill>
                  <a:srgbClr val="64748B"/>
                </a:solidFill>
              </a:rPr>
              <a:t>Similarity</a:t>
            </a:r>
            <a:endParaRPr lang="en-US" sz="950" dirty="0"/>
          </a:p>
          <a:p>
            <a:pPr algn="ctr" indent="0" marL="0">
              <a:buNone/>
            </a:pPr>
            <a:r>
              <a:rPr lang="en-US" sz="950" dirty="0">
                <a:solidFill>
                  <a:srgbClr val="64748B"/>
                </a:solidFill>
              </a:rPr>
              <a:t>Report</a:t>
            </a:r>
            <a:endParaRPr lang="en-US" sz="950" dirty="0"/>
          </a:p>
        </p:txBody>
      </p:sp>
      <p:sp>
        <p:nvSpPr>
          <p:cNvPr id="33" name="Shape 31"/>
          <p:cNvSpPr/>
          <p:nvPr/>
        </p:nvSpPr>
        <p:spPr>
          <a:xfrm>
            <a:off x="365760" y="2194560"/>
            <a:ext cx="3749040" cy="2057400"/>
          </a:xfrm>
          <a:prstGeom prst="rect">
            <a:avLst/>
          </a:prstGeom>
          <a:solidFill>
            <a:srgbClr val="FFFFFF"/>
          </a:solidFill>
          <a:ln w="12700">
            <a:solidFill>
              <a:srgbClr val="BFDBFE"/>
            </a:solidFill>
            <a:prstDash val="solid"/>
          </a:ln>
        </p:spPr>
      </p:sp>
      <p:sp>
        <p:nvSpPr>
          <p:cNvPr id="34" name="Text 32"/>
          <p:cNvSpPr/>
          <p:nvPr/>
        </p:nvSpPr>
        <p:spPr>
          <a:xfrm>
            <a:off x="457200" y="2286000"/>
            <a:ext cx="3566160" cy="274320"/>
          </a:xfrm>
          <a:prstGeom prst="rect">
            <a:avLst/>
          </a:prstGeom>
          <a:noFill/>
          <a:ln/>
        </p:spPr>
        <p:txBody>
          <a:bodyPr wrap="square" lIns="0" tIns="0" rIns="0" bIns="0" rtlCol="0" anchor="ctr"/>
          <a:lstStyle/>
          <a:p>
            <a:pPr indent="0" marL="0">
              <a:buNone/>
            </a:pPr>
            <a:r>
              <a:rPr lang="en-US" sz="1200" b="1" dirty="0">
                <a:solidFill>
                  <a:srgbClr val="1A73E8"/>
                </a:solidFill>
              </a:rPr>
              <a:t>Preprocessing Pipeline</a:t>
            </a:r>
            <a:endParaRPr lang="en-US" sz="1200" dirty="0"/>
          </a:p>
        </p:txBody>
      </p:sp>
      <p:sp>
        <p:nvSpPr>
          <p:cNvPr id="35" name="Text 33"/>
          <p:cNvSpPr/>
          <p:nvPr/>
        </p:nvSpPr>
        <p:spPr>
          <a:xfrm>
            <a:off x="502920" y="2633472"/>
            <a:ext cx="3474720" cy="274320"/>
          </a:xfrm>
          <a:prstGeom prst="rect">
            <a:avLst/>
          </a:prstGeom>
          <a:noFill/>
          <a:ln/>
        </p:spPr>
        <p:txBody>
          <a:bodyPr wrap="square" lIns="0" tIns="0" rIns="0" bIns="0" rtlCol="0" anchor="ctr"/>
          <a:lstStyle/>
          <a:p>
            <a:pPr indent="0" marL="0">
              <a:buNone/>
            </a:pPr>
            <a:r>
              <a:rPr lang="en-US" sz="950" dirty="0">
                <a:solidFill>
                  <a:srgbClr val="1E293B"/>
                </a:solidFill>
              </a:rPr>
              <a:t>1. Strip extra whitespace &amp; newlines (regex)</a:t>
            </a:r>
            <a:endParaRPr lang="en-US" sz="950" dirty="0"/>
          </a:p>
        </p:txBody>
      </p:sp>
      <p:sp>
        <p:nvSpPr>
          <p:cNvPr id="36" name="Text 34"/>
          <p:cNvSpPr/>
          <p:nvPr/>
        </p:nvSpPr>
        <p:spPr>
          <a:xfrm>
            <a:off x="502920" y="2953512"/>
            <a:ext cx="3474720" cy="274320"/>
          </a:xfrm>
          <a:prstGeom prst="rect">
            <a:avLst/>
          </a:prstGeom>
          <a:noFill/>
          <a:ln/>
        </p:spPr>
        <p:txBody>
          <a:bodyPr wrap="square" lIns="0" tIns="0" rIns="0" bIns="0" rtlCol="0" anchor="ctr"/>
          <a:lstStyle/>
          <a:p>
            <a:pPr indent="0" marL="0">
              <a:buNone/>
            </a:pPr>
            <a:r>
              <a:rPr lang="en-US" sz="950" dirty="0">
                <a:solidFill>
                  <a:srgbClr val="1E293B"/>
                </a:solidFill>
              </a:rPr>
              <a:t>2. Truncate to 1,500 chars (≈ BART token limit)</a:t>
            </a:r>
            <a:endParaRPr lang="en-US" sz="950" dirty="0"/>
          </a:p>
        </p:txBody>
      </p:sp>
      <p:sp>
        <p:nvSpPr>
          <p:cNvPr id="37" name="Text 35"/>
          <p:cNvSpPr/>
          <p:nvPr/>
        </p:nvSpPr>
        <p:spPr>
          <a:xfrm>
            <a:off x="502920" y="3273552"/>
            <a:ext cx="3474720" cy="274320"/>
          </a:xfrm>
          <a:prstGeom prst="rect">
            <a:avLst/>
          </a:prstGeom>
          <a:noFill/>
          <a:ln/>
        </p:spPr>
        <p:txBody>
          <a:bodyPr wrap="square" lIns="0" tIns="0" rIns="0" bIns="0" rtlCol="0" anchor="ctr"/>
          <a:lstStyle/>
          <a:p>
            <a:pPr indent="0" marL="0">
              <a:buNone/>
            </a:pPr>
            <a:r>
              <a:rPr lang="en-US" sz="950" dirty="0">
                <a:solidFill>
                  <a:srgbClr val="1E293B"/>
                </a:solidFill>
              </a:rPr>
              <a:t>3. Add T5 task prefix: "paraphrase: ... &lt;/s&gt;"</a:t>
            </a:r>
            <a:endParaRPr lang="en-US" sz="950" dirty="0"/>
          </a:p>
        </p:txBody>
      </p:sp>
      <p:sp>
        <p:nvSpPr>
          <p:cNvPr id="38" name="Text 36"/>
          <p:cNvSpPr/>
          <p:nvPr/>
        </p:nvSpPr>
        <p:spPr>
          <a:xfrm>
            <a:off x="502920" y="3593592"/>
            <a:ext cx="3474720" cy="274320"/>
          </a:xfrm>
          <a:prstGeom prst="rect">
            <a:avLst/>
          </a:prstGeom>
          <a:noFill/>
          <a:ln/>
        </p:spPr>
        <p:txBody>
          <a:bodyPr wrap="square" lIns="0" tIns="0" rIns="0" bIns="0" rtlCol="0" anchor="ctr"/>
          <a:lstStyle/>
          <a:p>
            <a:pPr indent="0" marL="0">
              <a:buNone/>
            </a:pPr>
            <a:r>
              <a:rPr lang="en-US" sz="950" dirty="0">
                <a:solidFill>
                  <a:srgbClr val="1E293B"/>
                </a:solidFill>
              </a:rPr>
              <a:t>4. Tokenize with HuggingFace tokenizer</a:t>
            </a:r>
            <a:endParaRPr lang="en-US" sz="950" dirty="0"/>
          </a:p>
        </p:txBody>
      </p:sp>
      <p:sp>
        <p:nvSpPr>
          <p:cNvPr id="39" name="Text 37"/>
          <p:cNvSpPr/>
          <p:nvPr/>
        </p:nvSpPr>
        <p:spPr>
          <a:xfrm>
            <a:off x="502920" y="3913632"/>
            <a:ext cx="3474720" cy="274320"/>
          </a:xfrm>
          <a:prstGeom prst="rect">
            <a:avLst/>
          </a:prstGeom>
          <a:noFill/>
          <a:ln/>
        </p:spPr>
        <p:txBody>
          <a:bodyPr wrap="square" lIns="0" tIns="0" rIns="0" bIns="0" rtlCol="0" anchor="ctr"/>
          <a:lstStyle/>
          <a:p>
            <a:pPr indent="0" marL="0">
              <a:buNone/>
            </a:pPr>
            <a:r>
              <a:rPr lang="en-US" sz="950" dirty="0">
                <a:solidFill>
                  <a:srgbClr val="1E293B"/>
                </a:solidFill>
              </a:rPr>
              <a:t>5. Encode to dense vectors (SBERT — 384-dim)</a:t>
            </a:r>
            <a:endParaRPr lang="en-US" sz="950" dirty="0"/>
          </a:p>
        </p:txBody>
      </p:sp>
      <p:sp>
        <p:nvSpPr>
          <p:cNvPr id="40" name="Text 38"/>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03 · SUMMARIZATION</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Module 1 — Text Summarization with BART</a:t>
            </a:r>
            <a:endParaRPr lang="en-US" sz="2600" dirty="0"/>
          </a:p>
        </p:txBody>
      </p:sp>
      <p:sp>
        <p:nvSpPr>
          <p:cNvPr id="5" name="Text 3"/>
          <p:cNvSpPr/>
          <p:nvPr/>
        </p:nvSpPr>
        <p:spPr>
          <a:xfrm>
            <a:off x="365760" y="1261872"/>
            <a:ext cx="4389120" cy="274320"/>
          </a:xfrm>
          <a:prstGeom prst="rect">
            <a:avLst/>
          </a:prstGeom>
          <a:noFill/>
          <a:ln/>
        </p:spPr>
        <p:txBody>
          <a:bodyPr wrap="square" lIns="0" tIns="0" rIns="0" bIns="0" rtlCol="0" anchor="ctr"/>
          <a:lstStyle/>
          <a:p>
            <a:pPr indent="0" marL="0">
              <a:buNone/>
            </a:pPr>
            <a:r>
              <a:rPr lang="en-US" sz="1300" b="1" dirty="0">
                <a:solidFill>
                  <a:srgbClr val="1A73E8"/>
                </a:solidFill>
              </a:rPr>
              <a:t>Why BART (facebook/bart-large-cnn)?</a:t>
            </a:r>
            <a:endParaRPr lang="en-US" sz="1300" dirty="0"/>
          </a:p>
        </p:txBody>
      </p:sp>
      <p:sp>
        <p:nvSpPr>
          <p:cNvPr id="6" name="Shape 4"/>
          <p:cNvSpPr/>
          <p:nvPr/>
        </p:nvSpPr>
        <p:spPr>
          <a:xfrm>
            <a:off x="365760" y="1627632"/>
            <a:ext cx="201168" cy="201168"/>
          </a:xfrm>
          <a:prstGeom prst="ellipse">
            <a:avLst/>
          </a:prstGeom>
          <a:solidFill>
            <a:srgbClr val="1A73E8"/>
          </a:solidFill>
          <a:ln w="12700">
            <a:solidFill>
              <a:srgbClr val="000000"/>
            </a:solidFill>
            <a:prstDash val="solid"/>
          </a:ln>
        </p:spPr>
      </p:sp>
      <p:sp>
        <p:nvSpPr>
          <p:cNvPr id="7" name="Text 5"/>
          <p:cNvSpPr/>
          <p:nvPr/>
        </p:nvSpPr>
        <p:spPr>
          <a:xfrm>
            <a:off x="658368" y="1609344"/>
            <a:ext cx="4206240" cy="256032"/>
          </a:xfrm>
          <a:prstGeom prst="rect">
            <a:avLst/>
          </a:prstGeom>
          <a:noFill/>
          <a:ln/>
        </p:spPr>
        <p:txBody>
          <a:bodyPr wrap="square" lIns="0" tIns="0" rIns="0" bIns="0" rtlCol="0" anchor="ctr"/>
          <a:lstStyle/>
          <a:p>
            <a:pPr indent="0" marL="0">
              <a:buNone/>
            </a:pPr>
            <a:r>
              <a:rPr lang="en-US" sz="1000" dirty="0">
                <a:solidFill>
                  <a:srgbClr val="1E293B"/>
                </a:solidFill>
              </a:rPr>
              <a:t>Denoising autoencoder — pre-trained with noisy input reconstruction</a:t>
            </a:r>
            <a:endParaRPr lang="en-US" sz="1000" dirty="0"/>
          </a:p>
        </p:txBody>
      </p:sp>
      <p:sp>
        <p:nvSpPr>
          <p:cNvPr id="8" name="Shape 6"/>
          <p:cNvSpPr/>
          <p:nvPr/>
        </p:nvSpPr>
        <p:spPr>
          <a:xfrm>
            <a:off x="365760" y="2103120"/>
            <a:ext cx="201168" cy="201168"/>
          </a:xfrm>
          <a:prstGeom prst="ellipse">
            <a:avLst/>
          </a:prstGeom>
          <a:solidFill>
            <a:srgbClr val="1A73E8"/>
          </a:solidFill>
          <a:ln w="12700">
            <a:solidFill>
              <a:srgbClr val="000000"/>
            </a:solidFill>
            <a:prstDash val="solid"/>
          </a:ln>
        </p:spPr>
      </p:sp>
      <p:sp>
        <p:nvSpPr>
          <p:cNvPr id="9" name="Text 7"/>
          <p:cNvSpPr/>
          <p:nvPr/>
        </p:nvSpPr>
        <p:spPr>
          <a:xfrm>
            <a:off x="658368" y="2084832"/>
            <a:ext cx="4206240" cy="256032"/>
          </a:xfrm>
          <a:prstGeom prst="rect">
            <a:avLst/>
          </a:prstGeom>
          <a:noFill/>
          <a:ln/>
        </p:spPr>
        <p:txBody>
          <a:bodyPr wrap="square" lIns="0" tIns="0" rIns="0" bIns="0" rtlCol="0" anchor="ctr"/>
          <a:lstStyle/>
          <a:p>
            <a:pPr indent="0" marL="0">
              <a:buNone/>
            </a:pPr>
            <a:r>
              <a:rPr lang="en-US" sz="1000" dirty="0">
                <a:solidFill>
                  <a:srgbClr val="1E293B"/>
                </a:solidFill>
              </a:rPr>
              <a:t>Fine-tuned on CNN/DailyMail → ideal for news/academic summarization</a:t>
            </a:r>
            <a:endParaRPr lang="en-US" sz="1000" dirty="0"/>
          </a:p>
        </p:txBody>
      </p:sp>
      <p:sp>
        <p:nvSpPr>
          <p:cNvPr id="10" name="Shape 8"/>
          <p:cNvSpPr/>
          <p:nvPr/>
        </p:nvSpPr>
        <p:spPr>
          <a:xfrm>
            <a:off x="365760" y="2578608"/>
            <a:ext cx="201168" cy="201168"/>
          </a:xfrm>
          <a:prstGeom prst="ellipse">
            <a:avLst/>
          </a:prstGeom>
          <a:solidFill>
            <a:srgbClr val="1A73E8"/>
          </a:solidFill>
          <a:ln w="12700">
            <a:solidFill>
              <a:srgbClr val="000000"/>
            </a:solidFill>
            <a:prstDash val="solid"/>
          </a:ln>
        </p:spPr>
      </p:sp>
      <p:sp>
        <p:nvSpPr>
          <p:cNvPr id="11" name="Text 9"/>
          <p:cNvSpPr/>
          <p:nvPr/>
        </p:nvSpPr>
        <p:spPr>
          <a:xfrm>
            <a:off x="658368" y="2560320"/>
            <a:ext cx="4206240" cy="256032"/>
          </a:xfrm>
          <a:prstGeom prst="rect">
            <a:avLst/>
          </a:prstGeom>
          <a:noFill/>
          <a:ln/>
        </p:spPr>
        <p:txBody>
          <a:bodyPr wrap="square" lIns="0" tIns="0" rIns="0" bIns="0" rtlCol="0" anchor="ctr"/>
          <a:lstStyle/>
          <a:p>
            <a:pPr indent="0" marL="0">
              <a:buNone/>
            </a:pPr>
            <a:r>
              <a:rPr lang="en-US" sz="1000" dirty="0">
                <a:solidFill>
                  <a:srgbClr val="1E293B"/>
                </a:solidFill>
              </a:rPr>
              <a:t>Generates abstractive summaries (not just copying sentences)</a:t>
            </a:r>
            <a:endParaRPr lang="en-US" sz="1000" dirty="0"/>
          </a:p>
        </p:txBody>
      </p:sp>
      <p:sp>
        <p:nvSpPr>
          <p:cNvPr id="12" name="Shape 10"/>
          <p:cNvSpPr/>
          <p:nvPr/>
        </p:nvSpPr>
        <p:spPr>
          <a:xfrm>
            <a:off x="365760" y="3054096"/>
            <a:ext cx="201168" cy="201168"/>
          </a:xfrm>
          <a:prstGeom prst="ellipse">
            <a:avLst/>
          </a:prstGeom>
          <a:solidFill>
            <a:srgbClr val="1A73E8"/>
          </a:solidFill>
          <a:ln w="12700">
            <a:solidFill>
              <a:srgbClr val="000000"/>
            </a:solidFill>
            <a:prstDash val="solid"/>
          </a:ln>
        </p:spPr>
      </p:sp>
      <p:sp>
        <p:nvSpPr>
          <p:cNvPr id="13" name="Text 11"/>
          <p:cNvSpPr/>
          <p:nvPr/>
        </p:nvSpPr>
        <p:spPr>
          <a:xfrm>
            <a:off x="658368" y="3035808"/>
            <a:ext cx="4206240" cy="256032"/>
          </a:xfrm>
          <a:prstGeom prst="rect">
            <a:avLst/>
          </a:prstGeom>
          <a:noFill/>
          <a:ln/>
        </p:spPr>
        <p:txBody>
          <a:bodyPr wrap="square" lIns="0" tIns="0" rIns="0" bIns="0" rtlCol="0" anchor="ctr"/>
          <a:lstStyle/>
          <a:p>
            <a:pPr indent="0" marL="0">
              <a:buNone/>
            </a:pPr>
            <a:r>
              <a:rPr lang="en-US" sz="1000" dirty="0">
                <a:solidFill>
                  <a:srgbClr val="1E293B"/>
                </a:solidFill>
              </a:rPr>
              <a:t>Outperforms extractive methods: TextRank &amp; TF-IDF</a:t>
            </a:r>
            <a:endParaRPr lang="en-US" sz="1000" dirty="0"/>
          </a:p>
        </p:txBody>
      </p:sp>
      <p:sp>
        <p:nvSpPr>
          <p:cNvPr id="14" name="Shape 12"/>
          <p:cNvSpPr/>
          <p:nvPr/>
        </p:nvSpPr>
        <p:spPr>
          <a:xfrm>
            <a:off x="365760" y="3529584"/>
            <a:ext cx="201168" cy="201168"/>
          </a:xfrm>
          <a:prstGeom prst="ellipse">
            <a:avLst/>
          </a:prstGeom>
          <a:solidFill>
            <a:srgbClr val="1A73E8"/>
          </a:solidFill>
          <a:ln w="12700">
            <a:solidFill>
              <a:srgbClr val="000000"/>
            </a:solidFill>
            <a:prstDash val="solid"/>
          </a:ln>
        </p:spPr>
      </p:sp>
      <p:sp>
        <p:nvSpPr>
          <p:cNvPr id="15" name="Text 13"/>
          <p:cNvSpPr/>
          <p:nvPr/>
        </p:nvSpPr>
        <p:spPr>
          <a:xfrm>
            <a:off x="658368" y="3511296"/>
            <a:ext cx="4206240" cy="256032"/>
          </a:xfrm>
          <a:prstGeom prst="rect">
            <a:avLst/>
          </a:prstGeom>
          <a:noFill/>
          <a:ln/>
        </p:spPr>
        <p:txBody>
          <a:bodyPr wrap="square" lIns="0" tIns="0" rIns="0" bIns="0" rtlCol="0" anchor="ctr"/>
          <a:lstStyle/>
          <a:p>
            <a:pPr indent="0" marL="0">
              <a:buNone/>
            </a:pPr>
            <a:r>
              <a:rPr lang="en-US" sz="1000" dirty="0">
                <a:solidFill>
                  <a:srgbClr val="1E293B"/>
                </a:solidFill>
              </a:rPr>
              <a:t>Encoder-decoder Transformer with bidirectional context</a:t>
            </a:r>
            <a:endParaRPr lang="en-US" sz="1000" dirty="0"/>
          </a:p>
        </p:txBody>
      </p:sp>
      <p:sp>
        <p:nvSpPr>
          <p:cNvPr id="16" name="Shape 14"/>
          <p:cNvSpPr/>
          <p:nvPr/>
        </p:nvSpPr>
        <p:spPr>
          <a:xfrm>
            <a:off x="5029200" y="1234440"/>
            <a:ext cx="3840480" cy="3200400"/>
          </a:xfrm>
          <a:prstGeom prst="rect">
            <a:avLst/>
          </a:prstGeom>
          <a:solidFill>
            <a:srgbClr val="1E293B"/>
          </a:solidFill>
          <a:ln w="12700">
            <a:solidFill>
              <a:srgbClr val="000000"/>
            </a:solidFill>
            <a:prstDash val="solid"/>
          </a:ln>
        </p:spPr>
      </p:sp>
      <p:sp>
        <p:nvSpPr>
          <p:cNvPr id="17" name="Text 15"/>
          <p:cNvSpPr/>
          <p:nvPr/>
        </p:nvSpPr>
        <p:spPr>
          <a:xfrm>
            <a:off x="5120640" y="1325880"/>
            <a:ext cx="3657600" cy="2971800"/>
          </a:xfrm>
          <a:prstGeom prst="rect">
            <a:avLst/>
          </a:prstGeom>
          <a:noFill/>
          <a:ln/>
        </p:spPr>
        <p:txBody>
          <a:bodyPr wrap="square" lIns="50800" tIns="50800" rIns="50800" bIns="50800" rtlCol="0" anchor="t"/>
          <a:lstStyle/>
          <a:p>
            <a:pPr indent="0" marL="0">
              <a:buNone/>
            </a:pPr>
            <a:r>
              <a:rPr lang="en-US" sz="950" dirty="0">
                <a:solidFill>
                  <a:srgbClr val="A5F3FC"/>
                </a:solidFill>
                <a:latin typeface="Consolas" pitchFamily="34" charset="0"/>
                <a:ea typeface="Consolas" pitchFamily="34" charset="-122"/>
                <a:cs typeface="Consolas" pitchFamily="34" charset="-120"/>
              </a:rPr>
              <a:t>def summarize(text, max_length=120,</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min_length=40,</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num_beams=4):</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result = summarizer(</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text,</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max_length=max_length,</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min_length=min_length,</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num_beams=num_beams,</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do_sample=False  # deterministic</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A5F3FC"/>
                </a:solidFill>
                <a:latin typeface="Consolas" pitchFamily="34" charset="0"/>
                <a:ea typeface="Consolas" pitchFamily="34" charset="-122"/>
                <a:cs typeface="Consolas" pitchFamily="34" charset="-120"/>
              </a:rPr>
              <a:t>    return result[0]['summary_text']</a:t>
            </a:r>
            <a:endParaRPr lang="en-US" sz="950" dirty="0"/>
          </a:p>
        </p:txBody>
      </p:sp>
      <p:sp>
        <p:nvSpPr>
          <p:cNvPr id="18" name="Shape 16"/>
          <p:cNvSpPr/>
          <p:nvPr/>
        </p:nvSpPr>
        <p:spPr>
          <a:xfrm>
            <a:off x="365760" y="4206240"/>
            <a:ext cx="8412480" cy="566928"/>
          </a:xfrm>
          <a:prstGeom prst="rect">
            <a:avLst/>
          </a:prstGeom>
          <a:solidFill>
            <a:srgbClr val="EFF6FF"/>
          </a:solidFill>
          <a:ln w="12700">
            <a:solidFill>
              <a:srgbClr val="BFDBFE"/>
            </a:solidFill>
            <a:prstDash val="solid"/>
          </a:ln>
        </p:spPr>
      </p:sp>
      <p:sp>
        <p:nvSpPr>
          <p:cNvPr id="19" name="Text 17"/>
          <p:cNvSpPr/>
          <p:nvPr/>
        </p:nvSpPr>
        <p:spPr>
          <a:xfrm>
            <a:off x="502920" y="4206240"/>
            <a:ext cx="8229600" cy="566928"/>
          </a:xfrm>
          <a:prstGeom prst="rect">
            <a:avLst/>
          </a:prstGeom>
          <a:noFill/>
          <a:ln/>
        </p:spPr>
        <p:txBody>
          <a:bodyPr wrap="square" rtlCol="0" anchor="ctr"/>
          <a:lstStyle/>
          <a:p>
            <a:pPr indent="0" marL="0">
              <a:buNone/>
            </a:pPr>
            <a:r>
              <a:rPr lang="en-US" sz="1050" dirty="0">
                <a:solidFill>
                  <a:srgbClr val="1E293B"/>
                </a:solidFill>
              </a:rPr>
              <a:t>⚡ Beam Search: num_beams=2 → faster  |  num_beams=6 → explores more candidates → higher quality summaries. Default: num_beams=4 (balanced)</a:t>
            </a:r>
            <a:endParaRPr lang="en-US" sz="1050" dirty="0"/>
          </a:p>
        </p:txBody>
      </p:sp>
      <p:sp>
        <p:nvSpPr>
          <p:cNvPr id="20" name="Text 18"/>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03 · SUMMARIZATION</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Summarization — Input / Output Example</a:t>
            </a:r>
            <a:endParaRPr lang="en-US" sz="2600" dirty="0"/>
          </a:p>
        </p:txBody>
      </p:sp>
      <p:sp>
        <p:nvSpPr>
          <p:cNvPr id="5" name="Shape 3"/>
          <p:cNvSpPr/>
          <p:nvPr/>
        </p:nvSpPr>
        <p:spPr>
          <a:xfrm>
            <a:off x="365760" y="1261872"/>
            <a:ext cx="8412480" cy="274320"/>
          </a:xfrm>
          <a:prstGeom prst="rect">
            <a:avLst/>
          </a:prstGeom>
          <a:solidFill>
            <a:srgbClr val="1A73E8"/>
          </a:solidFill>
          <a:ln w="12700">
            <a:solidFill>
              <a:srgbClr val="000000"/>
            </a:solidFill>
            <a:prstDash val="solid"/>
          </a:ln>
        </p:spPr>
      </p:sp>
      <p:sp>
        <p:nvSpPr>
          <p:cNvPr id="6" name="Text 4"/>
          <p:cNvSpPr/>
          <p:nvPr/>
        </p:nvSpPr>
        <p:spPr>
          <a:xfrm>
            <a:off x="365760" y="1261872"/>
            <a:ext cx="8412480" cy="274320"/>
          </a:xfrm>
          <a:prstGeom prst="rect">
            <a:avLst/>
          </a:prstGeom>
          <a:noFill/>
          <a:ln/>
        </p:spPr>
        <p:txBody>
          <a:bodyPr wrap="square" lIns="0" tIns="0" rIns="0" bIns="0" rtlCol="0" anchor="ctr"/>
          <a:lstStyle/>
          <a:p>
            <a:pPr algn="ctr" indent="0" marL="0">
              <a:buNone/>
            </a:pPr>
            <a:r>
              <a:rPr lang="en-US" sz="1000" b="1" dirty="0">
                <a:solidFill>
                  <a:srgbClr val="FFFFFF"/>
                </a:solidFill>
              </a:rPr>
              <a:t>INPUT ARTICLE (CNN/DailyMail — truncated to 1,500 chars)</a:t>
            </a:r>
            <a:endParaRPr lang="en-US" sz="1000" dirty="0"/>
          </a:p>
        </p:txBody>
      </p:sp>
      <p:sp>
        <p:nvSpPr>
          <p:cNvPr id="7" name="Shape 5"/>
          <p:cNvSpPr/>
          <p:nvPr/>
        </p:nvSpPr>
        <p:spPr>
          <a:xfrm>
            <a:off x="365760" y="1536192"/>
            <a:ext cx="8412480" cy="777240"/>
          </a:xfrm>
          <a:prstGeom prst="rect">
            <a:avLst/>
          </a:prstGeom>
          <a:solidFill>
            <a:srgbClr val="FFFFFF"/>
          </a:solidFill>
          <a:ln w="12700">
            <a:solidFill>
              <a:srgbClr val="CBD5E1"/>
            </a:solidFill>
            <a:prstDash val="solid"/>
          </a:ln>
        </p:spPr>
      </p:sp>
      <p:sp>
        <p:nvSpPr>
          <p:cNvPr id="8" name="Text 6"/>
          <p:cNvSpPr/>
          <p:nvPr/>
        </p:nvSpPr>
        <p:spPr>
          <a:xfrm>
            <a:off x="502920" y="1572768"/>
            <a:ext cx="8229600" cy="694944"/>
          </a:xfrm>
          <a:prstGeom prst="rect">
            <a:avLst/>
          </a:prstGeom>
          <a:noFill/>
          <a:ln/>
        </p:spPr>
        <p:txBody>
          <a:bodyPr wrap="square" lIns="0" tIns="0" rIns="0" bIns="0" rtlCol="0" anchor="t"/>
          <a:lstStyle/>
          <a:p>
            <a:pPr indent="0" marL="0">
              <a:buNone/>
            </a:pPr>
            <a:r>
              <a:rPr lang="en-US" sz="950" dirty="0">
                <a:solidFill>
                  <a:srgbClr val="64748B"/>
                </a:solidFill>
              </a:rPr>
              <a:t>(CNN) — It's official: U.S. President Barack Obama wants lawmakers to weigh in on whether to use military force in Syria. Obama sent a letter to the heads of the House and Senate on Saturday night, hours after announcing that he believes military action against Syrian targets is the right step to take over the alleged use of chemical weapons...</a:t>
            </a:r>
            <a:endParaRPr lang="en-US" sz="950" dirty="0"/>
          </a:p>
        </p:txBody>
      </p:sp>
      <p:sp>
        <p:nvSpPr>
          <p:cNvPr id="9" name="Shape 7"/>
          <p:cNvSpPr/>
          <p:nvPr/>
        </p:nvSpPr>
        <p:spPr>
          <a:xfrm>
            <a:off x="365760" y="2423160"/>
            <a:ext cx="8412480" cy="274320"/>
          </a:xfrm>
          <a:prstGeom prst="rect">
            <a:avLst/>
          </a:prstGeom>
          <a:solidFill>
            <a:srgbClr val="00BFA5"/>
          </a:solidFill>
          <a:ln w="12700">
            <a:solidFill>
              <a:srgbClr val="000000"/>
            </a:solidFill>
            <a:prstDash val="solid"/>
          </a:ln>
        </p:spPr>
      </p:sp>
      <p:sp>
        <p:nvSpPr>
          <p:cNvPr id="10" name="Text 8"/>
          <p:cNvSpPr/>
          <p:nvPr/>
        </p:nvSpPr>
        <p:spPr>
          <a:xfrm>
            <a:off x="365760" y="2423160"/>
            <a:ext cx="8412480" cy="274320"/>
          </a:xfrm>
          <a:prstGeom prst="rect">
            <a:avLst/>
          </a:prstGeom>
          <a:noFill/>
          <a:ln/>
        </p:spPr>
        <p:txBody>
          <a:bodyPr wrap="square" lIns="0" tIns="0" rIns="0" bIns="0" rtlCol="0" anchor="ctr"/>
          <a:lstStyle/>
          <a:p>
            <a:pPr algn="ctr" indent="0" marL="0">
              <a:buNone/>
            </a:pPr>
            <a:r>
              <a:rPr lang="en-US" sz="1000" b="1" dirty="0">
                <a:solidFill>
                  <a:srgbClr val="FFFFFF"/>
                </a:solidFill>
              </a:rPr>
              <a:t>GENERATED SUMMARY (BART — num_beams=4)</a:t>
            </a:r>
            <a:endParaRPr lang="en-US" sz="1000" dirty="0"/>
          </a:p>
        </p:txBody>
      </p:sp>
      <p:sp>
        <p:nvSpPr>
          <p:cNvPr id="11" name="Shape 9"/>
          <p:cNvSpPr/>
          <p:nvPr/>
        </p:nvSpPr>
        <p:spPr>
          <a:xfrm>
            <a:off x="365760" y="2697480"/>
            <a:ext cx="8412480" cy="640080"/>
          </a:xfrm>
          <a:prstGeom prst="rect">
            <a:avLst/>
          </a:prstGeom>
          <a:solidFill>
            <a:srgbClr val="F0FDF4"/>
          </a:solidFill>
          <a:ln w="12700">
            <a:solidFill>
              <a:srgbClr val="BBF7D0"/>
            </a:solidFill>
            <a:prstDash val="solid"/>
          </a:ln>
        </p:spPr>
      </p:sp>
      <p:sp>
        <p:nvSpPr>
          <p:cNvPr id="12" name="Text 10"/>
          <p:cNvSpPr/>
          <p:nvPr/>
        </p:nvSpPr>
        <p:spPr>
          <a:xfrm>
            <a:off x="502920" y="2724912"/>
            <a:ext cx="8229600" cy="585216"/>
          </a:xfrm>
          <a:prstGeom prst="rect">
            <a:avLst/>
          </a:prstGeom>
          <a:noFill/>
          <a:ln/>
        </p:spPr>
        <p:txBody>
          <a:bodyPr wrap="square" lIns="0" tIns="0" rIns="0" bIns="0" rtlCol="0" anchor="t"/>
          <a:lstStyle/>
          <a:p>
            <a:pPr indent="0" marL="0">
              <a:buNone/>
            </a:pPr>
            <a:r>
              <a:rPr lang="en-US" sz="1050" dirty="0">
                <a:solidFill>
                  <a:srgbClr val="1E293B"/>
                </a:solidFill>
              </a:rPr>
              <a:t>Obama sends a letter to Congress asking them to authorize military action against Syria. He believes the U.S. should take military action in response to the alleged use of chemical weapons by the Assad government.</a:t>
            </a:r>
            <a:endParaRPr lang="en-US" sz="1050" dirty="0"/>
          </a:p>
        </p:txBody>
      </p:sp>
      <p:sp>
        <p:nvSpPr>
          <p:cNvPr id="13" name="Shape 11"/>
          <p:cNvSpPr/>
          <p:nvPr/>
        </p:nvSpPr>
        <p:spPr>
          <a:xfrm>
            <a:off x="365760" y="3456432"/>
            <a:ext cx="8412480" cy="274320"/>
          </a:xfrm>
          <a:prstGeom prst="rect">
            <a:avLst/>
          </a:prstGeom>
          <a:solidFill>
            <a:srgbClr val="64748B"/>
          </a:solidFill>
          <a:ln w="12700">
            <a:solidFill>
              <a:srgbClr val="000000"/>
            </a:solidFill>
            <a:prstDash val="solid"/>
          </a:ln>
        </p:spPr>
      </p:sp>
      <p:sp>
        <p:nvSpPr>
          <p:cNvPr id="14" name="Text 12"/>
          <p:cNvSpPr/>
          <p:nvPr/>
        </p:nvSpPr>
        <p:spPr>
          <a:xfrm>
            <a:off x="365760" y="3456432"/>
            <a:ext cx="8412480" cy="274320"/>
          </a:xfrm>
          <a:prstGeom prst="rect">
            <a:avLst/>
          </a:prstGeom>
          <a:noFill/>
          <a:ln/>
        </p:spPr>
        <p:txBody>
          <a:bodyPr wrap="square" lIns="0" tIns="0" rIns="0" bIns="0" rtlCol="0" anchor="ctr"/>
          <a:lstStyle/>
          <a:p>
            <a:pPr algn="ctr" indent="0" marL="0">
              <a:buNone/>
            </a:pPr>
            <a:r>
              <a:rPr lang="en-US" sz="1000" b="1" dirty="0">
                <a:solidFill>
                  <a:srgbClr val="FFFFFF"/>
                </a:solidFill>
              </a:rPr>
              <a:t>REFERENCE SUMMARY (Ground Truth — Human-written)</a:t>
            </a:r>
            <a:endParaRPr lang="en-US" sz="1000" dirty="0"/>
          </a:p>
        </p:txBody>
      </p:sp>
      <p:sp>
        <p:nvSpPr>
          <p:cNvPr id="15" name="Shape 13"/>
          <p:cNvSpPr/>
          <p:nvPr/>
        </p:nvSpPr>
        <p:spPr>
          <a:xfrm>
            <a:off x="365760" y="3730752"/>
            <a:ext cx="8412480" cy="594360"/>
          </a:xfrm>
          <a:prstGeom prst="rect">
            <a:avLst/>
          </a:prstGeom>
          <a:solidFill>
            <a:srgbClr val="FFFFFF"/>
          </a:solidFill>
          <a:ln w="12700">
            <a:solidFill>
              <a:srgbClr val="CBD5E1"/>
            </a:solidFill>
            <a:prstDash val="solid"/>
          </a:ln>
        </p:spPr>
      </p:sp>
      <p:sp>
        <p:nvSpPr>
          <p:cNvPr id="16" name="Text 14"/>
          <p:cNvSpPr/>
          <p:nvPr/>
        </p:nvSpPr>
        <p:spPr>
          <a:xfrm>
            <a:off x="502920" y="3758184"/>
            <a:ext cx="8229600" cy="539496"/>
          </a:xfrm>
          <a:prstGeom prst="rect">
            <a:avLst/>
          </a:prstGeom>
          <a:noFill/>
          <a:ln/>
        </p:spPr>
        <p:txBody>
          <a:bodyPr wrap="square" lIns="0" tIns="0" rIns="0" bIns="0" rtlCol="0" anchor="t"/>
          <a:lstStyle/>
          <a:p>
            <a:pPr indent="0" marL="0">
              <a:buNone/>
            </a:pPr>
            <a:r>
              <a:rPr lang="en-US" sz="1000" dirty="0">
                <a:solidFill>
                  <a:srgbClr val="64748B"/>
                </a:solidFill>
              </a:rPr>
              <a:t>Syrian official: Obama's announcement uncovers U.S. strategy. Obama sends a letter to congressional leaders on Saturday. Experts are split on whether the country needs congressional permission.</a:t>
            </a:r>
            <a:endParaRPr lang="en-US" sz="1000" dirty="0"/>
          </a:p>
        </p:txBody>
      </p:sp>
      <p:sp>
        <p:nvSpPr>
          <p:cNvPr id="17" name="Text 15"/>
          <p:cNvSpPr/>
          <p:nvPr/>
        </p:nvSpPr>
        <p:spPr>
          <a:xfrm>
            <a:off x="365760" y="4416552"/>
            <a:ext cx="8412480" cy="274320"/>
          </a:xfrm>
          <a:prstGeom prst="rect">
            <a:avLst/>
          </a:prstGeom>
          <a:noFill/>
          <a:ln/>
        </p:spPr>
        <p:txBody>
          <a:bodyPr wrap="square" rtlCol="0" anchor="ctr"/>
          <a:lstStyle/>
          <a:p>
            <a:pPr algn="ctr" indent="0" marL="0">
              <a:buNone/>
            </a:pPr>
            <a:r>
              <a:rPr lang="en-US" sz="1050" b="1" dirty="0">
                <a:solidFill>
                  <a:srgbClr val="10B981"/>
                </a:solidFill>
              </a:rPr>
              <a:t>✅ BART captures the main action (letter to Congress + military authorization) accurately in an abstractive way</a:t>
            </a:r>
            <a:endParaRPr lang="en-US" sz="1050" dirty="0"/>
          </a:p>
        </p:txBody>
      </p:sp>
      <p:sp>
        <p:nvSpPr>
          <p:cNvPr id="18" name="Text 16"/>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00BFA5">
              <a:alpha val="80000"/>
            </a:srgbClr>
          </a:solidFill>
          <a:ln w="12700">
            <a:solidFill>
              <a:srgbClr val="00BFA5"/>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04 · PARAPHRASING</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Module 2 — Text Paraphrasing with T5-PAWS</a:t>
            </a:r>
            <a:endParaRPr lang="en-US" sz="2600" dirty="0"/>
          </a:p>
        </p:txBody>
      </p:sp>
      <p:sp>
        <p:nvSpPr>
          <p:cNvPr id="5" name="Text 3"/>
          <p:cNvSpPr/>
          <p:nvPr/>
        </p:nvSpPr>
        <p:spPr>
          <a:xfrm>
            <a:off x="365760" y="1261872"/>
            <a:ext cx="4206240" cy="274320"/>
          </a:xfrm>
          <a:prstGeom prst="rect">
            <a:avLst/>
          </a:prstGeom>
          <a:noFill/>
          <a:ln/>
        </p:spPr>
        <p:txBody>
          <a:bodyPr wrap="square" lIns="0" tIns="0" rIns="0" bIns="0" rtlCol="0" anchor="ctr"/>
          <a:lstStyle/>
          <a:p>
            <a:pPr indent="0" marL="0">
              <a:buNone/>
            </a:pPr>
            <a:r>
              <a:rPr lang="en-US" sz="1300" b="1" dirty="0">
                <a:solidFill>
                  <a:srgbClr val="00BFA5"/>
                </a:solidFill>
              </a:rPr>
              <a:t>Why T5 fine-tuned on PAWS?</a:t>
            </a:r>
            <a:endParaRPr lang="en-US" sz="1300" dirty="0"/>
          </a:p>
        </p:txBody>
      </p:sp>
      <p:sp>
        <p:nvSpPr>
          <p:cNvPr id="6" name="Shape 4"/>
          <p:cNvSpPr/>
          <p:nvPr/>
        </p:nvSpPr>
        <p:spPr>
          <a:xfrm>
            <a:off x="365760" y="1627632"/>
            <a:ext cx="201168" cy="201168"/>
          </a:xfrm>
          <a:prstGeom prst="ellipse">
            <a:avLst/>
          </a:prstGeom>
          <a:solidFill>
            <a:srgbClr val="00BFA5"/>
          </a:solidFill>
          <a:ln w="12700">
            <a:solidFill>
              <a:srgbClr val="000000"/>
            </a:solidFill>
            <a:prstDash val="solid"/>
          </a:ln>
        </p:spPr>
      </p:sp>
      <p:sp>
        <p:nvSpPr>
          <p:cNvPr id="7" name="Text 5"/>
          <p:cNvSpPr/>
          <p:nvPr/>
        </p:nvSpPr>
        <p:spPr>
          <a:xfrm>
            <a:off x="658368" y="16093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T5 is a Text-to-Text Transfer Transformer</a:t>
            </a:r>
            <a:endParaRPr lang="en-US" sz="1000" dirty="0"/>
          </a:p>
        </p:txBody>
      </p:sp>
      <p:sp>
        <p:nvSpPr>
          <p:cNvPr id="8" name="Shape 6"/>
          <p:cNvSpPr/>
          <p:nvPr/>
        </p:nvSpPr>
        <p:spPr>
          <a:xfrm>
            <a:off x="365760" y="2084832"/>
            <a:ext cx="201168" cy="201168"/>
          </a:xfrm>
          <a:prstGeom prst="ellipse">
            <a:avLst/>
          </a:prstGeom>
          <a:solidFill>
            <a:srgbClr val="00BFA5"/>
          </a:solidFill>
          <a:ln w="12700">
            <a:solidFill>
              <a:srgbClr val="000000"/>
            </a:solidFill>
            <a:prstDash val="solid"/>
          </a:ln>
        </p:spPr>
      </p:sp>
      <p:sp>
        <p:nvSpPr>
          <p:cNvPr id="9" name="Text 7"/>
          <p:cNvSpPr/>
          <p:nvPr/>
        </p:nvSpPr>
        <p:spPr>
          <a:xfrm>
            <a:off x="658368" y="20665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Fine-tuned on PAWS — Paraphrase Adversaries from Word Scrambling</a:t>
            </a:r>
            <a:endParaRPr lang="en-US" sz="1000" dirty="0"/>
          </a:p>
        </p:txBody>
      </p:sp>
      <p:sp>
        <p:nvSpPr>
          <p:cNvPr id="10" name="Shape 8"/>
          <p:cNvSpPr/>
          <p:nvPr/>
        </p:nvSpPr>
        <p:spPr>
          <a:xfrm>
            <a:off x="365760" y="2542032"/>
            <a:ext cx="201168" cy="201168"/>
          </a:xfrm>
          <a:prstGeom prst="ellipse">
            <a:avLst/>
          </a:prstGeom>
          <a:solidFill>
            <a:srgbClr val="00BFA5"/>
          </a:solidFill>
          <a:ln w="12700">
            <a:solidFill>
              <a:srgbClr val="000000"/>
            </a:solidFill>
            <a:prstDash val="solid"/>
          </a:ln>
        </p:spPr>
      </p:sp>
      <p:sp>
        <p:nvSpPr>
          <p:cNvPr id="11" name="Text 9"/>
          <p:cNvSpPr/>
          <p:nvPr/>
        </p:nvSpPr>
        <p:spPr>
          <a:xfrm>
            <a:off x="658368" y="25237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Task prefix "paraphrase:" tells T5 exactly what to do</a:t>
            </a:r>
            <a:endParaRPr lang="en-US" sz="1000" dirty="0"/>
          </a:p>
        </p:txBody>
      </p:sp>
      <p:sp>
        <p:nvSpPr>
          <p:cNvPr id="12" name="Shape 10"/>
          <p:cNvSpPr/>
          <p:nvPr/>
        </p:nvSpPr>
        <p:spPr>
          <a:xfrm>
            <a:off x="365760" y="2999232"/>
            <a:ext cx="201168" cy="201168"/>
          </a:xfrm>
          <a:prstGeom prst="ellipse">
            <a:avLst/>
          </a:prstGeom>
          <a:solidFill>
            <a:srgbClr val="00BFA5"/>
          </a:solidFill>
          <a:ln w="12700">
            <a:solidFill>
              <a:srgbClr val="000000"/>
            </a:solidFill>
            <a:prstDash val="solid"/>
          </a:ln>
        </p:spPr>
      </p:sp>
      <p:sp>
        <p:nvSpPr>
          <p:cNvPr id="13" name="Text 11"/>
          <p:cNvSpPr/>
          <p:nvPr/>
        </p:nvSpPr>
        <p:spPr>
          <a:xfrm>
            <a:off x="658368" y="29809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Generates diverse rewording while preserving meaning</a:t>
            </a:r>
            <a:endParaRPr lang="en-US" sz="1000" dirty="0"/>
          </a:p>
        </p:txBody>
      </p:sp>
      <p:sp>
        <p:nvSpPr>
          <p:cNvPr id="14" name="Shape 12"/>
          <p:cNvSpPr/>
          <p:nvPr/>
        </p:nvSpPr>
        <p:spPr>
          <a:xfrm>
            <a:off x="365760" y="3456432"/>
            <a:ext cx="201168" cy="201168"/>
          </a:xfrm>
          <a:prstGeom prst="ellipse">
            <a:avLst/>
          </a:prstGeom>
          <a:solidFill>
            <a:srgbClr val="00BFA5"/>
          </a:solidFill>
          <a:ln w="12700">
            <a:solidFill>
              <a:srgbClr val="000000"/>
            </a:solidFill>
            <a:prstDash val="solid"/>
          </a:ln>
        </p:spPr>
      </p:sp>
      <p:sp>
        <p:nvSpPr>
          <p:cNvPr id="15" name="Text 13"/>
          <p:cNvSpPr/>
          <p:nvPr/>
        </p:nvSpPr>
        <p:spPr>
          <a:xfrm>
            <a:off x="658368" y="34381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Generates 3 candidates → picks the one with lowest lexical overlap</a:t>
            </a:r>
            <a:endParaRPr lang="en-US" sz="1000" dirty="0"/>
          </a:p>
        </p:txBody>
      </p:sp>
      <p:sp>
        <p:nvSpPr>
          <p:cNvPr id="16" name="Shape 14"/>
          <p:cNvSpPr/>
          <p:nvPr/>
        </p:nvSpPr>
        <p:spPr>
          <a:xfrm>
            <a:off x="4754880" y="1234440"/>
            <a:ext cx="4114800" cy="3200400"/>
          </a:xfrm>
          <a:prstGeom prst="rect">
            <a:avLst/>
          </a:prstGeom>
          <a:solidFill>
            <a:srgbClr val="1E293B"/>
          </a:solidFill>
          <a:ln w="12700">
            <a:solidFill>
              <a:srgbClr val="000000"/>
            </a:solidFill>
            <a:prstDash val="solid"/>
          </a:ln>
        </p:spPr>
      </p:sp>
      <p:sp>
        <p:nvSpPr>
          <p:cNvPr id="17" name="Text 15"/>
          <p:cNvSpPr/>
          <p:nvPr/>
        </p:nvSpPr>
        <p:spPr>
          <a:xfrm>
            <a:off x="4846320" y="1325880"/>
            <a:ext cx="3931920" cy="2971800"/>
          </a:xfrm>
          <a:prstGeom prst="rect">
            <a:avLst/>
          </a:prstGeom>
          <a:noFill/>
          <a:ln/>
        </p:spPr>
        <p:txBody>
          <a:bodyPr wrap="square" lIns="50800" tIns="50800" rIns="50800" bIns="50800" rtlCol="0" anchor="t"/>
          <a:lstStyle/>
          <a:p>
            <a:pPr indent="0" marL="0">
              <a:buNone/>
            </a:pPr>
            <a:r>
              <a:rPr lang="en-US" sz="900" dirty="0">
                <a:solidFill>
                  <a:srgbClr val="A5F3FC"/>
                </a:solidFill>
                <a:latin typeface="Consolas" pitchFamily="34" charset="0"/>
                <a:ea typeface="Consolas" pitchFamily="34" charset="-122"/>
                <a:cs typeface="Consolas" pitchFamily="34" charset="-120"/>
              </a:rPr>
              <a:t># T5 format: task prefix + &lt;/s&gt; EOS</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input_text = "paraphrase: " + text + " &lt;/s&gt;"</a:t>
            </a:r>
            <a:endParaRPr lang="en-US" sz="900" dirty="0"/>
          </a:p>
          <a:p>
            <a:pPr indent="0" marL="0">
              <a:buNone/>
            </a:pP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outputs = para_model.generate(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input_ids=encoding["input_ids"],</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attention_mask=encoding["attention_mask"],</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max_length=128,</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num_beams=1,       # Must be 1 with do_sample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do_sample=True,    # Stochastic sampling</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temperature=1.5,   # Diversity control</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top_k=120,         # Limit vocabulary</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top_p=0.95,        # Nucleus sampling</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num_return_sequences=3</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a:t>
            </a:r>
            <a:endParaRPr lang="en-US" sz="900" dirty="0"/>
          </a:p>
        </p:txBody>
      </p:sp>
      <p:sp>
        <p:nvSpPr>
          <p:cNvPr id="18" name="Shape 16"/>
          <p:cNvSpPr/>
          <p:nvPr/>
        </p:nvSpPr>
        <p:spPr>
          <a:xfrm>
            <a:off x="365760" y="4169664"/>
            <a:ext cx="8412480" cy="594360"/>
          </a:xfrm>
          <a:prstGeom prst="rect">
            <a:avLst/>
          </a:prstGeom>
          <a:solidFill>
            <a:srgbClr val="FFF7ED"/>
          </a:solidFill>
          <a:ln w="19050">
            <a:solidFill>
              <a:srgbClr val="FED7AA"/>
            </a:solidFill>
            <a:prstDash val="solid"/>
          </a:ln>
        </p:spPr>
      </p:sp>
      <p:sp>
        <p:nvSpPr>
          <p:cNvPr id="19" name="Text 17"/>
          <p:cNvSpPr/>
          <p:nvPr/>
        </p:nvSpPr>
        <p:spPr>
          <a:xfrm>
            <a:off x="502920" y="4169664"/>
            <a:ext cx="8229600" cy="594360"/>
          </a:xfrm>
          <a:prstGeom prst="rect">
            <a:avLst/>
          </a:prstGeom>
          <a:noFill/>
          <a:ln/>
        </p:spPr>
        <p:txBody>
          <a:bodyPr wrap="square" rtlCol="0" anchor="ctr"/>
          <a:lstStyle/>
          <a:p>
            <a:pPr indent="0" marL="0">
              <a:buNone/>
            </a:pPr>
            <a:r>
              <a:rPr lang="en-US" sz="1000" dirty="0">
                <a:solidFill>
                  <a:srgbClr val="92400E"/>
                </a:solidFill>
              </a:rPr>
              <a:t>🐛 Key Bug Fixed: Using num_beams &gt; 1 with do_sample=True causes a conflict — beam search reverts to deterministic mode, ignoring temperature → model just copies the input (Similarity: 1.0). Fix: set num_beams=1 when sampling.</a:t>
            </a:r>
            <a:endParaRPr lang="en-US" sz="1000" dirty="0"/>
          </a:p>
        </p:txBody>
      </p:sp>
      <p:sp>
        <p:nvSpPr>
          <p:cNvPr id="20" name="Text 18"/>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00BFA5">
              <a:alpha val="80000"/>
            </a:srgbClr>
          </a:solidFill>
          <a:ln w="12700">
            <a:solidFill>
              <a:srgbClr val="00BFA5"/>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04 · PARAPHRASING</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Paraphrasing — Generation Strategy &amp; Output</a:t>
            </a:r>
            <a:endParaRPr lang="en-US" sz="2600" dirty="0"/>
          </a:p>
        </p:txBody>
      </p:sp>
      <p:sp>
        <p:nvSpPr>
          <p:cNvPr id="5" name="Text 3"/>
          <p:cNvSpPr/>
          <p:nvPr/>
        </p:nvSpPr>
        <p:spPr>
          <a:xfrm>
            <a:off x="365760" y="1243584"/>
            <a:ext cx="8412480" cy="274320"/>
          </a:xfrm>
          <a:prstGeom prst="rect">
            <a:avLst/>
          </a:prstGeom>
          <a:noFill/>
          <a:ln/>
        </p:spPr>
        <p:txBody>
          <a:bodyPr wrap="square" rtlCol="0" anchor="ctr"/>
          <a:lstStyle/>
          <a:p>
            <a:pPr indent="0" marL="0">
              <a:buNone/>
            </a:pPr>
            <a:r>
              <a:rPr lang="en-US" sz="1300" b="1" dirty="0">
                <a:solidFill>
                  <a:srgbClr val="00BFA5"/>
                </a:solidFill>
              </a:rPr>
              <a:t>Candidate Selection Strategy</a:t>
            </a:r>
            <a:endParaRPr lang="en-US" sz="1300" dirty="0"/>
          </a:p>
        </p:txBody>
      </p:sp>
      <p:sp>
        <p:nvSpPr>
          <p:cNvPr id="6" name="Shape 4"/>
          <p:cNvSpPr/>
          <p:nvPr/>
        </p:nvSpPr>
        <p:spPr>
          <a:xfrm>
            <a:off x="365760" y="1627632"/>
            <a:ext cx="320040" cy="320040"/>
          </a:xfrm>
          <a:prstGeom prst="ellipse">
            <a:avLst/>
          </a:prstGeom>
          <a:solidFill>
            <a:srgbClr val="00BFA5"/>
          </a:solidFill>
          <a:ln w="12700">
            <a:solidFill>
              <a:srgbClr val="000000"/>
            </a:solidFill>
            <a:prstDash val="solid"/>
          </a:ln>
        </p:spPr>
      </p:sp>
      <p:sp>
        <p:nvSpPr>
          <p:cNvPr id="7" name="Text 5"/>
          <p:cNvSpPr/>
          <p:nvPr/>
        </p:nvSpPr>
        <p:spPr>
          <a:xfrm>
            <a:off x="365760" y="162763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6"/>
          <p:cNvSpPr/>
          <p:nvPr/>
        </p:nvSpPr>
        <p:spPr>
          <a:xfrm>
            <a:off x="804672" y="1645920"/>
            <a:ext cx="8046720" cy="274320"/>
          </a:xfrm>
          <a:prstGeom prst="rect">
            <a:avLst/>
          </a:prstGeom>
          <a:noFill/>
          <a:ln/>
        </p:spPr>
        <p:txBody>
          <a:bodyPr wrap="square" lIns="0" tIns="0" rIns="0" bIns="0" rtlCol="0" anchor="ctr"/>
          <a:lstStyle/>
          <a:p>
            <a:pPr indent="0" marL="0">
              <a:buNone/>
            </a:pPr>
            <a:r>
              <a:rPr lang="en-US" sz="1050" dirty="0">
                <a:solidFill>
                  <a:srgbClr val="1E293B"/>
                </a:solidFill>
              </a:rPr>
              <a:t>Generate 3 candidate paraphrases using pure sampling (do_sample=True, temp=1.5, top_k=120)</a:t>
            </a:r>
            <a:endParaRPr lang="en-US" sz="1050" dirty="0"/>
          </a:p>
        </p:txBody>
      </p:sp>
      <p:sp>
        <p:nvSpPr>
          <p:cNvPr id="9" name="Shape 7"/>
          <p:cNvSpPr/>
          <p:nvPr/>
        </p:nvSpPr>
        <p:spPr>
          <a:xfrm>
            <a:off x="365760" y="2039112"/>
            <a:ext cx="320040" cy="320040"/>
          </a:xfrm>
          <a:prstGeom prst="ellipse">
            <a:avLst/>
          </a:prstGeom>
          <a:solidFill>
            <a:srgbClr val="00BFA5"/>
          </a:solidFill>
          <a:ln w="12700">
            <a:solidFill>
              <a:srgbClr val="000000"/>
            </a:solidFill>
            <a:prstDash val="solid"/>
          </a:ln>
        </p:spPr>
      </p:sp>
      <p:sp>
        <p:nvSpPr>
          <p:cNvPr id="10" name="Text 8"/>
          <p:cNvSpPr/>
          <p:nvPr/>
        </p:nvSpPr>
        <p:spPr>
          <a:xfrm>
            <a:off x="365760" y="203911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9"/>
          <p:cNvSpPr/>
          <p:nvPr/>
        </p:nvSpPr>
        <p:spPr>
          <a:xfrm>
            <a:off x="804672" y="2057400"/>
            <a:ext cx="8046720" cy="274320"/>
          </a:xfrm>
          <a:prstGeom prst="rect">
            <a:avLst/>
          </a:prstGeom>
          <a:noFill/>
          <a:ln/>
        </p:spPr>
        <p:txBody>
          <a:bodyPr wrap="square" lIns="0" tIns="0" rIns="0" bIns="0" rtlCol="0" anchor="ctr"/>
          <a:lstStyle/>
          <a:p>
            <a:pPr indent="0" marL="0">
              <a:buNone/>
            </a:pPr>
            <a:r>
              <a:rPr lang="en-US" sz="1050" dirty="0">
                <a:solidFill>
                  <a:srgbClr val="1E293B"/>
                </a:solidFill>
              </a:rPr>
              <a:t>Encode original text and all 3 candidates with SBERT to get 384-dim embeddings</a:t>
            </a:r>
            <a:endParaRPr lang="en-US" sz="1050" dirty="0"/>
          </a:p>
        </p:txBody>
      </p:sp>
      <p:sp>
        <p:nvSpPr>
          <p:cNvPr id="12" name="Shape 10"/>
          <p:cNvSpPr/>
          <p:nvPr/>
        </p:nvSpPr>
        <p:spPr>
          <a:xfrm>
            <a:off x="365760" y="2450592"/>
            <a:ext cx="320040" cy="320040"/>
          </a:xfrm>
          <a:prstGeom prst="ellipse">
            <a:avLst/>
          </a:prstGeom>
          <a:solidFill>
            <a:srgbClr val="00BFA5"/>
          </a:solidFill>
          <a:ln w="12700">
            <a:solidFill>
              <a:srgbClr val="000000"/>
            </a:solidFill>
            <a:prstDash val="solid"/>
          </a:ln>
        </p:spPr>
      </p:sp>
      <p:sp>
        <p:nvSpPr>
          <p:cNvPr id="13" name="Text 11"/>
          <p:cNvSpPr/>
          <p:nvPr/>
        </p:nvSpPr>
        <p:spPr>
          <a:xfrm>
            <a:off x="365760" y="245059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4" name="Text 12"/>
          <p:cNvSpPr/>
          <p:nvPr/>
        </p:nvSpPr>
        <p:spPr>
          <a:xfrm>
            <a:off x="804672" y="2468880"/>
            <a:ext cx="8046720" cy="274320"/>
          </a:xfrm>
          <a:prstGeom prst="rect">
            <a:avLst/>
          </a:prstGeom>
          <a:noFill/>
          <a:ln/>
        </p:spPr>
        <p:txBody>
          <a:bodyPr wrap="square" lIns="0" tIns="0" rIns="0" bIns="0" rtlCol="0" anchor="ctr"/>
          <a:lstStyle/>
          <a:p>
            <a:pPr indent="0" marL="0">
              <a:buNone/>
            </a:pPr>
            <a:r>
              <a:rPr lang="en-US" sz="1050" dirty="0">
                <a:solidFill>
                  <a:srgbClr val="1E293B"/>
                </a:solidFill>
              </a:rPr>
              <a:t>Compute cosine similarity between original and each candidate</a:t>
            </a:r>
            <a:endParaRPr lang="en-US" sz="1050" dirty="0"/>
          </a:p>
        </p:txBody>
      </p:sp>
      <p:sp>
        <p:nvSpPr>
          <p:cNvPr id="15" name="Shape 13"/>
          <p:cNvSpPr/>
          <p:nvPr/>
        </p:nvSpPr>
        <p:spPr>
          <a:xfrm>
            <a:off x="365760" y="2862072"/>
            <a:ext cx="320040" cy="320040"/>
          </a:xfrm>
          <a:prstGeom prst="ellipse">
            <a:avLst/>
          </a:prstGeom>
          <a:solidFill>
            <a:srgbClr val="00BFA5"/>
          </a:solidFill>
          <a:ln w="12700">
            <a:solidFill>
              <a:srgbClr val="000000"/>
            </a:solidFill>
            <a:prstDash val="solid"/>
          </a:ln>
        </p:spPr>
      </p:sp>
      <p:sp>
        <p:nvSpPr>
          <p:cNvPr id="16" name="Text 14"/>
          <p:cNvSpPr/>
          <p:nvPr/>
        </p:nvSpPr>
        <p:spPr>
          <a:xfrm>
            <a:off x="365760" y="286207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p:nvPr/>
        </p:nvSpPr>
        <p:spPr>
          <a:xfrm>
            <a:off x="804672" y="2880360"/>
            <a:ext cx="8046720" cy="274320"/>
          </a:xfrm>
          <a:prstGeom prst="rect">
            <a:avLst/>
          </a:prstGeom>
          <a:noFill/>
          <a:ln/>
        </p:spPr>
        <p:txBody>
          <a:bodyPr wrap="square" lIns="0" tIns="0" rIns="0" bIns="0" rtlCol="0" anchor="ctr"/>
          <a:lstStyle/>
          <a:p>
            <a:pPr indent="0" marL="0">
              <a:buNone/>
            </a:pPr>
            <a:r>
              <a:rPr lang="en-US" sz="1050" dirty="0">
                <a:solidFill>
                  <a:srgbClr val="1E293B"/>
                </a:solidFill>
              </a:rPr>
              <a:t>Return the candidate with the LOWEST similarity → most lexically different but semantically valid</a:t>
            </a:r>
            <a:endParaRPr lang="en-US" sz="1050" dirty="0"/>
          </a:p>
        </p:txBody>
      </p:sp>
      <p:sp>
        <p:nvSpPr>
          <p:cNvPr id="18" name="Shape 16"/>
          <p:cNvSpPr/>
          <p:nvPr/>
        </p:nvSpPr>
        <p:spPr>
          <a:xfrm>
            <a:off x="365760" y="3337560"/>
            <a:ext cx="8412480" cy="274320"/>
          </a:xfrm>
          <a:prstGeom prst="rect">
            <a:avLst/>
          </a:prstGeom>
          <a:solidFill>
            <a:srgbClr val="00BFA5"/>
          </a:solidFill>
          <a:ln w="12700">
            <a:solidFill>
              <a:srgbClr val="000000"/>
            </a:solidFill>
            <a:prstDash val="solid"/>
          </a:ln>
        </p:spPr>
      </p:sp>
      <p:sp>
        <p:nvSpPr>
          <p:cNvPr id="19" name="Text 17"/>
          <p:cNvSpPr/>
          <p:nvPr/>
        </p:nvSpPr>
        <p:spPr>
          <a:xfrm>
            <a:off x="365760" y="3337560"/>
            <a:ext cx="8412480" cy="274320"/>
          </a:xfrm>
          <a:prstGeom prst="rect">
            <a:avLst/>
          </a:prstGeom>
          <a:noFill/>
          <a:ln/>
        </p:spPr>
        <p:txBody>
          <a:bodyPr wrap="square" lIns="0" tIns="0" rIns="0" bIns="0" rtlCol="0" anchor="ctr"/>
          <a:lstStyle/>
          <a:p>
            <a:pPr algn="ctr" indent="0" marL="0">
              <a:buNone/>
            </a:pPr>
            <a:r>
              <a:rPr lang="en-US" sz="1000" b="1" dirty="0">
                <a:solidFill>
                  <a:srgbClr val="FFFFFF"/>
                </a:solidFill>
              </a:rPr>
              <a:t>EXAMPLE OUTPUT</a:t>
            </a:r>
            <a:endParaRPr lang="en-US" sz="1000" dirty="0"/>
          </a:p>
        </p:txBody>
      </p:sp>
      <p:sp>
        <p:nvSpPr>
          <p:cNvPr id="20" name="Shape 18"/>
          <p:cNvSpPr/>
          <p:nvPr/>
        </p:nvSpPr>
        <p:spPr>
          <a:xfrm>
            <a:off x="365760" y="3611880"/>
            <a:ext cx="4114800" cy="594360"/>
          </a:xfrm>
          <a:prstGeom prst="rect">
            <a:avLst/>
          </a:prstGeom>
          <a:solidFill>
            <a:srgbClr val="FFFFFF"/>
          </a:solidFill>
          <a:ln w="12700">
            <a:solidFill>
              <a:srgbClr val="CBD5E1"/>
            </a:solidFill>
            <a:prstDash val="solid"/>
          </a:ln>
        </p:spPr>
      </p:sp>
      <p:sp>
        <p:nvSpPr>
          <p:cNvPr id="21" name="Text 19"/>
          <p:cNvSpPr/>
          <p:nvPr/>
        </p:nvSpPr>
        <p:spPr>
          <a:xfrm>
            <a:off x="502920" y="3639312"/>
            <a:ext cx="3931920" cy="539496"/>
          </a:xfrm>
          <a:prstGeom prst="rect">
            <a:avLst/>
          </a:prstGeom>
          <a:noFill/>
          <a:ln/>
        </p:spPr>
        <p:txBody>
          <a:bodyPr wrap="square" rtlCol="0" anchor="t"/>
          <a:lstStyle/>
          <a:p>
            <a:pPr indent="0" marL="0">
              <a:buNone/>
            </a:pPr>
            <a:r>
              <a:rPr lang="en-US" sz="1000" dirty="0">
                <a:solidFill>
                  <a:srgbClr val="64748B"/>
                </a:solidFill>
              </a:rPr>
              <a:t>ORIGINAL:</a:t>
            </a:r>
            <a:endParaRPr lang="en-US" sz="1000" dirty="0"/>
          </a:p>
          <a:p>
            <a:pPr indent="0" marL="0">
              <a:buNone/>
            </a:pPr>
            <a:r>
              <a:rPr lang="en-US" sz="1000" dirty="0">
                <a:solidFill>
                  <a:srgbClr val="64748B"/>
                </a:solidFill>
              </a:rPr>
              <a:t>"Natural language processing allows machines to understand and generate human language."</a:t>
            </a:r>
            <a:endParaRPr lang="en-US" sz="1000" dirty="0"/>
          </a:p>
        </p:txBody>
      </p:sp>
      <p:sp>
        <p:nvSpPr>
          <p:cNvPr id="22" name="Shape 20"/>
          <p:cNvSpPr/>
          <p:nvPr/>
        </p:nvSpPr>
        <p:spPr>
          <a:xfrm>
            <a:off x="4663440" y="3611880"/>
            <a:ext cx="4114800" cy="594360"/>
          </a:xfrm>
          <a:prstGeom prst="rect">
            <a:avLst/>
          </a:prstGeom>
          <a:solidFill>
            <a:srgbClr val="F0FDF4"/>
          </a:solidFill>
          <a:ln w="12700">
            <a:solidFill>
              <a:srgbClr val="BBF7D0"/>
            </a:solidFill>
            <a:prstDash val="solid"/>
          </a:ln>
        </p:spPr>
      </p:sp>
      <p:sp>
        <p:nvSpPr>
          <p:cNvPr id="23" name="Text 21"/>
          <p:cNvSpPr/>
          <p:nvPr/>
        </p:nvSpPr>
        <p:spPr>
          <a:xfrm>
            <a:off x="4800600" y="3639312"/>
            <a:ext cx="3931920" cy="539496"/>
          </a:xfrm>
          <a:prstGeom prst="rect">
            <a:avLst/>
          </a:prstGeom>
          <a:noFill/>
          <a:ln/>
        </p:spPr>
        <p:txBody>
          <a:bodyPr wrap="square" rtlCol="0" anchor="t"/>
          <a:lstStyle/>
          <a:p>
            <a:pPr indent="0" marL="0">
              <a:buNone/>
            </a:pPr>
            <a:r>
              <a:rPr lang="en-US" sz="1000" dirty="0">
                <a:solidFill>
                  <a:srgbClr val="1E293B"/>
                </a:solidFill>
              </a:rPr>
              <a:t>PARAPHRASED:</a:t>
            </a:r>
            <a:endParaRPr lang="en-US" sz="1000" dirty="0"/>
          </a:p>
          <a:p>
            <a:pPr indent="0" marL="0">
              <a:buNone/>
            </a:pPr>
            <a:r>
              <a:rPr lang="en-US" sz="1000" dirty="0">
                <a:solidFill>
                  <a:srgbClr val="1E293B"/>
                </a:solidFill>
              </a:rPr>
              <a:t>"The ability of computers to comprehend and produce human language is enabled by NLP techniques."</a:t>
            </a:r>
            <a:endParaRPr lang="en-US" sz="1000" dirty="0"/>
          </a:p>
        </p:txBody>
      </p:sp>
      <p:sp>
        <p:nvSpPr>
          <p:cNvPr id="24" name="Text 22"/>
          <p:cNvSpPr/>
          <p:nvPr/>
        </p:nvSpPr>
        <p:spPr>
          <a:xfrm>
            <a:off x="365760" y="4315968"/>
            <a:ext cx="8412480" cy="274320"/>
          </a:xfrm>
          <a:prstGeom prst="rect">
            <a:avLst/>
          </a:prstGeom>
          <a:noFill/>
          <a:ln/>
        </p:spPr>
        <p:txBody>
          <a:bodyPr wrap="square" rtlCol="0" anchor="ctr"/>
          <a:lstStyle/>
          <a:p>
            <a:pPr algn="ctr" indent="0" marL="0">
              <a:buNone/>
            </a:pPr>
            <a:r>
              <a:rPr lang="en-US" sz="1050" b="1" dirty="0">
                <a:solidFill>
                  <a:srgbClr val="10B981"/>
                </a:solidFill>
              </a:rPr>
              <a:t>✅ Meaning preserved  |  Wording changed  |  Similarity score: ~0.82 (good paraphrase range)</a:t>
            </a:r>
            <a:endParaRPr lang="en-US" sz="1050" dirty="0"/>
          </a:p>
        </p:txBody>
      </p:sp>
      <p:sp>
        <p:nvSpPr>
          <p:cNvPr id="25" name="Text 23"/>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7C3AED">
              <a:alpha val="80000"/>
            </a:srgbClr>
          </a:solidFill>
          <a:ln w="12700">
            <a:solidFill>
              <a:srgbClr val="7C3AED"/>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05 · PLAGIARISM</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Module 3 — Plagiarism Detection with SBERT</a:t>
            </a:r>
            <a:endParaRPr lang="en-US" sz="2600" dirty="0"/>
          </a:p>
        </p:txBody>
      </p:sp>
      <p:sp>
        <p:nvSpPr>
          <p:cNvPr id="5" name="Text 3"/>
          <p:cNvSpPr/>
          <p:nvPr/>
        </p:nvSpPr>
        <p:spPr>
          <a:xfrm>
            <a:off x="365760" y="1261872"/>
            <a:ext cx="4206240" cy="274320"/>
          </a:xfrm>
          <a:prstGeom prst="rect">
            <a:avLst/>
          </a:prstGeom>
          <a:noFill/>
          <a:ln/>
        </p:spPr>
        <p:txBody>
          <a:bodyPr wrap="square" lIns="0" tIns="0" rIns="0" bIns="0" rtlCol="0" anchor="ctr"/>
          <a:lstStyle/>
          <a:p>
            <a:pPr indent="0" marL="0">
              <a:buNone/>
            </a:pPr>
            <a:r>
              <a:rPr lang="en-US" sz="1300" b="1" dirty="0">
                <a:solidFill>
                  <a:srgbClr val="7C3AED"/>
                </a:solidFill>
              </a:rPr>
              <a:t>Why SBERT over TF-IDF?</a:t>
            </a:r>
            <a:endParaRPr lang="en-US" sz="1300" dirty="0"/>
          </a:p>
        </p:txBody>
      </p:sp>
      <p:sp>
        <p:nvSpPr>
          <p:cNvPr id="6" name="Shape 4"/>
          <p:cNvSpPr/>
          <p:nvPr/>
        </p:nvSpPr>
        <p:spPr>
          <a:xfrm>
            <a:off x="365760" y="1627632"/>
            <a:ext cx="201168" cy="201168"/>
          </a:xfrm>
          <a:prstGeom prst="ellipse">
            <a:avLst/>
          </a:prstGeom>
          <a:solidFill>
            <a:srgbClr val="7C3AED"/>
          </a:solidFill>
          <a:ln w="12700">
            <a:solidFill>
              <a:srgbClr val="000000"/>
            </a:solidFill>
            <a:prstDash val="solid"/>
          </a:ln>
        </p:spPr>
      </p:sp>
      <p:sp>
        <p:nvSpPr>
          <p:cNvPr id="7" name="Text 5"/>
          <p:cNvSpPr/>
          <p:nvPr/>
        </p:nvSpPr>
        <p:spPr>
          <a:xfrm>
            <a:off x="658368" y="1609344"/>
            <a:ext cx="4206240" cy="256032"/>
          </a:xfrm>
          <a:prstGeom prst="rect">
            <a:avLst/>
          </a:prstGeom>
          <a:noFill/>
          <a:ln/>
        </p:spPr>
        <p:txBody>
          <a:bodyPr wrap="square" lIns="0" tIns="0" rIns="0" bIns="0" rtlCol="0" anchor="ctr"/>
          <a:lstStyle/>
          <a:p>
            <a:pPr indent="0" marL="0">
              <a:buNone/>
            </a:pPr>
            <a:r>
              <a:rPr lang="en-US" sz="1000" dirty="0">
                <a:solidFill>
                  <a:srgbClr val="1E293B"/>
                </a:solidFill>
              </a:rPr>
              <a:t>TF-IDF misses paraphrased plagiarism (same meaning, different words)</a:t>
            </a:r>
            <a:endParaRPr lang="en-US" sz="1000" dirty="0"/>
          </a:p>
        </p:txBody>
      </p:sp>
      <p:sp>
        <p:nvSpPr>
          <p:cNvPr id="8" name="Shape 6"/>
          <p:cNvSpPr/>
          <p:nvPr/>
        </p:nvSpPr>
        <p:spPr>
          <a:xfrm>
            <a:off x="365760" y="2084832"/>
            <a:ext cx="201168" cy="201168"/>
          </a:xfrm>
          <a:prstGeom prst="ellipse">
            <a:avLst/>
          </a:prstGeom>
          <a:solidFill>
            <a:srgbClr val="7C3AED"/>
          </a:solidFill>
          <a:ln w="12700">
            <a:solidFill>
              <a:srgbClr val="000000"/>
            </a:solidFill>
            <a:prstDash val="solid"/>
          </a:ln>
        </p:spPr>
      </p:sp>
      <p:sp>
        <p:nvSpPr>
          <p:cNvPr id="9" name="Text 7"/>
          <p:cNvSpPr/>
          <p:nvPr/>
        </p:nvSpPr>
        <p:spPr>
          <a:xfrm>
            <a:off x="658368" y="2066544"/>
            <a:ext cx="4206240" cy="256032"/>
          </a:xfrm>
          <a:prstGeom prst="rect">
            <a:avLst/>
          </a:prstGeom>
          <a:noFill/>
          <a:ln/>
        </p:spPr>
        <p:txBody>
          <a:bodyPr wrap="square" lIns="0" tIns="0" rIns="0" bIns="0" rtlCol="0" anchor="ctr"/>
          <a:lstStyle/>
          <a:p>
            <a:pPr indent="0" marL="0">
              <a:buNone/>
            </a:pPr>
            <a:r>
              <a:rPr lang="en-US" sz="1000" dirty="0">
                <a:solidFill>
                  <a:srgbClr val="1E293B"/>
                </a:solidFill>
              </a:rPr>
              <a:t>SBERT encodes semantic meaning into 384-dimensional dense vectors</a:t>
            </a:r>
            <a:endParaRPr lang="en-US" sz="1000" dirty="0"/>
          </a:p>
        </p:txBody>
      </p:sp>
      <p:sp>
        <p:nvSpPr>
          <p:cNvPr id="10" name="Shape 8"/>
          <p:cNvSpPr/>
          <p:nvPr/>
        </p:nvSpPr>
        <p:spPr>
          <a:xfrm>
            <a:off x="365760" y="2542032"/>
            <a:ext cx="201168" cy="201168"/>
          </a:xfrm>
          <a:prstGeom prst="ellipse">
            <a:avLst/>
          </a:prstGeom>
          <a:solidFill>
            <a:srgbClr val="7C3AED"/>
          </a:solidFill>
          <a:ln w="12700">
            <a:solidFill>
              <a:srgbClr val="000000"/>
            </a:solidFill>
            <a:prstDash val="solid"/>
          </a:ln>
        </p:spPr>
      </p:sp>
      <p:sp>
        <p:nvSpPr>
          <p:cNvPr id="11" name="Text 9"/>
          <p:cNvSpPr/>
          <p:nvPr/>
        </p:nvSpPr>
        <p:spPr>
          <a:xfrm>
            <a:off x="658368" y="2523744"/>
            <a:ext cx="4206240" cy="256032"/>
          </a:xfrm>
          <a:prstGeom prst="rect">
            <a:avLst/>
          </a:prstGeom>
          <a:noFill/>
          <a:ln/>
        </p:spPr>
        <p:txBody>
          <a:bodyPr wrap="square" lIns="0" tIns="0" rIns="0" bIns="0" rtlCol="0" anchor="ctr"/>
          <a:lstStyle/>
          <a:p>
            <a:pPr indent="0" marL="0">
              <a:buNone/>
            </a:pPr>
            <a:r>
              <a:rPr lang="en-US" sz="1000" dirty="0">
                <a:solidFill>
                  <a:srgbClr val="1E293B"/>
                </a:solidFill>
              </a:rPr>
              <a:t>Cosine similarity detects conceptually similar text even with different wording</a:t>
            </a:r>
            <a:endParaRPr lang="en-US" sz="1000" dirty="0"/>
          </a:p>
        </p:txBody>
      </p:sp>
      <p:sp>
        <p:nvSpPr>
          <p:cNvPr id="12" name="Shape 10"/>
          <p:cNvSpPr/>
          <p:nvPr/>
        </p:nvSpPr>
        <p:spPr>
          <a:xfrm>
            <a:off x="365760" y="2999232"/>
            <a:ext cx="201168" cy="201168"/>
          </a:xfrm>
          <a:prstGeom prst="ellipse">
            <a:avLst/>
          </a:prstGeom>
          <a:solidFill>
            <a:srgbClr val="7C3AED"/>
          </a:solidFill>
          <a:ln w="12700">
            <a:solidFill>
              <a:srgbClr val="000000"/>
            </a:solidFill>
            <a:prstDash val="solid"/>
          </a:ln>
        </p:spPr>
      </p:sp>
      <p:sp>
        <p:nvSpPr>
          <p:cNvPr id="13" name="Text 11"/>
          <p:cNvSpPr/>
          <p:nvPr/>
        </p:nvSpPr>
        <p:spPr>
          <a:xfrm>
            <a:off x="658368" y="2980944"/>
            <a:ext cx="4206240" cy="256032"/>
          </a:xfrm>
          <a:prstGeom prst="rect">
            <a:avLst/>
          </a:prstGeom>
          <a:noFill/>
          <a:ln/>
        </p:spPr>
        <p:txBody>
          <a:bodyPr wrap="square" lIns="0" tIns="0" rIns="0" bIns="0" rtlCol="0" anchor="ctr"/>
          <a:lstStyle/>
          <a:p>
            <a:pPr indent="0" marL="0">
              <a:buNone/>
            </a:pPr>
            <a:r>
              <a:rPr lang="en-US" sz="1000" dirty="0">
                <a:solidFill>
                  <a:srgbClr val="1E293B"/>
                </a:solidFill>
              </a:rPr>
              <a:t>all-MiniLM-L6-v2 is compact (80MB), fast, and high-quality</a:t>
            </a:r>
            <a:endParaRPr lang="en-US" sz="1000" dirty="0"/>
          </a:p>
        </p:txBody>
      </p:sp>
      <p:sp>
        <p:nvSpPr>
          <p:cNvPr id="14" name="Shape 12"/>
          <p:cNvSpPr/>
          <p:nvPr/>
        </p:nvSpPr>
        <p:spPr>
          <a:xfrm>
            <a:off x="365760" y="3456432"/>
            <a:ext cx="201168" cy="201168"/>
          </a:xfrm>
          <a:prstGeom prst="ellipse">
            <a:avLst/>
          </a:prstGeom>
          <a:solidFill>
            <a:srgbClr val="7C3AED"/>
          </a:solidFill>
          <a:ln w="12700">
            <a:solidFill>
              <a:srgbClr val="000000"/>
            </a:solidFill>
            <a:prstDash val="solid"/>
          </a:ln>
        </p:spPr>
      </p:sp>
      <p:sp>
        <p:nvSpPr>
          <p:cNvPr id="15" name="Text 13"/>
          <p:cNvSpPr/>
          <p:nvPr/>
        </p:nvSpPr>
        <p:spPr>
          <a:xfrm>
            <a:off x="658368" y="3438144"/>
            <a:ext cx="4206240" cy="256032"/>
          </a:xfrm>
          <a:prstGeom prst="rect">
            <a:avLst/>
          </a:prstGeom>
          <a:noFill/>
          <a:ln/>
        </p:spPr>
        <p:txBody>
          <a:bodyPr wrap="square" lIns="0" tIns="0" rIns="0" bIns="0" rtlCol="0" anchor="ctr"/>
          <a:lstStyle/>
          <a:p>
            <a:pPr indent="0" marL="0">
              <a:buNone/>
            </a:pPr>
            <a:r>
              <a:rPr lang="en-US" sz="1000" dirty="0">
                <a:solidFill>
                  <a:srgbClr val="1E293B"/>
                </a:solidFill>
              </a:rPr>
              <a:t>FAISS enables fast nearest-neighbor search at scale</a:t>
            </a:r>
            <a:endParaRPr lang="en-US" sz="1000" dirty="0"/>
          </a:p>
        </p:txBody>
      </p:sp>
      <p:sp>
        <p:nvSpPr>
          <p:cNvPr id="16" name="Text 14"/>
          <p:cNvSpPr/>
          <p:nvPr/>
        </p:nvSpPr>
        <p:spPr>
          <a:xfrm>
            <a:off x="4754880" y="1261872"/>
            <a:ext cx="4114800" cy="274320"/>
          </a:xfrm>
          <a:prstGeom prst="rect">
            <a:avLst/>
          </a:prstGeom>
          <a:noFill/>
          <a:ln/>
        </p:spPr>
        <p:txBody>
          <a:bodyPr wrap="square" lIns="0" tIns="0" rIns="0" bIns="0" rtlCol="0" anchor="ctr"/>
          <a:lstStyle/>
          <a:p>
            <a:pPr indent="0" marL="0">
              <a:buNone/>
            </a:pPr>
            <a:r>
              <a:rPr lang="en-US" sz="1300" b="1" dirty="0">
                <a:solidFill>
                  <a:srgbClr val="7C3AED"/>
                </a:solidFill>
              </a:rPr>
              <a:t>Similarity Score Interpretation</a:t>
            </a:r>
            <a:endParaRPr lang="en-US" sz="1300" dirty="0"/>
          </a:p>
        </p:txBody>
      </p:sp>
      <p:sp>
        <p:nvSpPr>
          <p:cNvPr id="17" name="Shape 15"/>
          <p:cNvSpPr/>
          <p:nvPr/>
        </p:nvSpPr>
        <p:spPr>
          <a:xfrm>
            <a:off x="4754880" y="1627632"/>
            <a:ext cx="1188720" cy="438912"/>
          </a:xfrm>
          <a:prstGeom prst="rect">
            <a:avLst/>
          </a:prstGeom>
          <a:solidFill>
            <a:srgbClr val="EF4444"/>
          </a:solidFill>
          <a:ln w="12700">
            <a:solidFill>
              <a:srgbClr val="000000"/>
            </a:solidFill>
            <a:prstDash val="solid"/>
          </a:ln>
        </p:spPr>
      </p:sp>
      <p:sp>
        <p:nvSpPr>
          <p:cNvPr id="18" name="Text 16"/>
          <p:cNvSpPr/>
          <p:nvPr/>
        </p:nvSpPr>
        <p:spPr>
          <a:xfrm>
            <a:off x="4754880" y="1627632"/>
            <a:ext cx="1188720" cy="438912"/>
          </a:xfrm>
          <a:prstGeom prst="rect">
            <a:avLst/>
          </a:prstGeom>
          <a:noFill/>
          <a:ln/>
        </p:spPr>
        <p:txBody>
          <a:bodyPr wrap="square" lIns="0" tIns="0" rIns="0" bIns="0" rtlCol="0" anchor="ctr"/>
          <a:lstStyle/>
          <a:p>
            <a:pPr algn="ctr" indent="0" marL="0">
              <a:buNone/>
            </a:pPr>
            <a:r>
              <a:rPr lang="en-US" sz="1000" b="1" dirty="0">
                <a:solidFill>
                  <a:srgbClr val="FFFFFF"/>
                </a:solidFill>
              </a:rPr>
              <a:t>0.95 – 1.00</a:t>
            </a:r>
            <a:endParaRPr lang="en-US" sz="1000" dirty="0"/>
          </a:p>
        </p:txBody>
      </p:sp>
      <p:sp>
        <p:nvSpPr>
          <p:cNvPr id="19" name="Shape 17"/>
          <p:cNvSpPr/>
          <p:nvPr/>
        </p:nvSpPr>
        <p:spPr>
          <a:xfrm>
            <a:off x="5989320" y="1627632"/>
            <a:ext cx="2880360" cy="438912"/>
          </a:xfrm>
          <a:prstGeom prst="rect">
            <a:avLst/>
          </a:prstGeom>
          <a:solidFill>
            <a:srgbClr val="FFFFFF"/>
          </a:solidFill>
          <a:ln w="12700">
            <a:solidFill>
              <a:srgbClr val="CBD5E1"/>
            </a:solidFill>
            <a:prstDash val="solid"/>
          </a:ln>
        </p:spPr>
      </p:sp>
      <p:sp>
        <p:nvSpPr>
          <p:cNvPr id="20" name="Text 18"/>
          <p:cNvSpPr/>
          <p:nvPr/>
        </p:nvSpPr>
        <p:spPr>
          <a:xfrm>
            <a:off x="6080760" y="1627632"/>
            <a:ext cx="2697480" cy="438912"/>
          </a:xfrm>
          <a:prstGeom prst="rect">
            <a:avLst/>
          </a:prstGeom>
          <a:noFill/>
          <a:ln/>
        </p:spPr>
        <p:txBody>
          <a:bodyPr wrap="square" lIns="0" tIns="0" rIns="0" bIns="0" rtlCol="0" anchor="ctr"/>
          <a:lstStyle/>
          <a:p>
            <a:pPr indent="0" marL="0">
              <a:buNone/>
            </a:pPr>
            <a:r>
              <a:rPr lang="en-US" sz="1000" dirty="0">
                <a:solidFill>
                  <a:srgbClr val="1E293B"/>
                </a:solidFill>
              </a:rPr>
              <a:t>Near-identical / Direct Copy</a:t>
            </a:r>
            <a:endParaRPr lang="en-US" sz="1000" dirty="0"/>
          </a:p>
        </p:txBody>
      </p:sp>
      <p:sp>
        <p:nvSpPr>
          <p:cNvPr id="21" name="Shape 19"/>
          <p:cNvSpPr/>
          <p:nvPr/>
        </p:nvSpPr>
        <p:spPr>
          <a:xfrm>
            <a:off x="4754880" y="2157984"/>
            <a:ext cx="1188720" cy="438912"/>
          </a:xfrm>
          <a:prstGeom prst="rect">
            <a:avLst/>
          </a:prstGeom>
          <a:solidFill>
            <a:srgbClr val="F97316"/>
          </a:solidFill>
          <a:ln w="12700">
            <a:solidFill>
              <a:srgbClr val="000000"/>
            </a:solidFill>
            <a:prstDash val="solid"/>
          </a:ln>
        </p:spPr>
      </p:sp>
      <p:sp>
        <p:nvSpPr>
          <p:cNvPr id="22" name="Text 20"/>
          <p:cNvSpPr/>
          <p:nvPr/>
        </p:nvSpPr>
        <p:spPr>
          <a:xfrm>
            <a:off x="4754880" y="2157984"/>
            <a:ext cx="1188720" cy="438912"/>
          </a:xfrm>
          <a:prstGeom prst="rect">
            <a:avLst/>
          </a:prstGeom>
          <a:noFill/>
          <a:ln/>
        </p:spPr>
        <p:txBody>
          <a:bodyPr wrap="square" lIns="0" tIns="0" rIns="0" bIns="0" rtlCol="0" anchor="ctr"/>
          <a:lstStyle/>
          <a:p>
            <a:pPr algn="ctr" indent="0" marL="0">
              <a:buNone/>
            </a:pPr>
            <a:r>
              <a:rPr lang="en-US" sz="1000" b="1" dirty="0">
                <a:solidFill>
                  <a:srgbClr val="FFFFFF"/>
                </a:solidFill>
              </a:rPr>
              <a:t>0.80 – 0.95</a:t>
            </a:r>
            <a:endParaRPr lang="en-US" sz="1000" dirty="0"/>
          </a:p>
        </p:txBody>
      </p:sp>
      <p:sp>
        <p:nvSpPr>
          <p:cNvPr id="23" name="Shape 21"/>
          <p:cNvSpPr/>
          <p:nvPr/>
        </p:nvSpPr>
        <p:spPr>
          <a:xfrm>
            <a:off x="5989320" y="2157984"/>
            <a:ext cx="2880360" cy="438912"/>
          </a:xfrm>
          <a:prstGeom prst="rect">
            <a:avLst/>
          </a:prstGeom>
          <a:solidFill>
            <a:srgbClr val="FFFFFF"/>
          </a:solidFill>
          <a:ln w="12700">
            <a:solidFill>
              <a:srgbClr val="CBD5E1"/>
            </a:solidFill>
            <a:prstDash val="solid"/>
          </a:ln>
        </p:spPr>
      </p:sp>
      <p:sp>
        <p:nvSpPr>
          <p:cNvPr id="24" name="Text 22"/>
          <p:cNvSpPr/>
          <p:nvPr/>
        </p:nvSpPr>
        <p:spPr>
          <a:xfrm>
            <a:off x="6080760" y="2157984"/>
            <a:ext cx="2697480" cy="438912"/>
          </a:xfrm>
          <a:prstGeom prst="rect">
            <a:avLst/>
          </a:prstGeom>
          <a:noFill/>
          <a:ln/>
        </p:spPr>
        <p:txBody>
          <a:bodyPr wrap="square" lIns="0" tIns="0" rIns="0" bIns="0" rtlCol="0" anchor="ctr"/>
          <a:lstStyle/>
          <a:p>
            <a:pPr indent="0" marL="0">
              <a:buNone/>
            </a:pPr>
            <a:r>
              <a:rPr lang="en-US" sz="1000" dirty="0">
                <a:solidFill>
                  <a:srgbClr val="1E293B"/>
                </a:solidFill>
              </a:rPr>
              <a:t>High Similarity — Likely Plagiarism</a:t>
            </a:r>
            <a:endParaRPr lang="en-US" sz="1000" dirty="0"/>
          </a:p>
        </p:txBody>
      </p:sp>
      <p:sp>
        <p:nvSpPr>
          <p:cNvPr id="25" name="Shape 23"/>
          <p:cNvSpPr/>
          <p:nvPr/>
        </p:nvSpPr>
        <p:spPr>
          <a:xfrm>
            <a:off x="4754880" y="2688336"/>
            <a:ext cx="1188720" cy="438912"/>
          </a:xfrm>
          <a:prstGeom prst="rect">
            <a:avLst/>
          </a:prstGeom>
          <a:solidFill>
            <a:srgbClr val="F59E0B"/>
          </a:solidFill>
          <a:ln w="12700">
            <a:solidFill>
              <a:srgbClr val="000000"/>
            </a:solidFill>
            <a:prstDash val="solid"/>
          </a:ln>
        </p:spPr>
      </p:sp>
      <p:sp>
        <p:nvSpPr>
          <p:cNvPr id="26" name="Text 24"/>
          <p:cNvSpPr/>
          <p:nvPr/>
        </p:nvSpPr>
        <p:spPr>
          <a:xfrm>
            <a:off x="4754880" y="2688336"/>
            <a:ext cx="1188720" cy="438912"/>
          </a:xfrm>
          <a:prstGeom prst="rect">
            <a:avLst/>
          </a:prstGeom>
          <a:noFill/>
          <a:ln/>
        </p:spPr>
        <p:txBody>
          <a:bodyPr wrap="square" lIns="0" tIns="0" rIns="0" bIns="0" rtlCol="0" anchor="ctr"/>
          <a:lstStyle/>
          <a:p>
            <a:pPr algn="ctr" indent="0" marL="0">
              <a:buNone/>
            </a:pPr>
            <a:r>
              <a:rPr lang="en-US" sz="1000" b="1" dirty="0">
                <a:solidFill>
                  <a:srgbClr val="1E293B"/>
                </a:solidFill>
              </a:rPr>
              <a:t>0.60 – 0.80</a:t>
            </a:r>
            <a:endParaRPr lang="en-US" sz="1000" dirty="0"/>
          </a:p>
        </p:txBody>
      </p:sp>
      <p:sp>
        <p:nvSpPr>
          <p:cNvPr id="27" name="Shape 25"/>
          <p:cNvSpPr/>
          <p:nvPr/>
        </p:nvSpPr>
        <p:spPr>
          <a:xfrm>
            <a:off x="5989320" y="2688336"/>
            <a:ext cx="2880360" cy="438912"/>
          </a:xfrm>
          <a:prstGeom prst="rect">
            <a:avLst/>
          </a:prstGeom>
          <a:solidFill>
            <a:srgbClr val="FFFFFF"/>
          </a:solidFill>
          <a:ln w="12700">
            <a:solidFill>
              <a:srgbClr val="CBD5E1"/>
            </a:solidFill>
            <a:prstDash val="solid"/>
          </a:ln>
        </p:spPr>
      </p:sp>
      <p:sp>
        <p:nvSpPr>
          <p:cNvPr id="28" name="Text 26"/>
          <p:cNvSpPr/>
          <p:nvPr/>
        </p:nvSpPr>
        <p:spPr>
          <a:xfrm>
            <a:off x="6080760" y="2688336"/>
            <a:ext cx="2697480" cy="438912"/>
          </a:xfrm>
          <a:prstGeom prst="rect">
            <a:avLst/>
          </a:prstGeom>
          <a:noFill/>
          <a:ln/>
        </p:spPr>
        <p:txBody>
          <a:bodyPr wrap="square" lIns="0" tIns="0" rIns="0" bIns="0" rtlCol="0" anchor="ctr"/>
          <a:lstStyle/>
          <a:p>
            <a:pPr indent="0" marL="0">
              <a:buNone/>
            </a:pPr>
            <a:r>
              <a:rPr lang="en-US" sz="1000" dirty="0">
                <a:solidFill>
                  <a:srgbClr val="1E293B"/>
                </a:solidFill>
              </a:rPr>
              <a:t>Moderate — Review Needed</a:t>
            </a:r>
            <a:endParaRPr lang="en-US" sz="1000" dirty="0"/>
          </a:p>
        </p:txBody>
      </p:sp>
      <p:sp>
        <p:nvSpPr>
          <p:cNvPr id="29" name="Shape 27"/>
          <p:cNvSpPr/>
          <p:nvPr/>
        </p:nvSpPr>
        <p:spPr>
          <a:xfrm>
            <a:off x="4754880" y="3218688"/>
            <a:ext cx="1188720" cy="438912"/>
          </a:xfrm>
          <a:prstGeom prst="rect">
            <a:avLst/>
          </a:prstGeom>
          <a:solidFill>
            <a:srgbClr val="10B981"/>
          </a:solidFill>
          <a:ln w="12700">
            <a:solidFill>
              <a:srgbClr val="000000"/>
            </a:solidFill>
            <a:prstDash val="solid"/>
          </a:ln>
        </p:spPr>
      </p:sp>
      <p:sp>
        <p:nvSpPr>
          <p:cNvPr id="30" name="Text 28"/>
          <p:cNvSpPr/>
          <p:nvPr/>
        </p:nvSpPr>
        <p:spPr>
          <a:xfrm>
            <a:off x="4754880" y="3218688"/>
            <a:ext cx="1188720" cy="438912"/>
          </a:xfrm>
          <a:prstGeom prst="rect">
            <a:avLst/>
          </a:prstGeom>
          <a:noFill/>
          <a:ln/>
        </p:spPr>
        <p:txBody>
          <a:bodyPr wrap="square" lIns="0" tIns="0" rIns="0" bIns="0" rtlCol="0" anchor="ctr"/>
          <a:lstStyle/>
          <a:p>
            <a:pPr algn="ctr" indent="0" marL="0">
              <a:buNone/>
            </a:pPr>
            <a:r>
              <a:rPr lang="en-US" sz="1000" b="1" dirty="0">
                <a:solidFill>
                  <a:srgbClr val="FFFFFF"/>
                </a:solidFill>
              </a:rPr>
              <a:t>&lt; 0.60</a:t>
            </a:r>
            <a:endParaRPr lang="en-US" sz="1000" dirty="0"/>
          </a:p>
        </p:txBody>
      </p:sp>
      <p:sp>
        <p:nvSpPr>
          <p:cNvPr id="31" name="Shape 29"/>
          <p:cNvSpPr/>
          <p:nvPr/>
        </p:nvSpPr>
        <p:spPr>
          <a:xfrm>
            <a:off x="5989320" y="3218688"/>
            <a:ext cx="2880360" cy="438912"/>
          </a:xfrm>
          <a:prstGeom prst="rect">
            <a:avLst/>
          </a:prstGeom>
          <a:solidFill>
            <a:srgbClr val="FFFFFF"/>
          </a:solidFill>
          <a:ln w="12700">
            <a:solidFill>
              <a:srgbClr val="CBD5E1"/>
            </a:solidFill>
            <a:prstDash val="solid"/>
          </a:ln>
        </p:spPr>
      </p:sp>
      <p:sp>
        <p:nvSpPr>
          <p:cNvPr id="32" name="Text 30"/>
          <p:cNvSpPr/>
          <p:nvPr/>
        </p:nvSpPr>
        <p:spPr>
          <a:xfrm>
            <a:off x="6080760" y="3218688"/>
            <a:ext cx="2697480" cy="438912"/>
          </a:xfrm>
          <a:prstGeom prst="rect">
            <a:avLst/>
          </a:prstGeom>
          <a:noFill/>
          <a:ln/>
        </p:spPr>
        <p:txBody>
          <a:bodyPr wrap="square" lIns="0" tIns="0" rIns="0" bIns="0" rtlCol="0" anchor="ctr"/>
          <a:lstStyle/>
          <a:p>
            <a:pPr indent="0" marL="0">
              <a:buNone/>
            </a:pPr>
            <a:r>
              <a:rPr lang="en-US" sz="1000" dirty="0">
                <a:solidFill>
                  <a:srgbClr val="1E293B"/>
                </a:solidFill>
              </a:rPr>
              <a:t>Low Similarity — Likely Original</a:t>
            </a:r>
            <a:endParaRPr lang="en-US" sz="1000" dirty="0"/>
          </a:p>
        </p:txBody>
      </p:sp>
      <p:sp>
        <p:nvSpPr>
          <p:cNvPr id="33" name="Shape 31"/>
          <p:cNvSpPr/>
          <p:nvPr/>
        </p:nvSpPr>
        <p:spPr>
          <a:xfrm>
            <a:off x="365760" y="4114800"/>
            <a:ext cx="8412480" cy="640080"/>
          </a:xfrm>
          <a:prstGeom prst="rect">
            <a:avLst/>
          </a:prstGeom>
          <a:solidFill>
            <a:srgbClr val="1E293B"/>
          </a:solidFill>
          <a:ln w="12700">
            <a:solidFill>
              <a:srgbClr val="000000"/>
            </a:solidFill>
            <a:prstDash val="solid"/>
          </a:ln>
        </p:spPr>
      </p:sp>
      <p:sp>
        <p:nvSpPr>
          <p:cNvPr id="34" name="Text 32"/>
          <p:cNvSpPr/>
          <p:nvPr/>
        </p:nvSpPr>
        <p:spPr>
          <a:xfrm>
            <a:off x="502920" y="4114800"/>
            <a:ext cx="8229600" cy="640080"/>
          </a:xfrm>
          <a:prstGeom prst="rect">
            <a:avLst/>
          </a:prstGeom>
          <a:noFill/>
          <a:ln/>
        </p:spPr>
        <p:txBody>
          <a:bodyPr wrap="square" rtlCol="0" anchor="ctr"/>
          <a:lstStyle/>
          <a:p>
            <a:pPr indent="0" marL="0">
              <a:buNone/>
            </a:pPr>
            <a:r>
              <a:rPr lang="en-US" sz="900" dirty="0">
                <a:solidFill>
                  <a:srgbClr val="A5F3FC"/>
                </a:solidFill>
                <a:latin typeface="Consolas" pitchFamily="34" charset="0"/>
                <a:ea typeface="Consolas" pitchFamily="34" charset="-122"/>
                <a:cs typeface="Consolas" pitchFamily="34" charset="-120"/>
              </a:rPr>
              <a:t># Build FAISS index for fast similarity search</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index = faiss.IndexFlatL2(dimension)  # dimension = 384</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index.add(np.array(corpus_embeddings))</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D, I = index.search(query_embedding, k=3)  # top-3 matches</a:t>
            </a:r>
            <a:endParaRPr lang="en-US" sz="900" dirty="0"/>
          </a:p>
        </p:txBody>
      </p:sp>
      <p:sp>
        <p:nvSpPr>
          <p:cNvPr id="35" name="Text 33"/>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7C3AED">
              <a:alpha val="80000"/>
            </a:srgbClr>
          </a:solidFill>
          <a:ln w="12700">
            <a:solidFill>
              <a:srgbClr val="7C3AED"/>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05 · PLAGIARISM</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Plagiarism Detection — Test Cases &amp; Output</a:t>
            </a:r>
            <a:endParaRPr lang="en-US" sz="2600" dirty="0"/>
          </a:p>
        </p:txBody>
      </p:sp>
      <p:sp>
        <p:nvSpPr>
          <p:cNvPr id="5" name="Shape 3"/>
          <p:cNvSpPr/>
          <p:nvPr/>
        </p:nvSpPr>
        <p:spPr>
          <a:xfrm>
            <a:off x="365760" y="1298448"/>
            <a:ext cx="8412480" cy="256032"/>
          </a:xfrm>
          <a:prstGeom prst="rect">
            <a:avLst/>
          </a:prstGeom>
          <a:solidFill>
            <a:srgbClr val="EF4444"/>
          </a:solidFill>
          <a:ln w="12700">
            <a:solidFill>
              <a:srgbClr val="000000"/>
            </a:solidFill>
            <a:prstDash val="solid"/>
          </a:ln>
        </p:spPr>
      </p:sp>
      <p:sp>
        <p:nvSpPr>
          <p:cNvPr id="6" name="Text 4"/>
          <p:cNvSpPr/>
          <p:nvPr/>
        </p:nvSpPr>
        <p:spPr>
          <a:xfrm>
            <a:off x="457200" y="1298448"/>
            <a:ext cx="8229600" cy="256032"/>
          </a:xfrm>
          <a:prstGeom prst="rect">
            <a:avLst/>
          </a:prstGeom>
          <a:noFill/>
          <a:ln/>
        </p:spPr>
        <p:txBody>
          <a:bodyPr wrap="square" lIns="0" tIns="0" rIns="0" bIns="0" rtlCol="0" anchor="ctr"/>
          <a:lstStyle/>
          <a:p>
            <a:pPr indent="0" marL="0">
              <a:buNone/>
            </a:pPr>
            <a:r>
              <a:rPr lang="en-US" sz="1000" b="1" dirty="0">
                <a:solidFill>
                  <a:srgbClr val="FFFFFF"/>
                </a:solidFill>
              </a:rPr>
              <a:t>TEST 1 — DIRECT COPY</a:t>
            </a:r>
            <a:endParaRPr lang="en-US" sz="1000" dirty="0"/>
          </a:p>
        </p:txBody>
      </p:sp>
      <p:sp>
        <p:nvSpPr>
          <p:cNvPr id="7" name="Shape 5"/>
          <p:cNvSpPr/>
          <p:nvPr/>
        </p:nvSpPr>
        <p:spPr>
          <a:xfrm>
            <a:off x="365760" y="1554480"/>
            <a:ext cx="8412480" cy="822960"/>
          </a:xfrm>
          <a:prstGeom prst="rect">
            <a:avLst/>
          </a:prstGeom>
          <a:solidFill>
            <a:srgbClr val="FFFFFF"/>
          </a:solidFill>
          <a:ln w="12700">
            <a:solidFill>
              <a:srgbClr val="CBD5E1"/>
            </a:solidFill>
            <a:prstDash val="solid"/>
          </a:ln>
        </p:spPr>
      </p:sp>
      <p:sp>
        <p:nvSpPr>
          <p:cNvPr id="8" name="Text 6"/>
          <p:cNvSpPr/>
          <p:nvPr/>
        </p:nvSpPr>
        <p:spPr>
          <a:xfrm>
            <a:off x="502920" y="1572768"/>
            <a:ext cx="6400800" cy="256032"/>
          </a:xfrm>
          <a:prstGeom prst="rect">
            <a:avLst/>
          </a:prstGeom>
          <a:noFill/>
          <a:ln/>
        </p:spPr>
        <p:txBody>
          <a:bodyPr wrap="square" lIns="0" tIns="0" rIns="0" bIns="0" rtlCol="0" anchor="ctr"/>
          <a:lstStyle/>
          <a:p>
            <a:pPr indent="0" marL="0">
              <a:buNone/>
            </a:pPr>
            <a:r>
              <a:rPr lang="en-US" sz="900" dirty="0">
                <a:solidFill>
                  <a:srgbClr val="64748B"/>
                </a:solidFill>
              </a:rPr>
              <a:t>Query: "Artificial intelligence is transforming the healthcare sector by improving diagnostic accuracy."</a:t>
            </a:r>
            <a:endParaRPr lang="en-US" sz="900" dirty="0"/>
          </a:p>
        </p:txBody>
      </p:sp>
      <p:sp>
        <p:nvSpPr>
          <p:cNvPr id="9" name="Text 7"/>
          <p:cNvSpPr/>
          <p:nvPr/>
        </p:nvSpPr>
        <p:spPr>
          <a:xfrm>
            <a:off x="502920" y="1828800"/>
            <a:ext cx="6400800" cy="256032"/>
          </a:xfrm>
          <a:prstGeom prst="rect">
            <a:avLst/>
          </a:prstGeom>
          <a:noFill/>
          <a:ln/>
        </p:spPr>
        <p:txBody>
          <a:bodyPr wrap="square" lIns="0" tIns="0" rIns="0" bIns="0" rtlCol="0" anchor="ctr"/>
          <a:lstStyle/>
          <a:p>
            <a:pPr indent="0" marL="0">
              <a:buNone/>
            </a:pPr>
            <a:r>
              <a:rPr lang="en-US" sz="900" dirty="0">
                <a:solidFill>
                  <a:srgbClr val="1E293B"/>
                </a:solidFill>
              </a:rPr>
              <a:t>Top Match: "Artificial intelligence improves healthcare systems by supporting diagnosis and treatment planning."</a:t>
            </a:r>
            <a:endParaRPr lang="en-US" sz="900" dirty="0"/>
          </a:p>
        </p:txBody>
      </p:sp>
      <p:sp>
        <p:nvSpPr>
          <p:cNvPr id="10" name="Shape 8"/>
          <p:cNvSpPr/>
          <p:nvPr/>
        </p:nvSpPr>
        <p:spPr>
          <a:xfrm>
            <a:off x="6949440" y="1618488"/>
            <a:ext cx="1737360" cy="621792"/>
          </a:xfrm>
          <a:prstGeom prst="rect">
            <a:avLst/>
          </a:prstGeom>
          <a:solidFill>
            <a:srgbClr val="EF4444">
              <a:alpha val="90000"/>
            </a:srgbClr>
          </a:solidFill>
          <a:ln w="12700">
            <a:solidFill>
              <a:srgbClr val="000000"/>
            </a:solidFill>
            <a:prstDash val="solid"/>
          </a:ln>
        </p:spPr>
      </p:sp>
      <p:sp>
        <p:nvSpPr>
          <p:cNvPr id="11" name="Text 9"/>
          <p:cNvSpPr/>
          <p:nvPr/>
        </p:nvSpPr>
        <p:spPr>
          <a:xfrm>
            <a:off x="6949440" y="1618488"/>
            <a:ext cx="1737360" cy="621792"/>
          </a:xfrm>
          <a:prstGeom prst="rect">
            <a:avLst/>
          </a:prstGeom>
          <a:noFill/>
          <a:ln/>
        </p:spPr>
        <p:txBody>
          <a:bodyPr wrap="square" rtlCol="0" anchor="ctr"/>
          <a:lstStyle/>
          <a:p>
            <a:pPr algn="ctr" indent="0" marL="0">
              <a:buNone/>
            </a:pPr>
            <a:r>
              <a:rPr lang="en-US" sz="900" b="1" dirty="0">
                <a:solidFill>
                  <a:srgbClr val="FFFFFF"/>
                </a:solidFill>
              </a:rPr>
              <a:t>Score: 0.9621</a:t>
            </a:r>
            <a:endParaRPr lang="en-US" sz="900" dirty="0"/>
          </a:p>
          <a:p>
            <a:pPr algn="ctr" indent="0" marL="0">
              <a:buNone/>
            </a:pPr>
            <a:r>
              <a:rPr lang="en-US" sz="900" b="1" dirty="0">
                <a:solidFill>
                  <a:srgbClr val="FFFFFF"/>
                </a:solidFill>
              </a:rPr>
              <a:t>High Risk (Possible Plagiarism)</a:t>
            </a:r>
            <a:endParaRPr lang="en-US" sz="900" dirty="0"/>
          </a:p>
        </p:txBody>
      </p:sp>
      <p:sp>
        <p:nvSpPr>
          <p:cNvPr id="12" name="Shape 10"/>
          <p:cNvSpPr/>
          <p:nvPr/>
        </p:nvSpPr>
        <p:spPr>
          <a:xfrm>
            <a:off x="365760" y="2487168"/>
            <a:ext cx="8412480" cy="256032"/>
          </a:xfrm>
          <a:prstGeom prst="rect">
            <a:avLst/>
          </a:prstGeom>
          <a:solidFill>
            <a:srgbClr val="F97316"/>
          </a:solidFill>
          <a:ln w="12700">
            <a:solidFill>
              <a:srgbClr val="000000"/>
            </a:solidFill>
            <a:prstDash val="solid"/>
          </a:ln>
        </p:spPr>
      </p:sp>
      <p:sp>
        <p:nvSpPr>
          <p:cNvPr id="13" name="Text 11"/>
          <p:cNvSpPr/>
          <p:nvPr/>
        </p:nvSpPr>
        <p:spPr>
          <a:xfrm>
            <a:off x="457200" y="2487168"/>
            <a:ext cx="8229600" cy="256032"/>
          </a:xfrm>
          <a:prstGeom prst="rect">
            <a:avLst/>
          </a:prstGeom>
          <a:noFill/>
          <a:ln/>
        </p:spPr>
        <p:txBody>
          <a:bodyPr wrap="square" lIns="0" tIns="0" rIns="0" bIns="0" rtlCol="0" anchor="ctr"/>
          <a:lstStyle/>
          <a:p>
            <a:pPr indent="0" marL="0">
              <a:buNone/>
            </a:pPr>
            <a:r>
              <a:rPr lang="en-US" sz="1000" b="1" dirty="0">
                <a:solidFill>
                  <a:srgbClr val="FFFFFF"/>
                </a:solidFill>
              </a:rPr>
              <a:t>TEST 2 — PARAPHRASED</a:t>
            </a:r>
            <a:endParaRPr lang="en-US" sz="1000" dirty="0"/>
          </a:p>
        </p:txBody>
      </p:sp>
      <p:sp>
        <p:nvSpPr>
          <p:cNvPr id="14" name="Shape 12"/>
          <p:cNvSpPr/>
          <p:nvPr/>
        </p:nvSpPr>
        <p:spPr>
          <a:xfrm>
            <a:off x="365760" y="2743200"/>
            <a:ext cx="8412480" cy="822960"/>
          </a:xfrm>
          <a:prstGeom prst="rect">
            <a:avLst/>
          </a:prstGeom>
          <a:solidFill>
            <a:srgbClr val="FFFFFF"/>
          </a:solidFill>
          <a:ln w="12700">
            <a:solidFill>
              <a:srgbClr val="CBD5E1"/>
            </a:solidFill>
            <a:prstDash val="solid"/>
          </a:ln>
        </p:spPr>
      </p:sp>
      <p:sp>
        <p:nvSpPr>
          <p:cNvPr id="15" name="Text 13"/>
          <p:cNvSpPr/>
          <p:nvPr/>
        </p:nvSpPr>
        <p:spPr>
          <a:xfrm>
            <a:off x="502920" y="2761488"/>
            <a:ext cx="6400800" cy="256032"/>
          </a:xfrm>
          <a:prstGeom prst="rect">
            <a:avLst/>
          </a:prstGeom>
          <a:noFill/>
          <a:ln/>
        </p:spPr>
        <p:txBody>
          <a:bodyPr wrap="square" lIns="0" tIns="0" rIns="0" bIns="0" rtlCol="0" anchor="ctr"/>
          <a:lstStyle/>
          <a:p>
            <a:pPr indent="0" marL="0">
              <a:buNone/>
            </a:pPr>
            <a:r>
              <a:rPr lang="en-US" sz="900" dirty="0">
                <a:solidFill>
                  <a:srgbClr val="64748B"/>
                </a:solidFill>
              </a:rPr>
              <a:t>Query: "AI systems are revolutionizing medical diagnosis by enhancing the precision of healthcare decisions."</a:t>
            </a:r>
            <a:endParaRPr lang="en-US" sz="900" dirty="0"/>
          </a:p>
        </p:txBody>
      </p:sp>
      <p:sp>
        <p:nvSpPr>
          <p:cNvPr id="16" name="Text 14"/>
          <p:cNvSpPr/>
          <p:nvPr/>
        </p:nvSpPr>
        <p:spPr>
          <a:xfrm>
            <a:off x="502920" y="3017520"/>
            <a:ext cx="6400800" cy="256032"/>
          </a:xfrm>
          <a:prstGeom prst="rect">
            <a:avLst/>
          </a:prstGeom>
          <a:noFill/>
          <a:ln/>
        </p:spPr>
        <p:txBody>
          <a:bodyPr wrap="square" lIns="0" tIns="0" rIns="0" bIns="0" rtlCol="0" anchor="ctr"/>
          <a:lstStyle/>
          <a:p>
            <a:pPr indent="0" marL="0">
              <a:buNone/>
            </a:pPr>
            <a:r>
              <a:rPr lang="en-US" sz="900" dirty="0">
                <a:solidFill>
                  <a:srgbClr val="1E293B"/>
                </a:solidFill>
              </a:rPr>
              <a:t>Top Match: "Artificial intelligence improves healthcare systems by supporting diagnosis and treatment planning."</a:t>
            </a:r>
            <a:endParaRPr lang="en-US" sz="900" dirty="0"/>
          </a:p>
        </p:txBody>
      </p:sp>
      <p:sp>
        <p:nvSpPr>
          <p:cNvPr id="17" name="Shape 15"/>
          <p:cNvSpPr/>
          <p:nvPr/>
        </p:nvSpPr>
        <p:spPr>
          <a:xfrm>
            <a:off x="6949440" y="2807208"/>
            <a:ext cx="1737360" cy="621792"/>
          </a:xfrm>
          <a:prstGeom prst="rect">
            <a:avLst/>
          </a:prstGeom>
          <a:solidFill>
            <a:srgbClr val="F97316">
              <a:alpha val="90000"/>
            </a:srgbClr>
          </a:solidFill>
          <a:ln w="12700">
            <a:solidFill>
              <a:srgbClr val="000000"/>
            </a:solidFill>
            <a:prstDash val="solid"/>
          </a:ln>
        </p:spPr>
      </p:sp>
      <p:sp>
        <p:nvSpPr>
          <p:cNvPr id="18" name="Text 16"/>
          <p:cNvSpPr/>
          <p:nvPr/>
        </p:nvSpPr>
        <p:spPr>
          <a:xfrm>
            <a:off x="6949440" y="2807208"/>
            <a:ext cx="1737360" cy="621792"/>
          </a:xfrm>
          <a:prstGeom prst="rect">
            <a:avLst/>
          </a:prstGeom>
          <a:noFill/>
          <a:ln/>
        </p:spPr>
        <p:txBody>
          <a:bodyPr wrap="square" rtlCol="0" anchor="ctr"/>
          <a:lstStyle/>
          <a:p>
            <a:pPr algn="ctr" indent="0" marL="0">
              <a:buNone/>
            </a:pPr>
            <a:r>
              <a:rPr lang="en-US" sz="900" b="1" dirty="0">
                <a:solidFill>
                  <a:srgbClr val="FFFFFF"/>
                </a:solidFill>
              </a:rPr>
              <a:t>Score: 0.8317</a:t>
            </a:r>
            <a:endParaRPr lang="en-US" sz="900" dirty="0"/>
          </a:p>
          <a:p>
            <a:pPr algn="ctr" indent="0" marL="0">
              <a:buNone/>
            </a:pPr>
            <a:r>
              <a:rPr lang="en-US" sz="900" b="1" dirty="0">
                <a:solidFill>
                  <a:srgbClr val="FFFFFF"/>
                </a:solidFill>
              </a:rPr>
              <a:t>High Risk (Possible Plagiarism)</a:t>
            </a:r>
            <a:endParaRPr lang="en-US" sz="900" dirty="0"/>
          </a:p>
        </p:txBody>
      </p:sp>
      <p:sp>
        <p:nvSpPr>
          <p:cNvPr id="19" name="Shape 17"/>
          <p:cNvSpPr/>
          <p:nvPr/>
        </p:nvSpPr>
        <p:spPr>
          <a:xfrm>
            <a:off x="365760" y="3675888"/>
            <a:ext cx="8412480" cy="256032"/>
          </a:xfrm>
          <a:prstGeom prst="rect">
            <a:avLst/>
          </a:prstGeom>
          <a:solidFill>
            <a:srgbClr val="10B981"/>
          </a:solidFill>
          <a:ln w="12700">
            <a:solidFill>
              <a:srgbClr val="000000"/>
            </a:solidFill>
            <a:prstDash val="solid"/>
          </a:ln>
        </p:spPr>
      </p:sp>
      <p:sp>
        <p:nvSpPr>
          <p:cNvPr id="20" name="Text 18"/>
          <p:cNvSpPr/>
          <p:nvPr/>
        </p:nvSpPr>
        <p:spPr>
          <a:xfrm>
            <a:off x="457200" y="3675888"/>
            <a:ext cx="8229600" cy="256032"/>
          </a:xfrm>
          <a:prstGeom prst="rect">
            <a:avLst/>
          </a:prstGeom>
          <a:noFill/>
          <a:ln/>
        </p:spPr>
        <p:txBody>
          <a:bodyPr wrap="square" lIns="0" tIns="0" rIns="0" bIns="0" rtlCol="0" anchor="ctr"/>
          <a:lstStyle/>
          <a:p>
            <a:pPr indent="0" marL="0">
              <a:buNone/>
            </a:pPr>
            <a:r>
              <a:rPr lang="en-US" sz="1000" b="1" dirty="0">
                <a:solidFill>
                  <a:srgbClr val="FFFFFF"/>
                </a:solidFill>
              </a:rPr>
              <a:t>TEST 3 — ORIGINAL TEXT</a:t>
            </a:r>
            <a:endParaRPr lang="en-US" sz="1000" dirty="0"/>
          </a:p>
        </p:txBody>
      </p:sp>
      <p:sp>
        <p:nvSpPr>
          <p:cNvPr id="21" name="Shape 19"/>
          <p:cNvSpPr/>
          <p:nvPr/>
        </p:nvSpPr>
        <p:spPr>
          <a:xfrm>
            <a:off x="365760" y="3931920"/>
            <a:ext cx="8412480" cy="822960"/>
          </a:xfrm>
          <a:prstGeom prst="rect">
            <a:avLst/>
          </a:prstGeom>
          <a:solidFill>
            <a:srgbClr val="FFFFFF"/>
          </a:solidFill>
          <a:ln w="12700">
            <a:solidFill>
              <a:srgbClr val="CBD5E1"/>
            </a:solidFill>
            <a:prstDash val="solid"/>
          </a:ln>
        </p:spPr>
      </p:sp>
      <p:sp>
        <p:nvSpPr>
          <p:cNvPr id="22" name="Text 20"/>
          <p:cNvSpPr/>
          <p:nvPr/>
        </p:nvSpPr>
        <p:spPr>
          <a:xfrm>
            <a:off x="502920" y="3950208"/>
            <a:ext cx="6400800" cy="256032"/>
          </a:xfrm>
          <a:prstGeom prst="rect">
            <a:avLst/>
          </a:prstGeom>
          <a:noFill/>
          <a:ln/>
        </p:spPr>
        <p:txBody>
          <a:bodyPr wrap="square" lIns="0" tIns="0" rIns="0" bIns="0" rtlCol="0" anchor="ctr"/>
          <a:lstStyle/>
          <a:p>
            <a:pPr indent="0" marL="0">
              <a:buNone/>
            </a:pPr>
            <a:r>
              <a:rPr lang="en-US" sz="900" dirty="0">
                <a:solidFill>
                  <a:srgbClr val="64748B"/>
                </a:solidFill>
              </a:rPr>
              <a:t>Query: "The history of ancient Rome spans several centuries and includes the rise and fall of the empire."</a:t>
            </a:r>
            <a:endParaRPr lang="en-US" sz="900" dirty="0"/>
          </a:p>
        </p:txBody>
      </p:sp>
      <p:sp>
        <p:nvSpPr>
          <p:cNvPr id="23" name="Text 21"/>
          <p:cNvSpPr/>
          <p:nvPr/>
        </p:nvSpPr>
        <p:spPr>
          <a:xfrm>
            <a:off x="502920" y="4206240"/>
            <a:ext cx="6400800" cy="256032"/>
          </a:xfrm>
          <a:prstGeom prst="rect">
            <a:avLst/>
          </a:prstGeom>
          <a:noFill/>
          <a:ln/>
        </p:spPr>
        <p:txBody>
          <a:bodyPr wrap="square" lIns="0" tIns="0" rIns="0" bIns="0" rtlCol="0" anchor="ctr"/>
          <a:lstStyle/>
          <a:p>
            <a:pPr indent="0" marL="0">
              <a:buNone/>
            </a:pPr>
            <a:r>
              <a:rPr lang="en-US" sz="900" dirty="0">
                <a:solidFill>
                  <a:srgbClr val="1E293B"/>
                </a:solidFill>
              </a:rPr>
              <a:t>Top Match: "Plagiarism detection systems compare text similarity to identify copied or reworded content."</a:t>
            </a:r>
            <a:endParaRPr lang="en-US" sz="900" dirty="0"/>
          </a:p>
        </p:txBody>
      </p:sp>
      <p:sp>
        <p:nvSpPr>
          <p:cNvPr id="24" name="Shape 22"/>
          <p:cNvSpPr/>
          <p:nvPr/>
        </p:nvSpPr>
        <p:spPr>
          <a:xfrm>
            <a:off x="6949440" y="3995928"/>
            <a:ext cx="1737360" cy="621792"/>
          </a:xfrm>
          <a:prstGeom prst="rect">
            <a:avLst/>
          </a:prstGeom>
          <a:solidFill>
            <a:srgbClr val="10B981">
              <a:alpha val="90000"/>
            </a:srgbClr>
          </a:solidFill>
          <a:ln w="12700">
            <a:solidFill>
              <a:srgbClr val="000000"/>
            </a:solidFill>
            <a:prstDash val="solid"/>
          </a:ln>
        </p:spPr>
      </p:sp>
      <p:sp>
        <p:nvSpPr>
          <p:cNvPr id="25" name="Text 23"/>
          <p:cNvSpPr/>
          <p:nvPr/>
        </p:nvSpPr>
        <p:spPr>
          <a:xfrm>
            <a:off x="6949440" y="3995928"/>
            <a:ext cx="1737360" cy="621792"/>
          </a:xfrm>
          <a:prstGeom prst="rect">
            <a:avLst/>
          </a:prstGeom>
          <a:noFill/>
          <a:ln/>
        </p:spPr>
        <p:txBody>
          <a:bodyPr wrap="square" rtlCol="0" anchor="ctr"/>
          <a:lstStyle/>
          <a:p>
            <a:pPr algn="ctr" indent="0" marL="0">
              <a:buNone/>
            </a:pPr>
            <a:r>
              <a:rPr lang="en-US" sz="900" b="1" dirty="0">
                <a:solidFill>
                  <a:srgbClr val="FFFFFF"/>
                </a:solidFill>
              </a:rPr>
              <a:t>Score: 0.2104</a:t>
            </a:r>
            <a:endParaRPr lang="en-US" sz="900" dirty="0"/>
          </a:p>
          <a:p>
            <a:pPr algn="ctr" indent="0" marL="0">
              <a:buNone/>
            </a:pPr>
            <a:r>
              <a:rPr lang="en-US" sz="900" b="1" dirty="0">
                <a:solidFill>
                  <a:srgbClr val="FFFFFF"/>
                </a:solidFill>
              </a:rPr>
              <a:t>Low Risk (Likely Original)</a:t>
            </a:r>
            <a:endParaRPr lang="en-US" sz="900" dirty="0"/>
          </a:p>
        </p:txBody>
      </p:sp>
      <p:sp>
        <p:nvSpPr>
          <p:cNvPr id="26" name="Text 24"/>
          <p:cNvSpPr/>
          <p:nvPr/>
        </p:nvSpPr>
        <p:spPr>
          <a:xfrm>
            <a:off x="365760" y="4754880"/>
            <a:ext cx="8412480" cy="256032"/>
          </a:xfrm>
          <a:prstGeom prst="rect">
            <a:avLst/>
          </a:prstGeom>
          <a:noFill/>
          <a:ln/>
        </p:spPr>
        <p:txBody>
          <a:bodyPr wrap="square" rtlCol="0" anchor="ctr"/>
          <a:lstStyle/>
          <a:p>
            <a:pPr algn="ctr" indent="0" marL="0">
              <a:buNone/>
            </a:pPr>
            <a:r>
              <a:rPr lang="en-US" sz="1050" b="1" dirty="0">
                <a:solidFill>
                  <a:srgbClr val="10B981"/>
                </a:solidFill>
              </a:rPr>
              <a:t>✅ SBERT correctly identifies direct copies AND paraphrased plagiarism — TF-IDF would have missed Test 2</a:t>
            </a:r>
            <a:endParaRPr lang="en-US" sz="1050" dirty="0"/>
          </a:p>
        </p:txBody>
      </p:sp>
      <p:sp>
        <p:nvSpPr>
          <p:cNvPr id="27" name="Text 25"/>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DATASET &amp; PREP</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800" b="1" dirty="0">
                <a:solidFill>
                  <a:srgbClr val="1E293B"/>
                </a:solidFill>
              </a:rPr>
              <a:t>Dataset &amp; Preprocessing Pipeline</a:t>
            </a:r>
            <a:endParaRPr lang="en-US" sz="2800" dirty="0"/>
          </a:p>
        </p:txBody>
      </p:sp>
      <p:sp>
        <p:nvSpPr>
          <p:cNvPr id="5" name="Shape 3"/>
          <p:cNvSpPr/>
          <p:nvPr/>
        </p:nvSpPr>
        <p:spPr>
          <a:xfrm>
            <a:off x="365760" y="1261872"/>
            <a:ext cx="4114800" cy="25603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7000"/>
              </a:srgbClr>
            </a:outerShdw>
          </a:effectLst>
        </p:spPr>
      </p:sp>
      <p:sp>
        <p:nvSpPr>
          <p:cNvPr id="6" name="Text 4"/>
          <p:cNvSpPr/>
          <p:nvPr/>
        </p:nvSpPr>
        <p:spPr>
          <a:xfrm>
            <a:off x="502920" y="1389888"/>
            <a:ext cx="3840480" cy="274320"/>
          </a:xfrm>
          <a:prstGeom prst="rect">
            <a:avLst/>
          </a:prstGeom>
          <a:noFill/>
          <a:ln/>
        </p:spPr>
        <p:txBody>
          <a:bodyPr wrap="square" rtlCol="0" anchor="ctr"/>
          <a:lstStyle/>
          <a:p>
            <a:pPr indent="0" marL="0">
              <a:buNone/>
            </a:pPr>
            <a:r>
              <a:rPr lang="en-US" sz="1300" b="1" dirty="0">
                <a:solidFill>
                  <a:srgbClr val="1A73E8"/>
                </a:solidFill>
              </a:rPr>
              <a:t>📊 CNN/DailyMail Dataset (v3.0.0)</a:t>
            </a:r>
            <a:endParaRPr lang="en-US" sz="1300" dirty="0"/>
          </a:p>
        </p:txBody>
      </p:sp>
      <p:sp>
        <p:nvSpPr>
          <p:cNvPr id="7" name="Shape 5"/>
          <p:cNvSpPr/>
          <p:nvPr/>
        </p:nvSpPr>
        <p:spPr>
          <a:xfrm>
            <a:off x="502920" y="1737360"/>
            <a:ext cx="3840480" cy="347472"/>
          </a:xfrm>
          <a:prstGeom prst="rect">
            <a:avLst/>
          </a:prstGeom>
          <a:solidFill>
            <a:srgbClr val="1A73E8"/>
          </a:solidFill>
          <a:ln w="6350">
            <a:solidFill>
              <a:srgbClr val="CBD5E1"/>
            </a:solidFill>
            <a:prstDash val="solid"/>
          </a:ln>
        </p:spPr>
      </p:sp>
      <p:sp>
        <p:nvSpPr>
          <p:cNvPr id="8" name="Text 6"/>
          <p:cNvSpPr/>
          <p:nvPr/>
        </p:nvSpPr>
        <p:spPr>
          <a:xfrm>
            <a:off x="548640" y="1755648"/>
            <a:ext cx="1874520" cy="310896"/>
          </a:xfrm>
          <a:prstGeom prst="rect">
            <a:avLst/>
          </a:prstGeom>
          <a:noFill/>
          <a:ln/>
        </p:spPr>
        <p:txBody>
          <a:bodyPr wrap="square" lIns="0" tIns="0" rIns="50800" bIns="0" rtlCol="0" anchor="ctr"/>
          <a:lstStyle/>
          <a:p>
            <a:pPr indent="0" marL="0">
              <a:buNone/>
            </a:pPr>
            <a:r>
              <a:rPr lang="en-US" sz="950" b="1" dirty="0">
                <a:solidFill>
                  <a:srgbClr val="FFFFFF"/>
                </a:solidFill>
              </a:rPr>
              <a:t>Field</a:t>
            </a:r>
            <a:endParaRPr lang="en-US" sz="950" dirty="0"/>
          </a:p>
        </p:txBody>
      </p:sp>
      <p:sp>
        <p:nvSpPr>
          <p:cNvPr id="9" name="Text 7"/>
          <p:cNvSpPr/>
          <p:nvPr/>
        </p:nvSpPr>
        <p:spPr>
          <a:xfrm>
            <a:off x="2468880" y="1755648"/>
            <a:ext cx="1874520" cy="310896"/>
          </a:xfrm>
          <a:prstGeom prst="rect">
            <a:avLst/>
          </a:prstGeom>
          <a:noFill/>
          <a:ln/>
        </p:spPr>
        <p:txBody>
          <a:bodyPr wrap="square" lIns="0" tIns="0" rIns="50800" bIns="0" rtlCol="0" anchor="ctr"/>
          <a:lstStyle/>
          <a:p>
            <a:pPr indent="0" marL="0">
              <a:buNone/>
            </a:pPr>
            <a:r>
              <a:rPr lang="en-US" sz="950" b="1" dirty="0">
                <a:solidFill>
                  <a:srgbClr val="FFFFFF"/>
                </a:solidFill>
              </a:rPr>
              <a:t>Description</a:t>
            </a:r>
            <a:endParaRPr lang="en-US" sz="950" dirty="0"/>
          </a:p>
        </p:txBody>
      </p:sp>
      <p:sp>
        <p:nvSpPr>
          <p:cNvPr id="10" name="Shape 8"/>
          <p:cNvSpPr/>
          <p:nvPr/>
        </p:nvSpPr>
        <p:spPr>
          <a:xfrm>
            <a:off x="502920" y="2148840"/>
            <a:ext cx="3840480" cy="347472"/>
          </a:xfrm>
          <a:prstGeom prst="rect">
            <a:avLst/>
          </a:prstGeom>
          <a:solidFill>
            <a:srgbClr val="FFFFFF"/>
          </a:solidFill>
          <a:ln w="6350">
            <a:solidFill>
              <a:srgbClr val="CBD5E1"/>
            </a:solidFill>
            <a:prstDash val="solid"/>
          </a:ln>
        </p:spPr>
      </p:sp>
      <p:sp>
        <p:nvSpPr>
          <p:cNvPr id="11" name="Text 9"/>
          <p:cNvSpPr/>
          <p:nvPr/>
        </p:nvSpPr>
        <p:spPr>
          <a:xfrm>
            <a:off x="548640" y="216712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article</a:t>
            </a:r>
            <a:endParaRPr lang="en-US" sz="950" dirty="0"/>
          </a:p>
        </p:txBody>
      </p:sp>
      <p:sp>
        <p:nvSpPr>
          <p:cNvPr id="12" name="Text 10"/>
          <p:cNvSpPr/>
          <p:nvPr/>
        </p:nvSpPr>
        <p:spPr>
          <a:xfrm>
            <a:off x="2468880" y="216712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Full news article (model input)</a:t>
            </a:r>
            <a:endParaRPr lang="en-US" sz="950" dirty="0"/>
          </a:p>
        </p:txBody>
      </p:sp>
      <p:sp>
        <p:nvSpPr>
          <p:cNvPr id="13" name="Shape 11"/>
          <p:cNvSpPr/>
          <p:nvPr/>
        </p:nvSpPr>
        <p:spPr>
          <a:xfrm>
            <a:off x="502920" y="2560320"/>
            <a:ext cx="3840480" cy="347472"/>
          </a:xfrm>
          <a:prstGeom prst="rect">
            <a:avLst/>
          </a:prstGeom>
          <a:solidFill>
            <a:srgbClr val="EFF6FF"/>
          </a:solidFill>
          <a:ln w="6350">
            <a:solidFill>
              <a:srgbClr val="CBD5E1"/>
            </a:solidFill>
            <a:prstDash val="solid"/>
          </a:ln>
        </p:spPr>
      </p:sp>
      <p:sp>
        <p:nvSpPr>
          <p:cNvPr id="14" name="Text 12"/>
          <p:cNvSpPr/>
          <p:nvPr/>
        </p:nvSpPr>
        <p:spPr>
          <a:xfrm>
            <a:off x="548640" y="257860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highlights</a:t>
            </a:r>
            <a:endParaRPr lang="en-US" sz="950" dirty="0"/>
          </a:p>
        </p:txBody>
      </p:sp>
      <p:sp>
        <p:nvSpPr>
          <p:cNvPr id="15" name="Text 13"/>
          <p:cNvSpPr/>
          <p:nvPr/>
        </p:nvSpPr>
        <p:spPr>
          <a:xfrm>
            <a:off x="2468880" y="257860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Human-written summary (ROUGE reference)</a:t>
            </a:r>
            <a:endParaRPr lang="en-US" sz="950" dirty="0"/>
          </a:p>
        </p:txBody>
      </p:sp>
      <p:sp>
        <p:nvSpPr>
          <p:cNvPr id="16" name="Shape 14"/>
          <p:cNvSpPr/>
          <p:nvPr/>
        </p:nvSpPr>
        <p:spPr>
          <a:xfrm>
            <a:off x="502920" y="2971800"/>
            <a:ext cx="3840480" cy="347472"/>
          </a:xfrm>
          <a:prstGeom prst="rect">
            <a:avLst/>
          </a:prstGeom>
          <a:solidFill>
            <a:srgbClr val="FFFFFF"/>
          </a:solidFill>
          <a:ln w="6350">
            <a:solidFill>
              <a:srgbClr val="CBD5E1"/>
            </a:solidFill>
            <a:prstDash val="solid"/>
          </a:ln>
        </p:spPr>
      </p:sp>
      <p:sp>
        <p:nvSpPr>
          <p:cNvPr id="17" name="Text 15"/>
          <p:cNvSpPr/>
          <p:nvPr/>
        </p:nvSpPr>
        <p:spPr>
          <a:xfrm>
            <a:off x="548640" y="299008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Split used</a:t>
            </a:r>
            <a:endParaRPr lang="en-US" sz="950" dirty="0"/>
          </a:p>
        </p:txBody>
      </p:sp>
      <p:sp>
        <p:nvSpPr>
          <p:cNvPr id="18" name="Text 16"/>
          <p:cNvSpPr/>
          <p:nvPr/>
        </p:nvSpPr>
        <p:spPr>
          <a:xfrm>
            <a:off x="2468880" y="299008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train[:10] for demo speed</a:t>
            </a:r>
            <a:endParaRPr lang="en-US" sz="950" dirty="0"/>
          </a:p>
        </p:txBody>
      </p:sp>
      <p:sp>
        <p:nvSpPr>
          <p:cNvPr id="19" name="Shape 17"/>
          <p:cNvSpPr/>
          <p:nvPr/>
        </p:nvSpPr>
        <p:spPr>
          <a:xfrm>
            <a:off x="502920" y="3383280"/>
            <a:ext cx="3840480" cy="347472"/>
          </a:xfrm>
          <a:prstGeom prst="rect">
            <a:avLst/>
          </a:prstGeom>
          <a:solidFill>
            <a:srgbClr val="EFF6FF"/>
          </a:solidFill>
          <a:ln w="6350">
            <a:solidFill>
              <a:srgbClr val="CBD5E1"/>
            </a:solidFill>
            <a:prstDash val="solid"/>
          </a:ln>
        </p:spPr>
      </p:sp>
      <p:sp>
        <p:nvSpPr>
          <p:cNvPr id="20" name="Text 18"/>
          <p:cNvSpPr/>
          <p:nvPr/>
        </p:nvSpPr>
        <p:spPr>
          <a:xfrm>
            <a:off x="548640" y="340156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Full size</a:t>
            </a:r>
            <a:endParaRPr lang="en-US" sz="950" dirty="0"/>
          </a:p>
        </p:txBody>
      </p:sp>
      <p:sp>
        <p:nvSpPr>
          <p:cNvPr id="21" name="Text 19"/>
          <p:cNvSpPr/>
          <p:nvPr/>
        </p:nvSpPr>
        <p:spPr>
          <a:xfrm>
            <a:off x="2468880" y="3401568"/>
            <a:ext cx="1874520" cy="310896"/>
          </a:xfrm>
          <a:prstGeom prst="rect">
            <a:avLst/>
          </a:prstGeom>
          <a:noFill/>
          <a:ln/>
        </p:spPr>
        <p:txBody>
          <a:bodyPr wrap="square" lIns="0" tIns="0" rIns="50800" bIns="0" rtlCol="0" anchor="ctr"/>
          <a:lstStyle/>
          <a:p>
            <a:pPr indent="0" marL="0">
              <a:buNone/>
            </a:pPr>
            <a:r>
              <a:rPr lang="en-US" sz="950" dirty="0">
                <a:solidFill>
                  <a:srgbClr val="1E293B"/>
                </a:solidFill>
              </a:rPr>
              <a:t>~300K article-summary pairs</a:t>
            </a:r>
            <a:endParaRPr lang="en-US" sz="950" dirty="0"/>
          </a:p>
        </p:txBody>
      </p:sp>
      <p:sp>
        <p:nvSpPr>
          <p:cNvPr id="22" name="Shape 20"/>
          <p:cNvSpPr/>
          <p:nvPr/>
        </p:nvSpPr>
        <p:spPr>
          <a:xfrm>
            <a:off x="4663440" y="1261872"/>
            <a:ext cx="4206240" cy="2560320"/>
          </a:xfrm>
          <a:prstGeom prst="rect">
            <a:avLst/>
          </a:prstGeom>
          <a:solidFill>
            <a:srgbClr val="FFFFFF"/>
          </a:solidFill>
          <a:ln w="12700">
            <a:solidFill>
              <a:srgbClr val="BFDBFE"/>
            </a:solidFill>
            <a:prstDash val="solid"/>
          </a:ln>
          <a:effectLst>
            <a:outerShdw sx="100000" sy="100000" kx="0" ky="0" algn="bl" rotWithShape="0" blurRad="63500" dist="25400" dir="8100000">
              <a:srgbClr val="000000">
                <a:alpha val="7000"/>
              </a:srgbClr>
            </a:outerShdw>
          </a:effectLst>
        </p:spPr>
      </p:sp>
      <p:sp>
        <p:nvSpPr>
          <p:cNvPr id="23" name="Text 21"/>
          <p:cNvSpPr/>
          <p:nvPr/>
        </p:nvSpPr>
        <p:spPr>
          <a:xfrm>
            <a:off x="4800600" y="1389888"/>
            <a:ext cx="3931920" cy="274320"/>
          </a:xfrm>
          <a:prstGeom prst="rect">
            <a:avLst/>
          </a:prstGeom>
          <a:noFill/>
          <a:ln/>
        </p:spPr>
        <p:txBody>
          <a:bodyPr wrap="square" rtlCol="0" anchor="ctr"/>
          <a:lstStyle/>
          <a:p>
            <a:pPr indent="0" marL="0">
              <a:buNone/>
            </a:pPr>
            <a:r>
              <a:rPr lang="en-US" sz="1300" b="1" dirty="0">
                <a:solidFill>
                  <a:srgbClr val="00BFA5"/>
                </a:solidFill>
              </a:rPr>
              <a:t>🔧 preprocess_text() Function</a:t>
            </a:r>
            <a:endParaRPr lang="en-US" sz="1300" dirty="0"/>
          </a:p>
        </p:txBody>
      </p:sp>
      <p:sp>
        <p:nvSpPr>
          <p:cNvPr id="24" name="Shape 22"/>
          <p:cNvSpPr/>
          <p:nvPr/>
        </p:nvSpPr>
        <p:spPr>
          <a:xfrm>
            <a:off x="4663440" y="1737360"/>
            <a:ext cx="4206240" cy="1234440"/>
          </a:xfrm>
          <a:prstGeom prst="rect">
            <a:avLst/>
          </a:prstGeom>
          <a:solidFill>
            <a:srgbClr val="1E293B"/>
          </a:solidFill>
          <a:ln w="12700">
            <a:solidFill>
              <a:srgbClr val="000000"/>
            </a:solidFill>
            <a:prstDash val="solid"/>
          </a:ln>
        </p:spPr>
      </p:sp>
      <p:sp>
        <p:nvSpPr>
          <p:cNvPr id="25" name="Text 23"/>
          <p:cNvSpPr/>
          <p:nvPr/>
        </p:nvSpPr>
        <p:spPr>
          <a:xfrm>
            <a:off x="4709160" y="1755648"/>
            <a:ext cx="4114800" cy="1143000"/>
          </a:xfrm>
          <a:prstGeom prst="rect">
            <a:avLst/>
          </a:prstGeom>
          <a:noFill/>
          <a:ln/>
        </p:spPr>
        <p:txBody>
          <a:bodyPr wrap="square" lIns="50800" tIns="50800" rIns="50800" bIns="50800" rtlCol="0" anchor="t"/>
          <a:lstStyle/>
          <a:p>
            <a:pPr indent="0" marL="0">
              <a:buNone/>
            </a:pPr>
            <a:r>
              <a:rPr lang="en-US" sz="900" dirty="0">
                <a:solidFill>
                  <a:srgbClr val="A5F3FC"/>
                </a:solidFill>
                <a:latin typeface="Consolas" pitchFamily="34" charset="0"/>
                <a:ea typeface="Consolas" pitchFamily="34" charset="-122"/>
                <a:cs typeface="Consolas" pitchFamily="34" charset="-120"/>
              </a:rPr>
              <a:t>def preprocess_text(text, max_chars=1500):</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 Remove consecutive whitespace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text = re.sub(r'\s+', ' ', text).strip()</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 Truncate to token limit</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text = text[:max_chars]</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return text</a:t>
            </a:r>
            <a:endParaRPr lang="en-US" sz="900" dirty="0"/>
          </a:p>
        </p:txBody>
      </p:sp>
      <p:sp>
        <p:nvSpPr>
          <p:cNvPr id="26" name="Text 24"/>
          <p:cNvSpPr/>
          <p:nvPr/>
        </p:nvSpPr>
        <p:spPr>
          <a:xfrm>
            <a:off x="4800600" y="3044952"/>
            <a:ext cx="3931920" cy="594360"/>
          </a:xfrm>
          <a:prstGeom prst="rect">
            <a:avLst/>
          </a:prstGeom>
          <a:noFill/>
          <a:ln/>
        </p:spPr>
        <p:txBody>
          <a:bodyPr wrap="square" rtlCol="0" anchor="ctr"/>
          <a:lstStyle/>
          <a:p>
            <a:pPr indent="0" marL="0">
              <a:buNone/>
            </a:pPr>
            <a:r>
              <a:rPr lang="en-US" sz="1000" dirty="0">
                <a:solidFill>
                  <a:srgbClr val="1E293B"/>
                </a:solidFill>
              </a:rPr>
              <a:t>Why 1,500 chars?</a:t>
            </a:r>
            <a:endParaRPr lang="en-US" sz="1000" dirty="0"/>
          </a:p>
          <a:p>
            <a:pPr indent="0" marL="0">
              <a:buNone/>
            </a:pPr>
            <a:r>
              <a:rPr lang="en-US" sz="1000" dirty="0">
                <a:solidFill>
                  <a:srgbClr val="1E293B"/>
                </a:solidFill>
              </a:rPr>
              <a:t>BART's maximum input is ~1,024 tokens ≈ 1,500 characters. Truncating beyond this prevents silent quality degradation.</a:t>
            </a:r>
            <a:endParaRPr lang="en-US" sz="1000" dirty="0"/>
          </a:p>
        </p:txBody>
      </p:sp>
      <p:sp>
        <p:nvSpPr>
          <p:cNvPr id="27" name="Shape 25"/>
          <p:cNvSpPr/>
          <p:nvPr/>
        </p:nvSpPr>
        <p:spPr>
          <a:xfrm>
            <a:off x="365760" y="4005072"/>
            <a:ext cx="1965960" cy="822960"/>
          </a:xfrm>
          <a:prstGeom prst="rect">
            <a:avLst/>
          </a:prstGeom>
          <a:solidFill>
            <a:srgbClr val="0D1B3E"/>
          </a:solidFill>
          <a:ln w="12700">
            <a:solidFill>
              <a:srgbClr val="1A73E8"/>
            </a:solidFill>
            <a:prstDash val="solid"/>
          </a:ln>
        </p:spPr>
      </p:sp>
      <p:sp>
        <p:nvSpPr>
          <p:cNvPr id="28" name="Text 26"/>
          <p:cNvSpPr/>
          <p:nvPr/>
        </p:nvSpPr>
        <p:spPr>
          <a:xfrm>
            <a:off x="365760" y="4041648"/>
            <a:ext cx="1965960" cy="411480"/>
          </a:xfrm>
          <a:prstGeom prst="rect">
            <a:avLst/>
          </a:prstGeom>
          <a:noFill/>
          <a:ln/>
        </p:spPr>
        <p:txBody>
          <a:bodyPr wrap="square" lIns="0" tIns="0" rIns="0" bIns="0" rtlCol="0" anchor="ctr"/>
          <a:lstStyle/>
          <a:p>
            <a:pPr algn="ctr" indent="0" marL="0">
              <a:buNone/>
            </a:pPr>
            <a:r>
              <a:rPr lang="en-US" sz="2200" b="1" dirty="0">
                <a:solidFill>
                  <a:srgbClr val="00BFA5"/>
                </a:solidFill>
              </a:rPr>
              <a:t>~1,024</a:t>
            </a:r>
            <a:endParaRPr lang="en-US" sz="2200" dirty="0"/>
          </a:p>
        </p:txBody>
      </p:sp>
      <p:sp>
        <p:nvSpPr>
          <p:cNvPr id="29" name="Text 27"/>
          <p:cNvSpPr/>
          <p:nvPr/>
        </p:nvSpPr>
        <p:spPr>
          <a:xfrm>
            <a:off x="365760" y="4453128"/>
            <a:ext cx="1965960" cy="274320"/>
          </a:xfrm>
          <a:prstGeom prst="rect">
            <a:avLst/>
          </a:prstGeom>
          <a:noFill/>
          <a:ln/>
        </p:spPr>
        <p:txBody>
          <a:bodyPr wrap="square" lIns="0" tIns="0" rIns="0" bIns="0" rtlCol="0" anchor="ctr"/>
          <a:lstStyle/>
          <a:p>
            <a:pPr algn="ctr" indent="0" marL="0">
              <a:buNone/>
            </a:pPr>
            <a:r>
              <a:rPr lang="en-US" sz="850" dirty="0">
                <a:solidFill>
                  <a:srgbClr val="CBD5E1"/>
                </a:solidFill>
              </a:rPr>
              <a:t>BART Token Limit</a:t>
            </a:r>
            <a:endParaRPr lang="en-US" sz="850" dirty="0"/>
          </a:p>
        </p:txBody>
      </p:sp>
      <p:sp>
        <p:nvSpPr>
          <p:cNvPr id="30" name="Shape 28"/>
          <p:cNvSpPr/>
          <p:nvPr/>
        </p:nvSpPr>
        <p:spPr>
          <a:xfrm>
            <a:off x="2514600" y="4005072"/>
            <a:ext cx="1965960" cy="822960"/>
          </a:xfrm>
          <a:prstGeom prst="rect">
            <a:avLst/>
          </a:prstGeom>
          <a:solidFill>
            <a:srgbClr val="0D1B3E"/>
          </a:solidFill>
          <a:ln w="12700">
            <a:solidFill>
              <a:srgbClr val="1A73E8"/>
            </a:solidFill>
            <a:prstDash val="solid"/>
          </a:ln>
        </p:spPr>
      </p:sp>
      <p:sp>
        <p:nvSpPr>
          <p:cNvPr id="31" name="Text 29"/>
          <p:cNvSpPr/>
          <p:nvPr/>
        </p:nvSpPr>
        <p:spPr>
          <a:xfrm>
            <a:off x="2514600" y="4041648"/>
            <a:ext cx="1965960" cy="411480"/>
          </a:xfrm>
          <a:prstGeom prst="rect">
            <a:avLst/>
          </a:prstGeom>
          <a:noFill/>
          <a:ln/>
        </p:spPr>
        <p:txBody>
          <a:bodyPr wrap="square" lIns="0" tIns="0" rIns="0" bIns="0" rtlCol="0" anchor="ctr"/>
          <a:lstStyle/>
          <a:p>
            <a:pPr algn="ctr" indent="0" marL="0">
              <a:buNone/>
            </a:pPr>
            <a:r>
              <a:rPr lang="en-US" sz="2200" b="1" dirty="0">
                <a:solidFill>
                  <a:srgbClr val="00BFA5"/>
                </a:solidFill>
              </a:rPr>
              <a:t>256 tokens</a:t>
            </a:r>
            <a:endParaRPr lang="en-US" sz="2200" dirty="0"/>
          </a:p>
        </p:txBody>
      </p:sp>
      <p:sp>
        <p:nvSpPr>
          <p:cNvPr id="32" name="Text 30"/>
          <p:cNvSpPr/>
          <p:nvPr/>
        </p:nvSpPr>
        <p:spPr>
          <a:xfrm>
            <a:off x="2514600" y="4453128"/>
            <a:ext cx="1965960" cy="274320"/>
          </a:xfrm>
          <a:prstGeom prst="rect">
            <a:avLst/>
          </a:prstGeom>
          <a:noFill/>
          <a:ln/>
        </p:spPr>
        <p:txBody>
          <a:bodyPr wrap="square" lIns="0" tIns="0" rIns="0" bIns="0" rtlCol="0" anchor="ctr"/>
          <a:lstStyle/>
          <a:p>
            <a:pPr algn="ctr" indent="0" marL="0">
              <a:buNone/>
            </a:pPr>
            <a:r>
              <a:rPr lang="en-US" sz="850" dirty="0">
                <a:solidFill>
                  <a:srgbClr val="CBD5E1"/>
                </a:solidFill>
              </a:rPr>
              <a:t>T5 Max Length</a:t>
            </a:r>
            <a:endParaRPr lang="en-US" sz="850" dirty="0"/>
          </a:p>
        </p:txBody>
      </p:sp>
      <p:sp>
        <p:nvSpPr>
          <p:cNvPr id="33" name="Shape 31"/>
          <p:cNvSpPr/>
          <p:nvPr/>
        </p:nvSpPr>
        <p:spPr>
          <a:xfrm>
            <a:off x="4663440" y="4005072"/>
            <a:ext cx="1965960" cy="822960"/>
          </a:xfrm>
          <a:prstGeom prst="rect">
            <a:avLst/>
          </a:prstGeom>
          <a:solidFill>
            <a:srgbClr val="0D1B3E"/>
          </a:solidFill>
          <a:ln w="12700">
            <a:solidFill>
              <a:srgbClr val="1A73E8"/>
            </a:solidFill>
            <a:prstDash val="solid"/>
          </a:ln>
        </p:spPr>
      </p:sp>
      <p:sp>
        <p:nvSpPr>
          <p:cNvPr id="34" name="Text 32"/>
          <p:cNvSpPr/>
          <p:nvPr/>
        </p:nvSpPr>
        <p:spPr>
          <a:xfrm>
            <a:off x="4663440" y="4041648"/>
            <a:ext cx="1965960" cy="411480"/>
          </a:xfrm>
          <a:prstGeom prst="rect">
            <a:avLst/>
          </a:prstGeom>
          <a:noFill/>
          <a:ln/>
        </p:spPr>
        <p:txBody>
          <a:bodyPr wrap="square" lIns="0" tIns="0" rIns="0" bIns="0" rtlCol="0" anchor="ctr"/>
          <a:lstStyle/>
          <a:p>
            <a:pPr algn="ctr" indent="0" marL="0">
              <a:buNone/>
            </a:pPr>
            <a:r>
              <a:rPr lang="en-US" sz="2200" b="1" dirty="0">
                <a:solidFill>
                  <a:srgbClr val="00BFA5"/>
                </a:solidFill>
              </a:rPr>
              <a:t>384-D</a:t>
            </a:r>
            <a:endParaRPr lang="en-US" sz="2200" dirty="0"/>
          </a:p>
        </p:txBody>
      </p:sp>
      <p:sp>
        <p:nvSpPr>
          <p:cNvPr id="35" name="Text 33"/>
          <p:cNvSpPr/>
          <p:nvPr/>
        </p:nvSpPr>
        <p:spPr>
          <a:xfrm>
            <a:off x="4663440" y="4453128"/>
            <a:ext cx="1965960" cy="274320"/>
          </a:xfrm>
          <a:prstGeom prst="rect">
            <a:avLst/>
          </a:prstGeom>
          <a:noFill/>
          <a:ln/>
        </p:spPr>
        <p:txBody>
          <a:bodyPr wrap="square" lIns="0" tIns="0" rIns="0" bIns="0" rtlCol="0" anchor="ctr"/>
          <a:lstStyle/>
          <a:p>
            <a:pPr algn="ctr" indent="0" marL="0">
              <a:buNone/>
            </a:pPr>
            <a:r>
              <a:rPr lang="en-US" sz="850" dirty="0">
                <a:solidFill>
                  <a:srgbClr val="CBD5E1"/>
                </a:solidFill>
              </a:rPr>
              <a:t>SBERT Embedding Dim</a:t>
            </a:r>
            <a:endParaRPr lang="en-US" sz="850" dirty="0"/>
          </a:p>
        </p:txBody>
      </p:sp>
      <p:sp>
        <p:nvSpPr>
          <p:cNvPr id="36" name="Shape 34"/>
          <p:cNvSpPr/>
          <p:nvPr/>
        </p:nvSpPr>
        <p:spPr>
          <a:xfrm>
            <a:off x="6812280" y="4005072"/>
            <a:ext cx="1965960" cy="822960"/>
          </a:xfrm>
          <a:prstGeom prst="rect">
            <a:avLst/>
          </a:prstGeom>
          <a:solidFill>
            <a:srgbClr val="0D1B3E"/>
          </a:solidFill>
          <a:ln w="12700">
            <a:solidFill>
              <a:srgbClr val="1A73E8"/>
            </a:solidFill>
            <a:prstDash val="solid"/>
          </a:ln>
        </p:spPr>
      </p:sp>
      <p:sp>
        <p:nvSpPr>
          <p:cNvPr id="37" name="Text 35"/>
          <p:cNvSpPr/>
          <p:nvPr/>
        </p:nvSpPr>
        <p:spPr>
          <a:xfrm>
            <a:off x="6812280" y="4041648"/>
            <a:ext cx="1965960" cy="411480"/>
          </a:xfrm>
          <a:prstGeom prst="rect">
            <a:avLst/>
          </a:prstGeom>
          <a:noFill/>
          <a:ln/>
        </p:spPr>
        <p:txBody>
          <a:bodyPr wrap="square" lIns="0" tIns="0" rIns="0" bIns="0" rtlCol="0" anchor="ctr"/>
          <a:lstStyle/>
          <a:p>
            <a:pPr algn="ctr" indent="0" marL="0">
              <a:buNone/>
            </a:pPr>
            <a:r>
              <a:rPr lang="en-US" sz="2200" b="1" dirty="0">
                <a:solidFill>
                  <a:srgbClr val="00BFA5"/>
                </a:solidFill>
              </a:rPr>
              <a:t>10 articles</a:t>
            </a:r>
            <a:endParaRPr lang="en-US" sz="2200" dirty="0"/>
          </a:p>
        </p:txBody>
      </p:sp>
      <p:sp>
        <p:nvSpPr>
          <p:cNvPr id="38" name="Text 36"/>
          <p:cNvSpPr/>
          <p:nvPr/>
        </p:nvSpPr>
        <p:spPr>
          <a:xfrm>
            <a:off x="6812280" y="4453128"/>
            <a:ext cx="1965960" cy="274320"/>
          </a:xfrm>
          <a:prstGeom prst="rect">
            <a:avLst/>
          </a:prstGeom>
          <a:noFill/>
          <a:ln/>
        </p:spPr>
        <p:txBody>
          <a:bodyPr wrap="square" lIns="0" tIns="0" rIns="0" bIns="0" rtlCol="0" anchor="ctr"/>
          <a:lstStyle/>
          <a:p>
            <a:pPr algn="ctr" indent="0" marL="0">
              <a:buNone/>
            </a:pPr>
            <a:r>
              <a:rPr lang="en-US" sz="850" dirty="0">
                <a:solidFill>
                  <a:srgbClr val="CBD5E1"/>
                </a:solidFill>
              </a:rPr>
              <a:t>Demo Samples</a:t>
            </a:r>
            <a:endParaRPr lang="en-US" sz="850" dirty="0"/>
          </a:p>
        </p:txBody>
      </p:sp>
      <p:sp>
        <p:nvSpPr>
          <p:cNvPr id="39" name="Text 37"/>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06 · EVALUATION</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Evaluation — ROUGE Scores (Summarization)</a:t>
            </a:r>
            <a:endParaRPr lang="en-US" sz="2600" dirty="0"/>
          </a:p>
        </p:txBody>
      </p:sp>
      <p:graphicFrame>
        <p:nvGraphicFramePr>
          <p:cNvPr id="5" name="Chart 0" descr=""/>
          <p:cNvGraphicFramePr/>
          <p:nvPr/>
        </p:nvGraphicFramePr>
        <p:xfrm>
          <a:off x="365760" y="123444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577840" y="1234440"/>
            <a:ext cx="3291840" cy="274320"/>
          </a:xfrm>
          <a:prstGeom prst="rect">
            <a:avLst/>
          </a:prstGeom>
          <a:noFill/>
          <a:ln/>
        </p:spPr>
        <p:txBody>
          <a:bodyPr wrap="square" rtlCol="0" anchor="ctr"/>
          <a:lstStyle/>
          <a:p>
            <a:pPr indent="0" marL="0">
              <a:buNone/>
            </a:pPr>
            <a:r>
              <a:rPr lang="en-US" sz="1300" b="1" dirty="0">
                <a:solidFill>
                  <a:srgbClr val="1A73E8"/>
                </a:solidFill>
              </a:rPr>
              <a:t>What is ROUGE-1?</a:t>
            </a:r>
            <a:endParaRPr lang="en-US" sz="1300" dirty="0"/>
          </a:p>
        </p:txBody>
      </p:sp>
      <p:sp>
        <p:nvSpPr>
          <p:cNvPr id="7" name="Text 4"/>
          <p:cNvSpPr/>
          <p:nvPr/>
        </p:nvSpPr>
        <p:spPr>
          <a:xfrm>
            <a:off x="5577840" y="1572768"/>
            <a:ext cx="3291840" cy="1097280"/>
          </a:xfrm>
          <a:prstGeom prst="rect">
            <a:avLst/>
          </a:prstGeom>
          <a:noFill/>
          <a:ln/>
        </p:spPr>
        <p:txBody>
          <a:bodyPr wrap="square" rtlCol="0" anchor="ctr"/>
          <a:lstStyle/>
          <a:p>
            <a:pPr indent="0" marL="0">
              <a:buNone/>
            </a:pPr>
            <a:r>
              <a:rPr lang="en-US" sz="1050" dirty="0">
                <a:solidFill>
                  <a:srgbClr val="1E293B"/>
                </a:solidFill>
              </a:rPr>
              <a:t>ROUGE (Recall-Oriented Understudy for Gisting Evaluation) measures overlap between generated and reference summaries.</a:t>
            </a:r>
            <a:endParaRPr lang="en-US" sz="1050" dirty="0"/>
          </a:p>
          <a:p>
            <a:pPr indent="0" marL="0">
              <a:buNone/>
            </a:pPr>
            <a:endParaRPr lang="en-US" sz="1050" dirty="0"/>
          </a:p>
          <a:p>
            <a:pPr indent="0" marL="0">
              <a:buNone/>
            </a:pPr>
            <a:r>
              <a:rPr lang="en-US" sz="1050" dirty="0">
                <a:solidFill>
                  <a:srgbClr val="1E293B"/>
                </a:solidFill>
              </a:rPr>
              <a:t>ROUGE-1: Unigram (word-level) overlap</a:t>
            </a:r>
            <a:endParaRPr lang="en-US" sz="1050" dirty="0"/>
          </a:p>
          <a:p>
            <a:pPr indent="0" marL="0">
              <a:buNone/>
            </a:pPr>
            <a:r>
              <a:rPr lang="en-US" sz="1050" dirty="0">
                <a:solidFill>
                  <a:srgbClr val="1E293B"/>
                </a:solidFill>
              </a:rPr>
              <a:t>ROUGE-L: Longest common subsequence</a:t>
            </a:r>
            <a:endParaRPr lang="en-US" sz="1050" dirty="0"/>
          </a:p>
        </p:txBody>
      </p:sp>
      <p:sp>
        <p:nvSpPr>
          <p:cNvPr id="8" name="Shape 5"/>
          <p:cNvSpPr/>
          <p:nvPr/>
        </p:nvSpPr>
        <p:spPr>
          <a:xfrm>
            <a:off x="5577840" y="2788920"/>
            <a:ext cx="3291840" cy="914400"/>
          </a:xfrm>
          <a:prstGeom prst="rect">
            <a:avLst/>
          </a:prstGeom>
          <a:solidFill>
            <a:srgbClr val="0D1B3E"/>
          </a:solidFill>
          <a:ln w="12700">
            <a:solidFill>
              <a:srgbClr val="1A73E8"/>
            </a:solidFill>
            <a:prstDash val="solid"/>
          </a:ln>
        </p:spPr>
      </p:sp>
      <p:sp>
        <p:nvSpPr>
          <p:cNvPr id="9" name="Text 6"/>
          <p:cNvSpPr/>
          <p:nvPr/>
        </p:nvSpPr>
        <p:spPr>
          <a:xfrm>
            <a:off x="5577840" y="2834640"/>
            <a:ext cx="3291840" cy="274320"/>
          </a:xfrm>
          <a:prstGeom prst="rect">
            <a:avLst/>
          </a:prstGeom>
          <a:noFill/>
          <a:ln/>
        </p:spPr>
        <p:txBody>
          <a:bodyPr wrap="square" rtlCol="0" anchor="ctr"/>
          <a:lstStyle/>
          <a:p>
            <a:pPr algn="ctr" indent="0" marL="0">
              <a:buNone/>
            </a:pPr>
            <a:r>
              <a:rPr lang="en-US" sz="1100" b="1" dirty="0">
                <a:solidFill>
                  <a:srgbClr val="CBD5E1"/>
                </a:solidFill>
              </a:rPr>
              <a:t>Avg ROUGE-1</a:t>
            </a:r>
            <a:endParaRPr lang="en-US" sz="1100" dirty="0"/>
          </a:p>
        </p:txBody>
      </p:sp>
      <p:sp>
        <p:nvSpPr>
          <p:cNvPr id="10" name="Text 7"/>
          <p:cNvSpPr/>
          <p:nvPr/>
        </p:nvSpPr>
        <p:spPr>
          <a:xfrm>
            <a:off x="5577840" y="3090672"/>
            <a:ext cx="3291840" cy="502920"/>
          </a:xfrm>
          <a:prstGeom prst="rect">
            <a:avLst/>
          </a:prstGeom>
          <a:noFill/>
          <a:ln/>
        </p:spPr>
        <p:txBody>
          <a:bodyPr wrap="square" rtlCol="0" anchor="ctr"/>
          <a:lstStyle/>
          <a:p>
            <a:pPr algn="ctr" indent="0" marL="0">
              <a:buNone/>
            </a:pPr>
            <a:r>
              <a:rPr lang="en-US" sz="3800" b="1" dirty="0">
                <a:solidFill>
                  <a:srgbClr val="00BFA5"/>
                </a:solidFill>
              </a:rPr>
              <a:t>0.498</a:t>
            </a:r>
            <a:endParaRPr lang="en-US" sz="3800" dirty="0"/>
          </a:p>
        </p:txBody>
      </p:sp>
      <p:sp>
        <p:nvSpPr>
          <p:cNvPr id="11" name="Text 8"/>
          <p:cNvSpPr/>
          <p:nvPr/>
        </p:nvSpPr>
        <p:spPr>
          <a:xfrm>
            <a:off x="5577840" y="3794760"/>
            <a:ext cx="3291840" cy="594360"/>
          </a:xfrm>
          <a:prstGeom prst="rect">
            <a:avLst/>
          </a:prstGeom>
          <a:noFill/>
          <a:ln/>
        </p:spPr>
        <p:txBody>
          <a:bodyPr wrap="square" rtlCol="0" anchor="ctr"/>
          <a:lstStyle/>
          <a:p>
            <a:pPr indent="0" marL="0">
              <a:buNone/>
            </a:pPr>
            <a:r>
              <a:rPr lang="en-US" sz="1000" dirty="0">
                <a:solidFill>
                  <a:srgbClr val="64748B"/>
                </a:solidFill>
              </a:rPr>
              <a:t>Comparable to state-of-the-art BART benchmarks on CNN/DailyMail (~0.44 ROUGE-1 reported in original BART paper)</a:t>
            </a:r>
            <a:endParaRPr lang="en-US" sz="1000" dirty="0"/>
          </a:p>
        </p:txBody>
      </p:sp>
      <p:sp>
        <p:nvSpPr>
          <p:cNvPr id="12" name="Text 9"/>
          <p:cNvSpPr/>
          <p:nvPr/>
        </p:nvSpPr>
        <p:spPr>
          <a:xfrm>
            <a:off x="365760" y="4526280"/>
            <a:ext cx="8412480" cy="274320"/>
          </a:xfrm>
          <a:prstGeom prst="rect">
            <a:avLst/>
          </a:prstGeom>
          <a:noFill/>
          <a:ln/>
        </p:spPr>
        <p:txBody>
          <a:bodyPr wrap="square" rtlCol="0" anchor="ctr"/>
          <a:lstStyle/>
          <a:p>
            <a:pPr algn="ctr" indent="0" marL="0">
              <a:buNone/>
            </a:pPr>
            <a:r>
              <a:rPr lang="en-US" sz="1050" b="1" dirty="0">
                <a:solidFill>
                  <a:srgbClr val="10B981"/>
                </a:solidFill>
              </a:rPr>
              <a:t>✅ ROUGE-1 of ~0.50 on 5 samples indicates strong content retention in generated summaries</a:t>
            </a:r>
            <a:endParaRPr lang="en-US" sz="1050" dirty="0"/>
          </a:p>
        </p:txBody>
      </p:sp>
      <p:sp>
        <p:nvSpPr>
          <p:cNvPr id="13" name="Text 10"/>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00BFA5">
              <a:alpha val="80000"/>
            </a:srgbClr>
          </a:solidFill>
          <a:ln w="12700">
            <a:solidFill>
              <a:srgbClr val="00BFA5"/>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06 · EVALUATION</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600" b="1" dirty="0">
                <a:solidFill>
                  <a:srgbClr val="1E293B"/>
                </a:solidFill>
              </a:rPr>
              <a:t>Evaluation — Paraphrase Similarity (Cosine)</a:t>
            </a:r>
            <a:endParaRPr lang="en-US" sz="2600" dirty="0"/>
          </a:p>
        </p:txBody>
      </p:sp>
      <p:graphicFrame>
        <p:nvGraphicFramePr>
          <p:cNvPr id="5" name="Chart 0" descr=""/>
          <p:cNvGraphicFramePr/>
          <p:nvPr/>
        </p:nvGraphicFramePr>
        <p:xfrm>
          <a:off x="365760" y="123444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577840" y="1234440"/>
            <a:ext cx="3291840" cy="274320"/>
          </a:xfrm>
          <a:prstGeom prst="rect">
            <a:avLst/>
          </a:prstGeom>
          <a:noFill/>
          <a:ln/>
        </p:spPr>
        <p:txBody>
          <a:bodyPr wrap="square" rtlCol="0" anchor="ctr"/>
          <a:lstStyle/>
          <a:p>
            <a:pPr indent="0" marL="0">
              <a:buNone/>
            </a:pPr>
            <a:r>
              <a:rPr lang="en-US" sz="1300" b="1" dirty="0">
                <a:solidFill>
                  <a:srgbClr val="00BFA5"/>
                </a:solidFill>
              </a:rPr>
              <a:t>What does ~0.82 mean?</a:t>
            </a:r>
            <a:endParaRPr lang="en-US" sz="1300" dirty="0"/>
          </a:p>
        </p:txBody>
      </p:sp>
      <p:sp>
        <p:nvSpPr>
          <p:cNvPr id="7" name="Shape 4"/>
          <p:cNvSpPr/>
          <p:nvPr/>
        </p:nvSpPr>
        <p:spPr>
          <a:xfrm>
            <a:off x="5577840" y="1600200"/>
            <a:ext cx="1097280" cy="384048"/>
          </a:xfrm>
          <a:prstGeom prst="rect">
            <a:avLst/>
          </a:prstGeom>
          <a:solidFill>
            <a:srgbClr val="EF4444"/>
          </a:solidFill>
          <a:ln w="12700">
            <a:solidFill>
              <a:srgbClr val="000000"/>
            </a:solidFill>
            <a:prstDash val="solid"/>
          </a:ln>
        </p:spPr>
      </p:sp>
      <p:sp>
        <p:nvSpPr>
          <p:cNvPr id="8" name="Text 5"/>
          <p:cNvSpPr/>
          <p:nvPr/>
        </p:nvSpPr>
        <p:spPr>
          <a:xfrm>
            <a:off x="5577840" y="1600200"/>
            <a:ext cx="1097280" cy="384048"/>
          </a:xfrm>
          <a:prstGeom prst="rect">
            <a:avLst/>
          </a:prstGeom>
          <a:noFill/>
          <a:ln/>
        </p:spPr>
        <p:txBody>
          <a:bodyPr wrap="square" lIns="0" tIns="0" rIns="0" bIns="0" rtlCol="0" anchor="ctr"/>
          <a:lstStyle/>
          <a:p>
            <a:pPr algn="ctr" indent="0" marL="0">
              <a:buNone/>
            </a:pPr>
            <a:r>
              <a:rPr lang="en-US" sz="900" b="1" dirty="0">
                <a:solidFill>
                  <a:srgbClr val="FFFFFF"/>
                </a:solidFill>
              </a:rPr>
              <a:t>&lt; 0.60</a:t>
            </a:r>
            <a:endParaRPr lang="en-US" sz="900" dirty="0"/>
          </a:p>
        </p:txBody>
      </p:sp>
      <p:sp>
        <p:nvSpPr>
          <p:cNvPr id="9" name="Shape 6"/>
          <p:cNvSpPr/>
          <p:nvPr/>
        </p:nvSpPr>
        <p:spPr>
          <a:xfrm>
            <a:off x="6720840" y="1600200"/>
            <a:ext cx="2148840" cy="384048"/>
          </a:xfrm>
          <a:prstGeom prst="rect">
            <a:avLst/>
          </a:prstGeom>
          <a:solidFill>
            <a:srgbClr val="FFFFFF"/>
          </a:solidFill>
          <a:ln w="12700">
            <a:solidFill>
              <a:srgbClr val="CBD5E1"/>
            </a:solidFill>
            <a:prstDash val="solid"/>
          </a:ln>
        </p:spPr>
      </p:sp>
      <p:sp>
        <p:nvSpPr>
          <p:cNvPr id="10" name="Text 7"/>
          <p:cNvSpPr/>
          <p:nvPr/>
        </p:nvSpPr>
        <p:spPr>
          <a:xfrm>
            <a:off x="6812280" y="1600200"/>
            <a:ext cx="2011680" cy="384048"/>
          </a:xfrm>
          <a:prstGeom prst="rect">
            <a:avLst/>
          </a:prstGeom>
          <a:noFill/>
          <a:ln/>
        </p:spPr>
        <p:txBody>
          <a:bodyPr wrap="square" lIns="0" tIns="0" rIns="0" bIns="0" rtlCol="0" anchor="ctr"/>
          <a:lstStyle/>
          <a:p>
            <a:pPr indent="0" marL="0">
              <a:buNone/>
            </a:pPr>
            <a:r>
              <a:rPr lang="en-US" sz="1000" dirty="0">
                <a:solidFill>
                  <a:srgbClr val="1E293B"/>
                </a:solidFill>
              </a:rPr>
              <a:t>Too different — meaning changed</a:t>
            </a:r>
            <a:endParaRPr lang="en-US" sz="1000" dirty="0"/>
          </a:p>
        </p:txBody>
      </p:sp>
      <p:sp>
        <p:nvSpPr>
          <p:cNvPr id="11" name="Shape 8"/>
          <p:cNvSpPr/>
          <p:nvPr/>
        </p:nvSpPr>
        <p:spPr>
          <a:xfrm>
            <a:off x="5577840" y="2075688"/>
            <a:ext cx="1097280" cy="384048"/>
          </a:xfrm>
          <a:prstGeom prst="rect">
            <a:avLst/>
          </a:prstGeom>
          <a:solidFill>
            <a:srgbClr val="F59E0B"/>
          </a:solidFill>
          <a:ln w="12700">
            <a:solidFill>
              <a:srgbClr val="000000"/>
            </a:solidFill>
            <a:prstDash val="solid"/>
          </a:ln>
        </p:spPr>
      </p:sp>
      <p:sp>
        <p:nvSpPr>
          <p:cNvPr id="12" name="Text 9"/>
          <p:cNvSpPr/>
          <p:nvPr/>
        </p:nvSpPr>
        <p:spPr>
          <a:xfrm>
            <a:off x="5577840" y="2075688"/>
            <a:ext cx="1097280" cy="384048"/>
          </a:xfrm>
          <a:prstGeom prst="rect">
            <a:avLst/>
          </a:prstGeom>
          <a:noFill/>
          <a:ln/>
        </p:spPr>
        <p:txBody>
          <a:bodyPr wrap="square" lIns="0" tIns="0" rIns="0" bIns="0" rtlCol="0" anchor="ctr"/>
          <a:lstStyle/>
          <a:p>
            <a:pPr algn="ctr" indent="0" marL="0">
              <a:buNone/>
            </a:pPr>
            <a:r>
              <a:rPr lang="en-US" sz="900" b="1" dirty="0">
                <a:solidFill>
                  <a:srgbClr val="FFFFFF"/>
                </a:solidFill>
              </a:rPr>
              <a:t>0.60–0.75</a:t>
            </a:r>
            <a:endParaRPr lang="en-US" sz="900" dirty="0"/>
          </a:p>
        </p:txBody>
      </p:sp>
      <p:sp>
        <p:nvSpPr>
          <p:cNvPr id="13" name="Shape 10"/>
          <p:cNvSpPr/>
          <p:nvPr/>
        </p:nvSpPr>
        <p:spPr>
          <a:xfrm>
            <a:off x="6720840" y="2075688"/>
            <a:ext cx="2148840" cy="384048"/>
          </a:xfrm>
          <a:prstGeom prst="rect">
            <a:avLst/>
          </a:prstGeom>
          <a:solidFill>
            <a:srgbClr val="FFFFFF"/>
          </a:solidFill>
          <a:ln w="12700">
            <a:solidFill>
              <a:srgbClr val="CBD5E1"/>
            </a:solidFill>
            <a:prstDash val="solid"/>
          </a:ln>
        </p:spPr>
      </p:sp>
      <p:sp>
        <p:nvSpPr>
          <p:cNvPr id="14" name="Text 11"/>
          <p:cNvSpPr/>
          <p:nvPr/>
        </p:nvSpPr>
        <p:spPr>
          <a:xfrm>
            <a:off x="6812280" y="2075688"/>
            <a:ext cx="2011680" cy="384048"/>
          </a:xfrm>
          <a:prstGeom prst="rect">
            <a:avLst/>
          </a:prstGeom>
          <a:noFill/>
          <a:ln/>
        </p:spPr>
        <p:txBody>
          <a:bodyPr wrap="square" lIns="0" tIns="0" rIns="0" bIns="0" rtlCol="0" anchor="ctr"/>
          <a:lstStyle/>
          <a:p>
            <a:pPr indent="0" marL="0">
              <a:buNone/>
            </a:pPr>
            <a:r>
              <a:rPr lang="en-US" sz="1000" dirty="0">
                <a:solidFill>
                  <a:srgbClr val="1E293B"/>
                </a:solidFill>
              </a:rPr>
              <a:t>Good diversity in wording</a:t>
            </a:r>
            <a:endParaRPr lang="en-US" sz="1000" dirty="0"/>
          </a:p>
        </p:txBody>
      </p:sp>
      <p:sp>
        <p:nvSpPr>
          <p:cNvPr id="15" name="Shape 12"/>
          <p:cNvSpPr/>
          <p:nvPr/>
        </p:nvSpPr>
        <p:spPr>
          <a:xfrm>
            <a:off x="5577840" y="2551176"/>
            <a:ext cx="1097280" cy="384048"/>
          </a:xfrm>
          <a:prstGeom prst="rect">
            <a:avLst/>
          </a:prstGeom>
          <a:solidFill>
            <a:srgbClr val="10B981"/>
          </a:solidFill>
          <a:ln w="12700">
            <a:solidFill>
              <a:srgbClr val="000000"/>
            </a:solidFill>
            <a:prstDash val="solid"/>
          </a:ln>
        </p:spPr>
      </p:sp>
      <p:sp>
        <p:nvSpPr>
          <p:cNvPr id="16" name="Text 13"/>
          <p:cNvSpPr/>
          <p:nvPr/>
        </p:nvSpPr>
        <p:spPr>
          <a:xfrm>
            <a:off x="5577840" y="2551176"/>
            <a:ext cx="1097280" cy="384048"/>
          </a:xfrm>
          <a:prstGeom prst="rect">
            <a:avLst/>
          </a:prstGeom>
          <a:noFill/>
          <a:ln/>
        </p:spPr>
        <p:txBody>
          <a:bodyPr wrap="square" lIns="0" tIns="0" rIns="0" bIns="0" rtlCol="0" anchor="ctr"/>
          <a:lstStyle/>
          <a:p>
            <a:pPr algn="ctr" indent="0" marL="0">
              <a:buNone/>
            </a:pPr>
            <a:r>
              <a:rPr lang="en-US" sz="900" b="1" dirty="0">
                <a:solidFill>
                  <a:srgbClr val="FFFFFF"/>
                </a:solidFill>
              </a:rPr>
              <a:t>0.75–0.90</a:t>
            </a:r>
            <a:endParaRPr lang="en-US" sz="900" dirty="0"/>
          </a:p>
        </p:txBody>
      </p:sp>
      <p:sp>
        <p:nvSpPr>
          <p:cNvPr id="17" name="Shape 14"/>
          <p:cNvSpPr/>
          <p:nvPr/>
        </p:nvSpPr>
        <p:spPr>
          <a:xfrm>
            <a:off x="6720840" y="2551176"/>
            <a:ext cx="2148840" cy="384048"/>
          </a:xfrm>
          <a:prstGeom prst="rect">
            <a:avLst/>
          </a:prstGeom>
          <a:solidFill>
            <a:srgbClr val="FFFFFF"/>
          </a:solidFill>
          <a:ln w="12700">
            <a:solidFill>
              <a:srgbClr val="CBD5E1"/>
            </a:solidFill>
            <a:prstDash val="solid"/>
          </a:ln>
        </p:spPr>
      </p:sp>
      <p:sp>
        <p:nvSpPr>
          <p:cNvPr id="18" name="Text 15"/>
          <p:cNvSpPr/>
          <p:nvPr/>
        </p:nvSpPr>
        <p:spPr>
          <a:xfrm>
            <a:off x="6812280" y="2551176"/>
            <a:ext cx="2011680" cy="384048"/>
          </a:xfrm>
          <a:prstGeom prst="rect">
            <a:avLst/>
          </a:prstGeom>
          <a:noFill/>
          <a:ln/>
        </p:spPr>
        <p:txBody>
          <a:bodyPr wrap="square" lIns="0" tIns="0" rIns="0" bIns="0" rtlCol="0" anchor="ctr"/>
          <a:lstStyle/>
          <a:p>
            <a:pPr indent="0" marL="0">
              <a:buNone/>
            </a:pPr>
            <a:r>
              <a:rPr lang="en-US" sz="1000" dirty="0">
                <a:solidFill>
                  <a:srgbClr val="1E293B"/>
                </a:solidFill>
              </a:rPr>
              <a:t>✅ Ideal paraphrase zone</a:t>
            </a:r>
            <a:endParaRPr lang="en-US" sz="1000" dirty="0"/>
          </a:p>
        </p:txBody>
      </p:sp>
      <p:sp>
        <p:nvSpPr>
          <p:cNvPr id="19" name="Shape 16"/>
          <p:cNvSpPr/>
          <p:nvPr/>
        </p:nvSpPr>
        <p:spPr>
          <a:xfrm>
            <a:off x="5577840" y="3026664"/>
            <a:ext cx="1097280" cy="384048"/>
          </a:xfrm>
          <a:prstGeom prst="rect">
            <a:avLst/>
          </a:prstGeom>
          <a:solidFill>
            <a:srgbClr val="64748B"/>
          </a:solidFill>
          <a:ln w="12700">
            <a:solidFill>
              <a:srgbClr val="000000"/>
            </a:solidFill>
            <a:prstDash val="solid"/>
          </a:ln>
        </p:spPr>
      </p:sp>
      <p:sp>
        <p:nvSpPr>
          <p:cNvPr id="20" name="Text 17"/>
          <p:cNvSpPr/>
          <p:nvPr/>
        </p:nvSpPr>
        <p:spPr>
          <a:xfrm>
            <a:off x="5577840" y="3026664"/>
            <a:ext cx="1097280" cy="384048"/>
          </a:xfrm>
          <a:prstGeom prst="rect">
            <a:avLst/>
          </a:prstGeom>
          <a:noFill/>
          <a:ln/>
        </p:spPr>
        <p:txBody>
          <a:bodyPr wrap="square" lIns="0" tIns="0" rIns="0" bIns="0" rtlCol="0" anchor="ctr"/>
          <a:lstStyle/>
          <a:p>
            <a:pPr algn="ctr" indent="0" marL="0">
              <a:buNone/>
            </a:pPr>
            <a:r>
              <a:rPr lang="en-US" sz="900" b="1" dirty="0">
                <a:solidFill>
                  <a:srgbClr val="FFFFFF"/>
                </a:solidFill>
              </a:rPr>
              <a:t>&gt; 0.90</a:t>
            </a:r>
            <a:endParaRPr lang="en-US" sz="900" dirty="0"/>
          </a:p>
        </p:txBody>
      </p:sp>
      <p:sp>
        <p:nvSpPr>
          <p:cNvPr id="21" name="Shape 18"/>
          <p:cNvSpPr/>
          <p:nvPr/>
        </p:nvSpPr>
        <p:spPr>
          <a:xfrm>
            <a:off x="6720840" y="3026664"/>
            <a:ext cx="2148840" cy="384048"/>
          </a:xfrm>
          <a:prstGeom prst="rect">
            <a:avLst/>
          </a:prstGeom>
          <a:solidFill>
            <a:srgbClr val="FFFFFF"/>
          </a:solidFill>
          <a:ln w="12700">
            <a:solidFill>
              <a:srgbClr val="CBD5E1"/>
            </a:solidFill>
            <a:prstDash val="solid"/>
          </a:ln>
        </p:spPr>
      </p:sp>
      <p:sp>
        <p:nvSpPr>
          <p:cNvPr id="22" name="Text 19"/>
          <p:cNvSpPr/>
          <p:nvPr/>
        </p:nvSpPr>
        <p:spPr>
          <a:xfrm>
            <a:off x="6812280" y="3026664"/>
            <a:ext cx="2011680" cy="384048"/>
          </a:xfrm>
          <a:prstGeom prst="rect">
            <a:avLst/>
          </a:prstGeom>
          <a:noFill/>
          <a:ln/>
        </p:spPr>
        <p:txBody>
          <a:bodyPr wrap="square" lIns="0" tIns="0" rIns="0" bIns="0" rtlCol="0" anchor="ctr"/>
          <a:lstStyle/>
          <a:p>
            <a:pPr indent="0" marL="0">
              <a:buNone/>
            </a:pPr>
            <a:r>
              <a:rPr lang="en-US" sz="1000" dirty="0">
                <a:solidFill>
                  <a:srgbClr val="1E293B"/>
                </a:solidFill>
              </a:rPr>
              <a:t>Too similar — nearly copied</a:t>
            </a:r>
            <a:endParaRPr lang="en-US" sz="1000" dirty="0"/>
          </a:p>
        </p:txBody>
      </p:sp>
      <p:sp>
        <p:nvSpPr>
          <p:cNvPr id="23" name="Shape 20"/>
          <p:cNvSpPr/>
          <p:nvPr/>
        </p:nvSpPr>
        <p:spPr>
          <a:xfrm>
            <a:off x="5577840" y="3593592"/>
            <a:ext cx="3291840" cy="822960"/>
          </a:xfrm>
          <a:prstGeom prst="rect">
            <a:avLst/>
          </a:prstGeom>
          <a:solidFill>
            <a:srgbClr val="0D1B3E"/>
          </a:solidFill>
          <a:ln w="12700">
            <a:solidFill>
              <a:srgbClr val="00BFA5"/>
            </a:solidFill>
            <a:prstDash val="solid"/>
          </a:ln>
        </p:spPr>
      </p:sp>
      <p:sp>
        <p:nvSpPr>
          <p:cNvPr id="24" name="Text 21"/>
          <p:cNvSpPr/>
          <p:nvPr/>
        </p:nvSpPr>
        <p:spPr>
          <a:xfrm>
            <a:off x="5577840" y="3639312"/>
            <a:ext cx="3291840" cy="256032"/>
          </a:xfrm>
          <a:prstGeom prst="rect">
            <a:avLst/>
          </a:prstGeom>
          <a:noFill/>
          <a:ln/>
        </p:spPr>
        <p:txBody>
          <a:bodyPr wrap="square" rtlCol="0" anchor="ctr"/>
          <a:lstStyle/>
          <a:p>
            <a:pPr algn="ctr" indent="0" marL="0">
              <a:buNone/>
            </a:pPr>
            <a:r>
              <a:rPr lang="en-US" sz="1100" dirty="0">
                <a:solidFill>
                  <a:srgbClr val="CBD5E1"/>
                </a:solidFill>
              </a:rPr>
              <a:t>Avg Similarity</a:t>
            </a:r>
            <a:endParaRPr lang="en-US" sz="1100" dirty="0"/>
          </a:p>
        </p:txBody>
      </p:sp>
      <p:sp>
        <p:nvSpPr>
          <p:cNvPr id="25" name="Text 22"/>
          <p:cNvSpPr/>
          <p:nvPr/>
        </p:nvSpPr>
        <p:spPr>
          <a:xfrm>
            <a:off x="5577840" y="3858768"/>
            <a:ext cx="3291840" cy="457200"/>
          </a:xfrm>
          <a:prstGeom prst="rect">
            <a:avLst/>
          </a:prstGeom>
          <a:noFill/>
          <a:ln/>
        </p:spPr>
        <p:txBody>
          <a:bodyPr wrap="square" rtlCol="0" anchor="ctr"/>
          <a:lstStyle/>
          <a:p>
            <a:pPr algn="ctr" indent="0" marL="0">
              <a:buNone/>
            </a:pPr>
            <a:r>
              <a:rPr lang="en-US" sz="3800" b="1" dirty="0">
                <a:solidFill>
                  <a:srgbClr val="00BFA5"/>
                </a:solidFill>
              </a:rPr>
              <a:t>0.826</a:t>
            </a:r>
            <a:endParaRPr lang="en-US" sz="3800" dirty="0"/>
          </a:p>
        </p:txBody>
      </p:sp>
      <p:sp>
        <p:nvSpPr>
          <p:cNvPr id="26" name="Text 23"/>
          <p:cNvSpPr/>
          <p:nvPr/>
        </p:nvSpPr>
        <p:spPr>
          <a:xfrm>
            <a:off x="365760" y="4526280"/>
            <a:ext cx="8412480" cy="274320"/>
          </a:xfrm>
          <a:prstGeom prst="rect">
            <a:avLst/>
          </a:prstGeom>
          <a:noFill/>
          <a:ln/>
        </p:spPr>
        <p:txBody>
          <a:bodyPr wrap="square" rtlCol="0" anchor="ctr"/>
          <a:lstStyle/>
          <a:p>
            <a:pPr algn="ctr" indent="0" marL="0">
              <a:buNone/>
            </a:pPr>
            <a:r>
              <a:rPr lang="en-US" sz="1050" b="1" dirty="0">
                <a:solidFill>
                  <a:srgbClr val="10B981"/>
                </a:solidFill>
              </a:rPr>
              <a:t>✅ Average of ~0.83 falls in the ideal zone: meaning is preserved, wording is genuinely different</a:t>
            </a:r>
            <a:endParaRPr lang="en-US" sz="1050" dirty="0"/>
          </a:p>
        </p:txBody>
      </p:sp>
      <p:sp>
        <p:nvSpPr>
          <p:cNvPr id="27" name="Text 24"/>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PIPELINE</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800" b="1" dirty="0">
                <a:solidFill>
                  <a:srgbClr val="1E293B"/>
                </a:solidFill>
              </a:rPr>
              <a:t>Integrated Pipeline — process_text()</a:t>
            </a:r>
            <a:endParaRPr lang="en-US" sz="2800" dirty="0"/>
          </a:p>
        </p:txBody>
      </p:sp>
      <p:sp>
        <p:nvSpPr>
          <p:cNvPr id="5" name="Shape 3"/>
          <p:cNvSpPr/>
          <p:nvPr/>
        </p:nvSpPr>
        <p:spPr>
          <a:xfrm>
            <a:off x="365760" y="1261872"/>
            <a:ext cx="4572000" cy="3520440"/>
          </a:xfrm>
          <a:prstGeom prst="rect">
            <a:avLst/>
          </a:prstGeom>
          <a:solidFill>
            <a:srgbClr val="1E293B"/>
          </a:solidFill>
          <a:ln w="12700">
            <a:solidFill>
              <a:srgbClr val="000000"/>
            </a:solidFill>
            <a:prstDash val="solid"/>
          </a:ln>
        </p:spPr>
      </p:sp>
      <p:sp>
        <p:nvSpPr>
          <p:cNvPr id="6" name="Text 4"/>
          <p:cNvSpPr/>
          <p:nvPr/>
        </p:nvSpPr>
        <p:spPr>
          <a:xfrm>
            <a:off x="457200" y="1353312"/>
            <a:ext cx="4389120" cy="3337560"/>
          </a:xfrm>
          <a:prstGeom prst="rect">
            <a:avLst/>
          </a:prstGeom>
          <a:noFill/>
          <a:ln/>
        </p:spPr>
        <p:txBody>
          <a:bodyPr wrap="square" lIns="50800" tIns="50800" rIns="50800" bIns="50800" rtlCol="0" anchor="t"/>
          <a:lstStyle/>
          <a:p>
            <a:pPr indent="0" marL="0">
              <a:buNone/>
            </a:pPr>
            <a:r>
              <a:rPr lang="en-US" sz="900" dirty="0">
                <a:solidFill>
                  <a:srgbClr val="A5F3FC"/>
                </a:solidFill>
                <a:latin typeface="Consolas" pitchFamily="34" charset="0"/>
                <a:ea typeface="Consolas" pitchFamily="34" charset="-122"/>
                <a:cs typeface="Consolas" pitchFamily="34" charset="-120"/>
              </a:rPr>
              <a:t>def process_text(text, mode):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Unified pipeline — routes text</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to the correct NLP module.</a:t>
            </a:r>
            <a:endParaRPr lang="en-US" sz="900" dirty="0"/>
          </a:p>
          <a:p>
            <a:pPr indent="0" marL="0">
              <a:buNone/>
            </a:pP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modes: "summarize"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"paraphrase"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"plagiarism"</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 Step 1: Clean input</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text = preprocess_text(text)</a:t>
            </a:r>
            <a:endParaRPr lang="en-US" sz="900" dirty="0"/>
          </a:p>
          <a:p>
            <a:pPr indent="0" marL="0">
              <a:buNone/>
            </a:pP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 Step 2: Route to module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if mode == "summarize":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return summarize(text)</a:t>
            </a:r>
            <a:endParaRPr lang="en-US" sz="900" dirty="0"/>
          </a:p>
          <a:p>
            <a:pPr indent="0" marL="0">
              <a:buNone/>
            </a:pP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elif mode == "paraphrase":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return paraphrase(text)</a:t>
            </a:r>
            <a:endParaRPr lang="en-US" sz="900" dirty="0"/>
          </a:p>
          <a:p>
            <a:pPr indent="0" marL="0">
              <a:buNone/>
            </a:pP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elif mode == "plagiarism":</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query_emb = embedder.encode([text])</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D, I = index.search(query_emb, k=3)</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return build_results(D, I, corpus)</a:t>
            </a:r>
            <a:endParaRPr lang="en-US" sz="900" dirty="0"/>
          </a:p>
          <a:p>
            <a:pPr indent="0" marL="0">
              <a:buNone/>
            </a:pP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else:</a:t>
            </a:r>
            <a:endParaRPr lang="en-US" sz="900" dirty="0"/>
          </a:p>
          <a:p>
            <a:pPr indent="0" marL="0">
              <a:buNone/>
            </a:pPr>
            <a:r>
              <a:rPr lang="en-US" sz="900" dirty="0">
                <a:solidFill>
                  <a:srgbClr val="A5F3FC"/>
                </a:solidFill>
                <a:latin typeface="Consolas" pitchFamily="34" charset="0"/>
                <a:ea typeface="Consolas" pitchFamily="34" charset="-122"/>
                <a:cs typeface="Consolas" pitchFamily="34" charset="-120"/>
              </a:rPr>
              <a:t>        return "Invalid mode"</a:t>
            </a:r>
            <a:endParaRPr lang="en-US" sz="900" dirty="0"/>
          </a:p>
        </p:txBody>
      </p:sp>
      <p:sp>
        <p:nvSpPr>
          <p:cNvPr id="7" name="Text 5"/>
          <p:cNvSpPr/>
          <p:nvPr/>
        </p:nvSpPr>
        <p:spPr>
          <a:xfrm>
            <a:off x="5166360" y="1261872"/>
            <a:ext cx="3749040" cy="274320"/>
          </a:xfrm>
          <a:prstGeom prst="rect">
            <a:avLst/>
          </a:prstGeom>
          <a:noFill/>
          <a:ln/>
        </p:spPr>
        <p:txBody>
          <a:bodyPr wrap="square" rtlCol="0" anchor="ctr"/>
          <a:lstStyle/>
          <a:p>
            <a:pPr indent="0" marL="0">
              <a:buNone/>
            </a:pPr>
            <a:r>
              <a:rPr lang="en-US" sz="1300" b="1" dirty="0">
                <a:solidFill>
                  <a:srgbClr val="1A73E8"/>
                </a:solidFill>
              </a:rPr>
              <a:t>How it works:</a:t>
            </a:r>
            <a:endParaRPr lang="en-US" sz="1300" dirty="0"/>
          </a:p>
        </p:txBody>
      </p:sp>
      <p:sp>
        <p:nvSpPr>
          <p:cNvPr id="8" name="Shape 6"/>
          <p:cNvSpPr/>
          <p:nvPr/>
        </p:nvSpPr>
        <p:spPr>
          <a:xfrm>
            <a:off x="5166360" y="1664208"/>
            <a:ext cx="868680" cy="594360"/>
          </a:xfrm>
          <a:prstGeom prst="rect">
            <a:avLst/>
          </a:prstGeom>
          <a:solidFill>
            <a:srgbClr val="1A73E8"/>
          </a:solidFill>
          <a:ln w="12700">
            <a:solidFill>
              <a:srgbClr val="000000"/>
            </a:solidFill>
            <a:prstDash val="solid"/>
          </a:ln>
        </p:spPr>
      </p:sp>
      <p:sp>
        <p:nvSpPr>
          <p:cNvPr id="9" name="Text 7"/>
          <p:cNvSpPr/>
          <p:nvPr/>
        </p:nvSpPr>
        <p:spPr>
          <a:xfrm>
            <a:off x="5166360" y="1664208"/>
            <a:ext cx="868680" cy="594360"/>
          </a:xfrm>
          <a:prstGeom prst="rect">
            <a:avLst/>
          </a:prstGeom>
          <a:noFill/>
          <a:ln/>
        </p:spPr>
        <p:txBody>
          <a:bodyPr wrap="square" lIns="0" tIns="0" rIns="0" bIns="0" rtlCol="0" anchor="ctr"/>
          <a:lstStyle/>
          <a:p>
            <a:pPr algn="ctr" indent="0" marL="0">
              <a:buNone/>
            </a:pPr>
            <a:r>
              <a:rPr lang="en-US" sz="1000" b="1" dirty="0">
                <a:solidFill>
                  <a:srgbClr val="FFFFFF"/>
                </a:solidFill>
              </a:rPr>
              <a:t>Input</a:t>
            </a:r>
            <a:endParaRPr lang="en-US" sz="1000" dirty="0"/>
          </a:p>
        </p:txBody>
      </p:sp>
      <p:sp>
        <p:nvSpPr>
          <p:cNvPr id="10" name="Shape 8"/>
          <p:cNvSpPr/>
          <p:nvPr/>
        </p:nvSpPr>
        <p:spPr>
          <a:xfrm>
            <a:off x="6080760" y="1664208"/>
            <a:ext cx="2743200" cy="594360"/>
          </a:xfrm>
          <a:prstGeom prst="rect">
            <a:avLst/>
          </a:prstGeom>
          <a:solidFill>
            <a:srgbClr val="FFFFFF"/>
          </a:solidFill>
          <a:ln w="12700">
            <a:solidFill>
              <a:srgbClr val="CBD5E1"/>
            </a:solidFill>
            <a:prstDash val="solid"/>
          </a:ln>
        </p:spPr>
      </p:sp>
      <p:sp>
        <p:nvSpPr>
          <p:cNvPr id="11" name="Text 9"/>
          <p:cNvSpPr/>
          <p:nvPr/>
        </p:nvSpPr>
        <p:spPr>
          <a:xfrm>
            <a:off x="6172200" y="1664208"/>
            <a:ext cx="2606040" cy="594360"/>
          </a:xfrm>
          <a:prstGeom prst="rect">
            <a:avLst/>
          </a:prstGeom>
          <a:noFill/>
          <a:ln/>
        </p:spPr>
        <p:txBody>
          <a:bodyPr wrap="square" rtlCol="0" anchor="ctr"/>
          <a:lstStyle/>
          <a:p>
            <a:pPr indent="0" marL="0">
              <a:buNone/>
            </a:pPr>
            <a:r>
              <a:rPr lang="en-US" sz="1000" dirty="0">
                <a:solidFill>
                  <a:srgbClr val="1E293B"/>
                </a:solidFill>
              </a:rPr>
              <a:t>Any text string</a:t>
            </a:r>
            <a:endParaRPr lang="en-US" sz="1000" dirty="0"/>
          </a:p>
        </p:txBody>
      </p:sp>
      <p:sp>
        <p:nvSpPr>
          <p:cNvPr id="12" name="Shape 10"/>
          <p:cNvSpPr/>
          <p:nvPr/>
        </p:nvSpPr>
        <p:spPr>
          <a:xfrm>
            <a:off x="5605272" y="2258568"/>
            <a:ext cx="0" cy="210312"/>
          </a:xfrm>
          <a:prstGeom prst="line">
            <a:avLst/>
          </a:prstGeom>
          <a:noFill/>
          <a:ln w="12700">
            <a:solidFill>
              <a:srgbClr val="64748B"/>
            </a:solidFill>
            <a:prstDash val="solid"/>
          </a:ln>
        </p:spPr>
      </p:sp>
      <p:sp>
        <p:nvSpPr>
          <p:cNvPr id="13" name="Shape 11"/>
          <p:cNvSpPr/>
          <p:nvPr/>
        </p:nvSpPr>
        <p:spPr>
          <a:xfrm>
            <a:off x="5166360" y="2468880"/>
            <a:ext cx="868680" cy="594360"/>
          </a:xfrm>
          <a:prstGeom prst="rect">
            <a:avLst/>
          </a:prstGeom>
          <a:solidFill>
            <a:srgbClr val="00BFA5"/>
          </a:solidFill>
          <a:ln w="12700">
            <a:solidFill>
              <a:srgbClr val="000000"/>
            </a:solidFill>
            <a:prstDash val="solid"/>
          </a:ln>
        </p:spPr>
      </p:sp>
      <p:sp>
        <p:nvSpPr>
          <p:cNvPr id="14" name="Text 12"/>
          <p:cNvSpPr/>
          <p:nvPr/>
        </p:nvSpPr>
        <p:spPr>
          <a:xfrm>
            <a:off x="5166360" y="2468880"/>
            <a:ext cx="868680" cy="594360"/>
          </a:xfrm>
          <a:prstGeom prst="rect">
            <a:avLst/>
          </a:prstGeom>
          <a:noFill/>
          <a:ln/>
        </p:spPr>
        <p:txBody>
          <a:bodyPr wrap="square" lIns="0" tIns="0" rIns="0" bIns="0" rtlCol="0" anchor="ctr"/>
          <a:lstStyle/>
          <a:p>
            <a:pPr algn="ctr" indent="0" marL="0">
              <a:buNone/>
            </a:pPr>
            <a:r>
              <a:rPr lang="en-US" sz="1000" b="1" dirty="0">
                <a:solidFill>
                  <a:srgbClr val="FFFFFF"/>
                </a:solidFill>
              </a:rPr>
              <a:t>Preprocess</a:t>
            </a:r>
            <a:endParaRPr lang="en-US" sz="1000" dirty="0"/>
          </a:p>
        </p:txBody>
      </p:sp>
      <p:sp>
        <p:nvSpPr>
          <p:cNvPr id="15" name="Shape 13"/>
          <p:cNvSpPr/>
          <p:nvPr/>
        </p:nvSpPr>
        <p:spPr>
          <a:xfrm>
            <a:off x="6080760" y="2468880"/>
            <a:ext cx="2743200" cy="594360"/>
          </a:xfrm>
          <a:prstGeom prst="rect">
            <a:avLst/>
          </a:prstGeom>
          <a:solidFill>
            <a:srgbClr val="FFFFFF"/>
          </a:solidFill>
          <a:ln w="12700">
            <a:solidFill>
              <a:srgbClr val="CBD5E1"/>
            </a:solidFill>
            <a:prstDash val="solid"/>
          </a:ln>
        </p:spPr>
      </p:sp>
      <p:sp>
        <p:nvSpPr>
          <p:cNvPr id="16" name="Text 14"/>
          <p:cNvSpPr/>
          <p:nvPr/>
        </p:nvSpPr>
        <p:spPr>
          <a:xfrm>
            <a:off x="6172200" y="2468880"/>
            <a:ext cx="2606040" cy="594360"/>
          </a:xfrm>
          <a:prstGeom prst="rect">
            <a:avLst/>
          </a:prstGeom>
          <a:noFill/>
          <a:ln/>
        </p:spPr>
        <p:txBody>
          <a:bodyPr wrap="square" rtlCol="0" anchor="ctr"/>
          <a:lstStyle/>
          <a:p>
            <a:pPr indent="0" marL="0">
              <a:buNone/>
            </a:pPr>
            <a:r>
              <a:rPr lang="en-US" sz="1000" dirty="0">
                <a:solidFill>
                  <a:srgbClr val="1E293B"/>
                </a:solidFill>
              </a:rPr>
              <a:t>Clean + truncate to 1,500 chars</a:t>
            </a:r>
            <a:endParaRPr lang="en-US" sz="1000" dirty="0"/>
          </a:p>
        </p:txBody>
      </p:sp>
      <p:sp>
        <p:nvSpPr>
          <p:cNvPr id="17" name="Shape 15"/>
          <p:cNvSpPr/>
          <p:nvPr/>
        </p:nvSpPr>
        <p:spPr>
          <a:xfrm>
            <a:off x="5605272" y="3063240"/>
            <a:ext cx="0" cy="210312"/>
          </a:xfrm>
          <a:prstGeom prst="line">
            <a:avLst/>
          </a:prstGeom>
          <a:noFill/>
          <a:ln w="12700">
            <a:solidFill>
              <a:srgbClr val="64748B"/>
            </a:solidFill>
            <a:prstDash val="solid"/>
          </a:ln>
        </p:spPr>
      </p:sp>
      <p:sp>
        <p:nvSpPr>
          <p:cNvPr id="18" name="Shape 16"/>
          <p:cNvSpPr/>
          <p:nvPr/>
        </p:nvSpPr>
        <p:spPr>
          <a:xfrm>
            <a:off x="5166360" y="3273552"/>
            <a:ext cx="868680" cy="594360"/>
          </a:xfrm>
          <a:prstGeom prst="rect">
            <a:avLst/>
          </a:prstGeom>
          <a:solidFill>
            <a:srgbClr val="7C3AED"/>
          </a:solidFill>
          <a:ln w="12700">
            <a:solidFill>
              <a:srgbClr val="000000"/>
            </a:solidFill>
            <a:prstDash val="solid"/>
          </a:ln>
        </p:spPr>
      </p:sp>
      <p:sp>
        <p:nvSpPr>
          <p:cNvPr id="19" name="Text 17"/>
          <p:cNvSpPr/>
          <p:nvPr/>
        </p:nvSpPr>
        <p:spPr>
          <a:xfrm>
            <a:off x="5166360" y="3273552"/>
            <a:ext cx="868680" cy="594360"/>
          </a:xfrm>
          <a:prstGeom prst="rect">
            <a:avLst/>
          </a:prstGeom>
          <a:noFill/>
          <a:ln/>
        </p:spPr>
        <p:txBody>
          <a:bodyPr wrap="square" lIns="0" tIns="0" rIns="0" bIns="0" rtlCol="0" anchor="ctr"/>
          <a:lstStyle/>
          <a:p>
            <a:pPr algn="ctr" indent="0" marL="0">
              <a:buNone/>
            </a:pPr>
            <a:r>
              <a:rPr lang="en-US" sz="1000" b="1" dirty="0">
                <a:solidFill>
                  <a:srgbClr val="FFFFFF"/>
                </a:solidFill>
              </a:rPr>
              <a:t>Router</a:t>
            </a:r>
            <a:endParaRPr lang="en-US" sz="1000" dirty="0"/>
          </a:p>
        </p:txBody>
      </p:sp>
      <p:sp>
        <p:nvSpPr>
          <p:cNvPr id="20" name="Shape 18"/>
          <p:cNvSpPr/>
          <p:nvPr/>
        </p:nvSpPr>
        <p:spPr>
          <a:xfrm>
            <a:off x="6080760" y="3273552"/>
            <a:ext cx="2743200" cy="594360"/>
          </a:xfrm>
          <a:prstGeom prst="rect">
            <a:avLst/>
          </a:prstGeom>
          <a:solidFill>
            <a:srgbClr val="FFFFFF"/>
          </a:solidFill>
          <a:ln w="12700">
            <a:solidFill>
              <a:srgbClr val="CBD5E1"/>
            </a:solidFill>
            <a:prstDash val="solid"/>
          </a:ln>
        </p:spPr>
      </p:sp>
      <p:sp>
        <p:nvSpPr>
          <p:cNvPr id="21" name="Text 19"/>
          <p:cNvSpPr/>
          <p:nvPr/>
        </p:nvSpPr>
        <p:spPr>
          <a:xfrm>
            <a:off x="6172200" y="3273552"/>
            <a:ext cx="2606040" cy="594360"/>
          </a:xfrm>
          <a:prstGeom prst="rect">
            <a:avLst/>
          </a:prstGeom>
          <a:noFill/>
          <a:ln/>
        </p:spPr>
        <p:txBody>
          <a:bodyPr wrap="square" rtlCol="0" anchor="ctr"/>
          <a:lstStyle/>
          <a:p>
            <a:pPr indent="0" marL="0">
              <a:buNone/>
            </a:pPr>
            <a:r>
              <a:rPr lang="en-US" sz="1000" dirty="0">
                <a:solidFill>
                  <a:srgbClr val="1E293B"/>
                </a:solidFill>
              </a:rPr>
              <a:t>mode = 'summarize' | 'paraphrase' | 'plagiarism'</a:t>
            </a:r>
            <a:endParaRPr lang="en-US" sz="1000" dirty="0"/>
          </a:p>
        </p:txBody>
      </p:sp>
      <p:sp>
        <p:nvSpPr>
          <p:cNvPr id="22" name="Shape 20"/>
          <p:cNvSpPr/>
          <p:nvPr/>
        </p:nvSpPr>
        <p:spPr>
          <a:xfrm>
            <a:off x="5605272" y="3867912"/>
            <a:ext cx="0" cy="210312"/>
          </a:xfrm>
          <a:prstGeom prst="line">
            <a:avLst/>
          </a:prstGeom>
          <a:noFill/>
          <a:ln w="12700">
            <a:solidFill>
              <a:srgbClr val="64748B"/>
            </a:solidFill>
            <a:prstDash val="solid"/>
          </a:ln>
        </p:spPr>
      </p:sp>
      <p:sp>
        <p:nvSpPr>
          <p:cNvPr id="23" name="Shape 21"/>
          <p:cNvSpPr/>
          <p:nvPr/>
        </p:nvSpPr>
        <p:spPr>
          <a:xfrm>
            <a:off x="5166360" y="4078224"/>
            <a:ext cx="868680" cy="594360"/>
          </a:xfrm>
          <a:prstGeom prst="rect">
            <a:avLst/>
          </a:prstGeom>
          <a:solidFill>
            <a:srgbClr val="10B981"/>
          </a:solidFill>
          <a:ln w="12700">
            <a:solidFill>
              <a:srgbClr val="000000"/>
            </a:solidFill>
            <a:prstDash val="solid"/>
          </a:ln>
        </p:spPr>
      </p:sp>
      <p:sp>
        <p:nvSpPr>
          <p:cNvPr id="24" name="Text 22"/>
          <p:cNvSpPr/>
          <p:nvPr/>
        </p:nvSpPr>
        <p:spPr>
          <a:xfrm>
            <a:off x="5166360" y="4078224"/>
            <a:ext cx="868680" cy="594360"/>
          </a:xfrm>
          <a:prstGeom prst="rect">
            <a:avLst/>
          </a:prstGeom>
          <a:noFill/>
          <a:ln/>
        </p:spPr>
        <p:txBody>
          <a:bodyPr wrap="square" lIns="0" tIns="0" rIns="0" bIns="0" rtlCol="0" anchor="ctr"/>
          <a:lstStyle/>
          <a:p>
            <a:pPr algn="ctr" indent="0" marL="0">
              <a:buNone/>
            </a:pPr>
            <a:r>
              <a:rPr lang="en-US" sz="1000" b="1" dirty="0">
                <a:solidFill>
                  <a:srgbClr val="FFFFFF"/>
                </a:solidFill>
              </a:rPr>
              <a:t>Output</a:t>
            </a:r>
            <a:endParaRPr lang="en-US" sz="1000" dirty="0"/>
          </a:p>
        </p:txBody>
      </p:sp>
      <p:sp>
        <p:nvSpPr>
          <p:cNvPr id="25" name="Shape 23"/>
          <p:cNvSpPr/>
          <p:nvPr/>
        </p:nvSpPr>
        <p:spPr>
          <a:xfrm>
            <a:off x="6080760" y="4078224"/>
            <a:ext cx="2743200" cy="594360"/>
          </a:xfrm>
          <a:prstGeom prst="rect">
            <a:avLst/>
          </a:prstGeom>
          <a:solidFill>
            <a:srgbClr val="FFFFFF"/>
          </a:solidFill>
          <a:ln w="12700">
            <a:solidFill>
              <a:srgbClr val="CBD5E1"/>
            </a:solidFill>
            <a:prstDash val="solid"/>
          </a:ln>
        </p:spPr>
      </p:sp>
      <p:sp>
        <p:nvSpPr>
          <p:cNvPr id="26" name="Text 24"/>
          <p:cNvSpPr/>
          <p:nvPr/>
        </p:nvSpPr>
        <p:spPr>
          <a:xfrm>
            <a:off x="6172200" y="4078224"/>
            <a:ext cx="2606040" cy="594360"/>
          </a:xfrm>
          <a:prstGeom prst="rect">
            <a:avLst/>
          </a:prstGeom>
          <a:noFill/>
          <a:ln/>
        </p:spPr>
        <p:txBody>
          <a:bodyPr wrap="square" rtlCol="0" anchor="ctr"/>
          <a:lstStyle/>
          <a:p>
            <a:pPr indent="0" marL="0">
              <a:buNone/>
            </a:pPr>
            <a:r>
              <a:rPr lang="en-US" sz="1000" dirty="0">
                <a:solidFill>
                  <a:srgbClr val="1E293B"/>
                </a:solidFill>
              </a:rPr>
              <a:t>Summary text / Paraphrased text / Similarity report</a:t>
            </a:r>
            <a:endParaRPr lang="en-US" sz="1000" dirty="0"/>
          </a:p>
        </p:txBody>
      </p:sp>
      <p:sp>
        <p:nvSpPr>
          <p:cNvPr id="27" name="Shape 25"/>
          <p:cNvSpPr/>
          <p:nvPr/>
        </p:nvSpPr>
        <p:spPr>
          <a:xfrm>
            <a:off x="5166360" y="3931920"/>
            <a:ext cx="3657600" cy="685800"/>
          </a:xfrm>
          <a:prstGeom prst="rect">
            <a:avLst/>
          </a:prstGeom>
          <a:solidFill>
            <a:srgbClr val="F0FDF4"/>
          </a:solidFill>
          <a:ln w="12700">
            <a:solidFill>
              <a:srgbClr val="BBF7D0"/>
            </a:solidFill>
            <a:prstDash val="solid"/>
          </a:ln>
        </p:spPr>
      </p:sp>
      <p:sp>
        <p:nvSpPr>
          <p:cNvPr id="28" name="Text 26"/>
          <p:cNvSpPr/>
          <p:nvPr/>
        </p:nvSpPr>
        <p:spPr>
          <a:xfrm>
            <a:off x="5257800" y="3931920"/>
            <a:ext cx="3474720" cy="685800"/>
          </a:xfrm>
          <a:prstGeom prst="rect">
            <a:avLst/>
          </a:prstGeom>
          <a:noFill/>
          <a:ln/>
        </p:spPr>
        <p:txBody>
          <a:bodyPr wrap="square" rtlCol="0" anchor="ctr"/>
          <a:lstStyle/>
          <a:p>
            <a:pPr indent="0" marL="0">
              <a:buNone/>
            </a:pPr>
            <a:r>
              <a:rPr lang="en-US" sz="1000" dirty="0">
                <a:solidFill>
                  <a:srgbClr val="166534"/>
                </a:solidFill>
              </a:rPr>
              <a:t>✅ End-to-end test confirmed:</a:t>
            </a:r>
            <a:endParaRPr lang="en-US" sz="1000" dirty="0"/>
          </a:p>
          <a:p>
            <a:pPr indent="0" marL="0">
              <a:buNone/>
            </a:pPr>
            <a:r>
              <a:rPr lang="en-US" sz="1000" dirty="0">
                <a:solidFill>
                  <a:srgbClr val="166534"/>
                </a:solidFill>
              </a:rPr>
              <a:t>All 3 modes work seamlessly through single function call</a:t>
            </a:r>
            <a:endParaRPr lang="en-US" sz="1000" dirty="0"/>
          </a:p>
        </p:txBody>
      </p:sp>
      <p:sp>
        <p:nvSpPr>
          <p:cNvPr id="29" name="Text 27"/>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07 · APPLICATION</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800" b="1" dirty="0">
                <a:solidFill>
                  <a:srgbClr val="1E293B"/>
                </a:solidFill>
              </a:rPr>
              <a:t>Web Application — Streamlit Interface</a:t>
            </a:r>
            <a:endParaRPr lang="en-US" sz="2800" dirty="0"/>
          </a:p>
        </p:txBody>
      </p:sp>
      <p:sp>
        <p:nvSpPr>
          <p:cNvPr id="5" name="Shape 3"/>
          <p:cNvSpPr/>
          <p:nvPr/>
        </p:nvSpPr>
        <p:spPr>
          <a:xfrm>
            <a:off x="365760" y="1261872"/>
            <a:ext cx="5029200" cy="352044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261872"/>
            <a:ext cx="5029200" cy="274320"/>
          </a:xfrm>
          <a:prstGeom prst="rect">
            <a:avLst/>
          </a:prstGeom>
          <a:solidFill>
            <a:srgbClr val="E2E8F0"/>
          </a:solidFill>
          <a:ln w="12700">
            <a:solidFill>
              <a:srgbClr val="000000"/>
            </a:solidFill>
            <a:prstDash val="solid"/>
          </a:ln>
        </p:spPr>
      </p:sp>
      <p:sp>
        <p:nvSpPr>
          <p:cNvPr id="7" name="Shape 5"/>
          <p:cNvSpPr/>
          <p:nvPr/>
        </p:nvSpPr>
        <p:spPr>
          <a:xfrm>
            <a:off x="457200" y="1307592"/>
            <a:ext cx="137160" cy="137160"/>
          </a:xfrm>
          <a:prstGeom prst="ellipse">
            <a:avLst/>
          </a:prstGeom>
          <a:solidFill>
            <a:srgbClr val="EF4444"/>
          </a:solidFill>
          <a:ln w="12700">
            <a:solidFill>
              <a:srgbClr val="000000"/>
            </a:solidFill>
            <a:prstDash val="solid"/>
          </a:ln>
        </p:spPr>
      </p:sp>
      <p:sp>
        <p:nvSpPr>
          <p:cNvPr id="8" name="Shape 6"/>
          <p:cNvSpPr/>
          <p:nvPr/>
        </p:nvSpPr>
        <p:spPr>
          <a:xfrm>
            <a:off x="658368" y="1307592"/>
            <a:ext cx="137160" cy="137160"/>
          </a:xfrm>
          <a:prstGeom prst="ellipse">
            <a:avLst/>
          </a:prstGeom>
          <a:solidFill>
            <a:srgbClr val="F59E0B"/>
          </a:solidFill>
          <a:ln w="12700">
            <a:solidFill>
              <a:srgbClr val="000000"/>
            </a:solidFill>
            <a:prstDash val="solid"/>
          </a:ln>
        </p:spPr>
      </p:sp>
      <p:sp>
        <p:nvSpPr>
          <p:cNvPr id="9" name="Shape 7"/>
          <p:cNvSpPr/>
          <p:nvPr/>
        </p:nvSpPr>
        <p:spPr>
          <a:xfrm>
            <a:off x="859536" y="1307592"/>
            <a:ext cx="137160" cy="137160"/>
          </a:xfrm>
          <a:prstGeom prst="ellipse">
            <a:avLst/>
          </a:prstGeom>
          <a:solidFill>
            <a:srgbClr val="10B981"/>
          </a:solidFill>
          <a:ln w="12700">
            <a:solidFill>
              <a:srgbClr val="000000"/>
            </a:solidFill>
            <a:prstDash val="solid"/>
          </a:ln>
        </p:spPr>
      </p:sp>
      <p:sp>
        <p:nvSpPr>
          <p:cNvPr id="10" name="Text 8"/>
          <p:cNvSpPr/>
          <p:nvPr/>
        </p:nvSpPr>
        <p:spPr>
          <a:xfrm>
            <a:off x="1097280" y="1289304"/>
            <a:ext cx="3657600" cy="219456"/>
          </a:xfrm>
          <a:prstGeom prst="rect">
            <a:avLst/>
          </a:prstGeom>
          <a:noFill/>
          <a:ln/>
        </p:spPr>
        <p:txBody>
          <a:bodyPr wrap="square" rtlCol="0" anchor="ctr"/>
          <a:lstStyle/>
          <a:p>
            <a:pPr indent="0" marL="0">
              <a:buNone/>
            </a:pPr>
            <a:r>
              <a:rPr lang="en-US" sz="900" dirty="0">
                <a:solidFill>
                  <a:srgbClr val="64748B"/>
                </a:solidFill>
              </a:rPr>
              <a:t>DocTrust — Integrated NLP System</a:t>
            </a:r>
            <a:endParaRPr lang="en-US" sz="900" dirty="0"/>
          </a:p>
        </p:txBody>
      </p:sp>
      <p:sp>
        <p:nvSpPr>
          <p:cNvPr id="11" name="Text 9"/>
          <p:cNvSpPr/>
          <p:nvPr/>
        </p:nvSpPr>
        <p:spPr>
          <a:xfrm>
            <a:off x="502920" y="1600200"/>
            <a:ext cx="4754880" cy="347472"/>
          </a:xfrm>
          <a:prstGeom prst="rect">
            <a:avLst/>
          </a:prstGeom>
          <a:noFill/>
          <a:ln/>
        </p:spPr>
        <p:txBody>
          <a:bodyPr wrap="square" rtlCol="0" anchor="ctr"/>
          <a:lstStyle/>
          <a:p>
            <a:pPr indent="0" marL="0">
              <a:buNone/>
            </a:pPr>
            <a:r>
              <a:rPr lang="en-US" sz="1800" b="1" dirty="0">
                <a:solidFill>
                  <a:srgbClr val="0D1B3E"/>
                </a:solidFill>
              </a:rPr>
              <a:t>🔒 DocTrust</a:t>
            </a:r>
            <a:endParaRPr lang="en-US" sz="1800" dirty="0"/>
          </a:p>
        </p:txBody>
      </p:sp>
      <p:sp>
        <p:nvSpPr>
          <p:cNvPr id="12" name="Text 10"/>
          <p:cNvSpPr/>
          <p:nvPr/>
        </p:nvSpPr>
        <p:spPr>
          <a:xfrm>
            <a:off x="502920" y="2029968"/>
            <a:ext cx="1828800" cy="228600"/>
          </a:xfrm>
          <a:prstGeom prst="rect">
            <a:avLst/>
          </a:prstGeom>
          <a:noFill/>
          <a:ln/>
        </p:spPr>
        <p:txBody>
          <a:bodyPr wrap="square" rtlCol="0" anchor="ctr"/>
          <a:lstStyle/>
          <a:p>
            <a:pPr indent="0" marL="0">
              <a:buNone/>
            </a:pPr>
            <a:r>
              <a:rPr lang="en-US" sz="1000" b="1" dirty="0">
                <a:solidFill>
                  <a:srgbClr val="1E293B"/>
                </a:solidFill>
              </a:rPr>
              <a:t>Select Mode:</a:t>
            </a:r>
            <a:endParaRPr lang="en-US" sz="1000" dirty="0"/>
          </a:p>
        </p:txBody>
      </p:sp>
      <p:sp>
        <p:nvSpPr>
          <p:cNvPr id="13" name="Shape 11"/>
          <p:cNvSpPr/>
          <p:nvPr/>
        </p:nvSpPr>
        <p:spPr>
          <a:xfrm>
            <a:off x="502920" y="2286000"/>
            <a:ext cx="1417320" cy="274320"/>
          </a:xfrm>
          <a:prstGeom prst="rect">
            <a:avLst/>
          </a:prstGeom>
          <a:solidFill>
            <a:srgbClr val="1A73E8"/>
          </a:solidFill>
          <a:ln w="12700">
            <a:solidFill>
              <a:srgbClr val="000000"/>
            </a:solidFill>
            <a:prstDash val="solid"/>
          </a:ln>
        </p:spPr>
      </p:sp>
      <p:sp>
        <p:nvSpPr>
          <p:cNvPr id="14" name="Text 12"/>
          <p:cNvSpPr/>
          <p:nvPr/>
        </p:nvSpPr>
        <p:spPr>
          <a:xfrm>
            <a:off x="502920" y="2286000"/>
            <a:ext cx="1417320" cy="274320"/>
          </a:xfrm>
          <a:prstGeom prst="rect">
            <a:avLst/>
          </a:prstGeom>
          <a:noFill/>
          <a:ln/>
        </p:spPr>
        <p:txBody>
          <a:bodyPr wrap="square" lIns="0" tIns="0" rIns="0" bIns="0" rtlCol="0" anchor="ctr"/>
          <a:lstStyle/>
          <a:p>
            <a:pPr algn="ctr" indent="0" marL="0">
              <a:buNone/>
            </a:pPr>
            <a:r>
              <a:rPr lang="en-US" sz="900" dirty="0">
                <a:solidFill>
                  <a:srgbClr val="FFFFFF"/>
                </a:solidFill>
              </a:rPr>
              <a:t>📝 Summarize</a:t>
            </a:r>
            <a:endParaRPr lang="en-US" sz="900" dirty="0"/>
          </a:p>
        </p:txBody>
      </p:sp>
      <p:sp>
        <p:nvSpPr>
          <p:cNvPr id="15" name="Shape 13"/>
          <p:cNvSpPr/>
          <p:nvPr/>
        </p:nvSpPr>
        <p:spPr>
          <a:xfrm>
            <a:off x="2039112" y="2286000"/>
            <a:ext cx="1417320" cy="274320"/>
          </a:xfrm>
          <a:prstGeom prst="rect">
            <a:avLst/>
          </a:prstGeom>
          <a:solidFill>
            <a:srgbClr val="E2E8F0"/>
          </a:solidFill>
          <a:ln w="12700">
            <a:solidFill>
              <a:srgbClr val="000000"/>
            </a:solidFill>
            <a:prstDash val="solid"/>
          </a:ln>
        </p:spPr>
      </p:sp>
      <p:sp>
        <p:nvSpPr>
          <p:cNvPr id="16" name="Text 14"/>
          <p:cNvSpPr/>
          <p:nvPr/>
        </p:nvSpPr>
        <p:spPr>
          <a:xfrm>
            <a:off x="2039112" y="2286000"/>
            <a:ext cx="1417320" cy="274320"/>
          </a:xfrm>
          <a:prstGeom prst="rect">
            <a:avLst/>
          </a:prstGeom>
          <a:noFill/>
          <a:ln/>
        </p:spPr>
        <p:txBody>
          <a:bodyPr wrap="square" lIns="0" tIns="0" rIns="0" bIns="0" rtlCol="0" anchor="ctr"/>
          <a:lstStyle/>
          <a:p>
            <a:pPr algn="ctr" indent="0" marL="0">
              <a:buNone/>
            </a:pPr>
            <a:r>
              <a:rPr lang="en-US" sz="900" dirty="0">
                <a:solidFill>
                  <a:srgbClr val="64748B"/>
                </a:solidFill>
              </a:rPr>
              <a:t>✍️ Paraphrase</a:t>
            </a:r>
            <a:endParaRPr lang="en-US" sz="900" dirty="0"/>
          </a:p>
        </p:txBody>
      </p:sp>
      <p:sp>
        <p:nvSpPr>
          <p:cNvPr id="17" name="Shape 15"/>
          <p:cNvSpPr/>
          <p:nvPr/>
        </p:nvSpPr>
        <p:spPr>
          <a:xfrm>
            <a:off x="3575304" y="2286000"/>
            <a:ext cx="1417320" cy="274320"/>
          </a:xfrm>
          <a:prstGeom prst="rect">
            <a:avLst/>
          </a:prstGeom>
          <a:solidFill>
            <a:srgbClr val="E2E8F0"/>
          </a:solidFill>
          <a:ln w="12700">
            <a:solidFill>
              <a:srgbClr val="000000"/>
            </a:solidFill>
            <a:prstDash val="solid"/>
          </a:ln>
        </p:spPr>
      </p:sp>
      <p:sp>
        <p:nvSpPr>
          <p:cNvPr id="18" name="Text 16"/>
          <p:cNvSpPr/>
          <p:nvPr/>
        </p:nvSpPr>
        <p:spPr>
          <a:xfrm>
            <a:off x="3575304" y="2286000"/>
            <a:ext cx="1417320" cy="274320"/>
          </a:xfrm>
          <a:prstGeom prst="rect">
            <a:avLst/>
          </a:prstGeom>
          <a:noFill/>
          <a:ln/>
        </p:spPr>
        <p:txBody>
          <a:bodyPr wrap="square" lIns="0" tIns="0" rIns="0" bIns="0" rtlCol="0" anchor="ctr"/>
          <a:lstStyle/>
          <a:p>
            <a:pPr algn="ctr" indent="0" marL="0">
              <a:buNone/>
            </a:pPr>
            <a:r>
              <a:rPr lang="en-US" sz="900" dirty="0">
                <a:solidFill>
                  <a:srgbClr val="64748B"/>
                </a:solidFill>
              </a:rPr>
              <a:t>🔍 Plagiarism</a:t>
            </a:r>
            <a:endParaRPr lang="en-US" sz="900" dirty="0"/>
          </a:p>
        </p:txBody>
      </p:sp>
      <p:sp>
        <p:nvSpPr>
          <p:cNvPr id="19" name="Shape 17"/>
          <p:cNvSpPr/>
          <p:nvPr/>
        </p:nvSpPr>
        <p:spPr>
          <a:xfrm>
            <a:off x="502920" y="2651760"/>
            <a:ext cx="4754880" cy="731520"/>
          </a:xfrm>
          <a:prstGeom prst="rect">
            <a:avLst/>
          </a:prstGeom>
          <a:solidFill>
            <a:srgbClr val="F8FAFC"/>
          </a:solidFill>
          <a:ln w="12700">
            <a:solidFill>
              <a:srgbClr val="CBD5E1"/>
            </a:solidFill>
            <a:prstDash val="solid"/>
          </a:ln>
        </p:spPr>
      </p:sp>
      <p:sp>
        <p:nvSpPr>
          <p:cNvPr id="20" name="Text 18"/>
          <p:cNvSpPr/>
          <p:nvPr/>
        </p:nvSpPr>
        <p:spPr>
          <a:xfrm>
            <a:off x="594360" y="2697480"/>
            <a:ext cx="4572000" cy="594360"/>
          </a:xfrm>
          <a:prstGeom prst="rect">
            <a:avLst/>
          </a:prstGeom>
          <a:noFill/>
          <a:ln/>
        </p:spPr>
        <p:txBody>
          <a:bodyPr wrap="square" rtlCol="0" anchor="t"/>
          <a:lstStyle/>
          <a:p>
            <a:pPr indent="0" marL="0">
              <a:buNone/>
            </a:pPr>
            <a:r>
              <a:rPr lang="en-US" sz="900" dirty="0">
                <a:solidFill>
                  <a:srgbClr val="CBD5E1"/>
                </a:solidFill>
              </a:rPr>
              <a:t>Enter your text here...</a:t>
            </a:r>
            <a:endParaRPr lang="en-US" sz="900" dirty="0"/>
          </a:p>
        </p:txBody>
      </p:sp>
      <p:sp>
        <p:nvSpPr>
          <p:cNvPr id="21" name="Shape 19"/>
          <p:cNvSpPr/>
          <p:nvPr/>
        </p:nvSpPr>
        <p:spPr>
          <a:xfrm>
            <a:off x="502920" y="3474720"/>
            <a:ext cx="1371600" cy="274320"/>
          </a:xfrm>
          <a:prstGeom prst="rect">
            <a:avLst/>
          </a:prstGeom>
          <a:solidFill>
            <a:srgbClr val="1A73E8"/>
          </a:solidFill>
          <a:ln w="12700">
            <a:solidFill>
              <a:srgbClr val="000000"/>
            </a:solidFill>
            <a:prstDash val="solid"/>
          </a:ln>
        </p:spPr>
      </p:sp>
      <p:sp>
        <p:nvSpPr>
          <p:cNvPr id="22" name="Text 20"/>
          <p:cNvSpPr/>
          <p:nvPr/>
        </p:nvSpPr>
        <p:spPr>
          <a:xfrm>
            <a:off x="502920" y="347472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 Run</a:t>
            </a:r>
            <a:endParaRPr lang="en-US" sz="1000" dirty="0"/>
          </a:p>
        </p:txBody>
      </p:sp>
      <p:sp>
        <p:nvSpPr>
          <p:cNvPr id="23" name="Shape 21"/>
          <p:cNvSpPr/>
          <p:nvPr/>
        </p:nvSpPr>
        <p:spPr>
          <a:xfrm>
            <a:off x="502920" y="3822192"/>
            <a:ext cx="4754880" cy="777240"/>
          </a:xfrm>
          <a:prstGeom prst="rect">
            <a:avLst/>
          </a:prstGeom>
          <a:solidFill>
            <a:srgbClr val="F0FDF4"/>
          </a:solidFill>
          <a:ln w="12700">
            <a:solidFill>
              <a:srgbClr val="BBF7D0"/>
            </a:solidFill>
            <a:prstDash val="solid"/>
          </a:ln>
        </p:spPr>
      </p:sp>
      <p:sp>
        <p:nvSpPr>
          <p:cNvPr id="24" name="Text 22"/>
          <p:cNvSpPr/>
          <p:nvPr/>
        </p:nvSpPr>
        <p:spPr>
          <a:xfrm>
            <a:off x="594360" y="3858768"/>
            <a:ext cx="4572000" cy="694944"/>
          </a:xfrm>
          <a:prstGeom prst="rect">
            <a:avLst/>
          </a:prstGeom>
          <a:noFill/>
          <a:ln/>
        </p:spPr>
        <p:txBody>
          <a:bodyPr wrap="square" rtlCol="0" anchor="t"/>
          <a:lstStyle/>
          <a:p>
            <a:pPr indent="0" marL="0">
              <a:buNone/>
            </a:pPr>
            <a:r>
              <a:rPr lang="en-US" sz="900" dirty="0">
                <a:solidFill>
                  <a:srgbClr val="1E293B"/>
                </a:solidFill>
              </a:rPr>
              <a:t>Output: "Obama sends a letter to Congress asking them to authorize military action..."</a:t>
            </a:r>
            <a:endParaRPr lang="en-US" sz="900" dirty="0"/>
          </a:p>
        </p:txBody>
      </p:sp>
      <p:sp>
        <p:nvSpPr>
          <p:cNvPr id="25" name="Text 23"/>
          <p:cNvSpPr/>
          <p:nvPr/>
        </p:nvSpPr>
        <p:spPr>
          <a:xfrm>
            <a:off x="5669280" y="1261872"/>
            <a:ext cx="3200400" cy="274320"/>
          </a:xfrm>
          <a:prstGeom prst="rect">
            <a:avLst/>
          </a:prstGeom>
          <a:noFill/>
          <a:ln/>
        </p:spPr>
        <p:txBody>
          <a:bodyPr wrap="square" rtlCol="0" anchor="ctr"/>
          <a:lstStyle/>
          <a:p>
            <a:pPr indent="0" marL="0">
              <a:buNone/>
            </a:pPr>
            <a:r>
              <a:rPr lang="en-US" sz="1300" b="1" dirty="0">
                <a:solidFill>
                  <a:srgbClr val="1A73E8"/>
                </a:solidFill>
              </a:rPr>
              <a:t>Deployment Stack</a:t>
            </a:r>
            <a:endParaRPr lang="en-US" sz="1300" dirty="0"/>
          </a:p>
        </p:txBody>
      </p:sp>
      <p:sp>
        <p:nvSpPr>
          <p:cNvPr id="26" name="Text 24"/>
          <p:cNvSpPr/>
          <p:nvPr/>
        </p:nvSpPr>
        <p:spPr>
          <a:xfrm>
            <a:off x="5669280" y="1627632"/>
            <a:ext cx="3200400" cy="228600"/>
          </a:xfrm>
          <a:prstGeom prst="rect">
            <a:avLst/>
          </a:prstGeom>
          <a:noFill/>
          <a:ln/>
        </p:spPr>
        <p:txBody>
          <a:bodyPr wrap="square" lIns="0" tIns="0" rIns="0" bIns="0" rtlCol="0" anchor="ctr"/>
          <a:lstStyle/>
          <a:p>
            <a:pPr indent="0" marL="0">
              <a:buNone/>
            </a:pPr>
            <a:r>
              <a:rPr lang="en-US" sz="1100" b="1" dirty="0">
                <a:solidFill>
                  <a:srgbClr val="1E293B"/>
                </a:solidFill>
              </a:rPr>
              <a:t>🌐  Streamlit</a:t>
            </a:r>
            <a:endParaRPr lang="en-US" sz="1100" dirty="0"/>
          </a:p>
        </p:txBody>
      </p:sp>
      <p:sp>
        <p:nvSpPr>
          <p:cNvPr id="27" name="Text 25"/>
          <p:cNvSpPr/>
          <p:nvPr/>
        </p:nvSpPr>
        <p:spPr>
          <a:xfrm>
            <a:off x="5669280" y="1847088"/>
            <a:ext cx="3200400" cy="201168"/>
          </a:xfrm>
          <a:prstGeom prst="rect">
            <a:avLst/>
          </a:prstGeom>
          <a:noFill/>
          <a:ln/>
        </p:spPr>
        <p:txBody>
          <a:bodyPr wrap="square" lIns="0" tIns="0" rIns="0" bIns="0" rtlCol="0" anchor="ctr"/>
          <a:lstStyle/>
          <a:p>
            <a:pPr indent="0" marL="0">
              <a:buNone/>
            </a:pPr>
            <a:r>
              <a:rPr lang="en-US" sz="950" dirty="0">
                <a:solidFill>
                  <a:srgbClr val="64748B"/>
                </a:solidFill>
              </a:rPr>
              <a:t>Web framework for Python ML apps</a:t>
            </a:r>
            <a:endParaRPr lang="en-US" sz="950" dirty="0"/>
          </a:p>
        </p:txBody>
      </p:sp>
      <p:sp>
        <p:nvSpPr>
          <p:cNvPr id="28" name="Text 26"/>
          <p:cNvSpPr/>
          <p:nvPr/>
        </p:nvSpPr>
        <p:spPr>
          <a:xfrm>
            <a:off x="5669280" y="2148840"/>
            <a:ext cx="3200400" cy="228600"/>
          </a:xfrm>
          <a:prstGeom prst="rect">
            <a:avLst/>
          </a:prstGeom>
          <a:noFill/>
          <a:ln/>
        </p:spPr>
        <p:txBody>
          <a:bodyPr wrap="square" lIns="0" tIns="0" rIns="0" bIns="0" rtlCol="0" anchor="ctr"/>
          <a:lstStyle/>
          <a:p>
            <a:pPr indent="0" marL="0">
              <a:buNone/>
            </a:pPr>
            <a:r>
              <a:rPr lang="en-US" sz="1100" b="1" dirty="0">
                <a:solidFill>
                  <a:srgbClr val="1E293B"/>
                </a:solidFill>
              </a:rPr>
              <a:t>🔗  ngrok</a:t>
            </a:r>
            <a:endParaRPr lang="en-US" sz="1100" dirty="0"/>
          </a:p>
        </p:txBody>
      </p:sp>
      <p:sp>
        <p:nvSpPr>
          <p:cNvPr id="29" name="Text 27"/>
          <p:cNvSpPr/>
          <p:nvPr/>
        </p:nvSpPr>
        <p:spPr>
          <a:xfrm>
            <a:off x="5669280" y="2368296"/>
            <a:ext cx="3200400" cy="201168"/>
          </a:xfrm>
          <a:prstGeom prst="rect">
            <a:avLst/>
          </a:prstGeom>
          <a:noFill/>
          <a:ln/>
        </p:spPr>
        <p:txBody>
          <a:bodyPr wrap="square" lIns="0" tIns="0" rIns="0" bIns="0" rtlCol="0" anchor="ctr"/>
          <a:lstStyle/>
          <a:p>
            <a:pPr indent="0" marL="0">
              <a:buNone/>
            </a:pPr>
            <a:r>
              <a:rPr lang="en-US" sz="950" dirty="0">
                <a:solidFill>
                  <a:srgbClr val="64748B"/>
                </a:solidFill>
              </a:rPr>
              <a:t>HTTPS tunnel for public access</a:t>
            </a:r>
            <a:endParaRPr lang="en-US" sz="950" dirty="0"/>
          </a:p>
        </p:txBody>
      </p:sp>
      <p:sp>
        <p:nvSpPr>
          <p:cNvPr id="30" name="Text 28"/>
          <p:cNvSpPr/>
          <p:nvPr/>
        </p:nvSpPr>
        <p:spPr>
          <a:xfrm>
            <a:off x="5669280" y="2670048"/>
            <a:ext cx="3200400" cy="228600"/>
          </a:xfrm>
          <a:prstGeom prst="rect">
            <a:avLst/>
          </a:prstGeom>
          <a:noFill/>
          <a:ln/>
        </p:spPr>
        <p:txBody>
          <a:bodyPr wrap="square" lIns="0" tIns="0" rIns="0" bIns="0" rtlCol="0" anchor="ctr"/>
          <a:lstStyle/>
          <a:p>
            <a:pPr indent="0" marL="0">
              <a:buNone/>
            </a:pPr>
            <a:r>
              <a:rPr lang="en-US" sz="1100" b="1" dirty="0">
                <a:solidFill>
                  <a:srgbClr val="1E293B"/>
                </a:solidFill>
              </a:rPr>
              <a:t>🤗  HuggingFace</a:t>
            </a:r>
            <a:endParaRPr lang="en-US" sz="1100" dirty="0"/>
          </a:p>
        </p:txBody>
      </p:sp>
      <p:sp>
        <p:nvSpPr>
          <p:cNvPr id="31" name="Text 29"/>
          <p:cNvSpPr/>
          <p:nvPr/>
        </p:nvSpPr>
        <p:spPr>
          <a:xfrm>
            <a:off x="5669280" y="2889504"/>
            <a:ext cx="3200400" cy="201168"/>
          </a:xfrm>
          <a:prstGeom prst="rect">
            <a:avLst/>
          </a:prstGeom>
          <a:noFill/>
          <a:ln/>
        </p:spPr>
        <p:txBody>
          <a:bodyPr wrap="square" lIns="0" tIns="0" rIns="0" bIns="0" rtlCol="0" anchor="ctr"/>
          <a:lstStyle/>
          <a:p>
            <a:pPr indent="0" marL="0">
              <a:buNone/>
            </a:pPr>
            <a:r>
              <a:rPr lang="en-US" sz="950" dirty="0">
                <a:solidFill>
                  <a:srgbClr val="64748B"/>
                </a:solidFill>
              </a:rPr>
              <a:t>Model hub &amp; Transformers library</a:t>
            </a:r>
            <a:endParaRPr lang="en-US" sz="950" dirty="0"/>
          </a:p>
        </p:txBody>
      </p:sp>
      <p:sp>
        <p:nvSpPr>
          <p:cNvPr id="32" name="Text 30"/>
          <p:cNvSpPr/>
          <p:nvPr/>
        </p:nvSpPr>
        <p:spPr>
          <a:xfrm>
            <a:off x="5669280" y="3191256"/>
            <a:ext cx="3200400" cy="228600"/>
          </a:xfrm>
          <a:prstGeom prst="rect">
            <a:avLst/>
          </a:prstGeom>
          <a:noFill/>
          <a:ln/>
        </p:spPr>
        <p:txBody>
          <a:bodyPr wrap="square" lIns="0" tIns="0" rIns="0" bIns="0" rtlCol="0" anchor="ctr"/>
          <a:lstStyle/>
          <a:p>
            <a:pPr indent="0" marL="0">
              <a:buNone/>
            </a:pPr>
            <a:r>
              <a:rPr lang="en-US" sz="1100" b="1" dirty="0">
                <a:solidFill>
                  <a:srgbClr val="1E293B"/>
                </a:solidFill>
              </a:rPr>
              <a:t>⚡  FAISS</a:t>
            </a:r>
            <a:endParaRPr lang="en-US" sz="1100" dirty="0"/>
          </a:p>
        </p:txBody>
      </p:sp>
      <p:sp>
        <p:nvSpPr>
          <p:cNvPr id="33" name="Text 31"/>
          <p:cNvSpPr/>
          <p:nvPr/>
        </p:nvSpPr>
        <p:spPr>
          <a:xfrm>
            <a:off x="5669280" y="3410712"/>
            <a:ext cx="3200400" cy="201168"/>
          </a:xfrm>
          <a:prstGeom prst="rect">
            <a:avLst/>
          </a:prstGeom>
          <a:noFill/>
          <a:ln/>
        </p:spPr>
        <p:txBody>
          <a:bodyPr wrap="square" lIns="0" tIns="0" rIns="0" bIns="0" rtlCol="0" anchor="ctr"/>
          <a:lstStyle/>
          <a:p>
            <a:pPr indent="0" marL="0">
              <a:buNone/>
            </a:pPr>
            <a:r>
              <a:rPr lang="en-US" sz="950" dirty="0">
                <a:solidFill>
                  <a:srgbClr val="64748B"/>
                </a:solidFill>
              </a:rPr>
              <a:t>Fast similarity search (Facebook AI)</a:t>
            </a:r>
            <a:endParaRPr lang="en-US" sz="950" dirty="0"/>
          </a:p>
        </p:txBody>
      </p:sp>
      <p:sp>
        <p:nvSpPr>
          <p:cNvPr id="34" name="Text 32"/>
          <p:cNvSpPr/>
          <p:nvPr/>
        </p:nvSpPr>
        <p:spPr>
          <a:xfrm>
            <a:off x="5669280" y="3712464"/>
            <a:ext cx="3200400" cy="228600"/>
          </a:xfrm>
          <a:prstGeom prst="rect">
            <a:avLst/>
          </a:prstGeom>
          <a:noFill/>
          <a:ln/>
        </p:spPr>
        <p:txBody>
          <a:bodyPr wrap="square" lIns="0" tIns="0" rIns="0" bIns="0" rtlCol="0" anchor="ctr"/>
          <a:lstStyle/>
          <a:p>
            <a:pPr indent="0" marL="0">
              <a:buNone/>
            </a:pPr>
            <a:r>
              <a:rPr lang="en-US" sz="1100" b="1" dirty="0">
                <a:solidFill>
                  <a:srgbClr val="1E293B"/>
                </a:solidFill>
              </a:rPr>
              <a:t>☁️  Google Colab</a:t>
            </a:r>
            <a:endParaRPr lang="en-US" sz="1100" dirty="0"/>
          </a:p>
        </p:txBody>
      </p:sp>
      <p:sp>
        <p:nvSpPr>
          <p:cNvPr id="35" name="Text 33"/>
          <p:cNvSpPr/>
          <p:nvPr/>
        </p:nvSpPr>
        <p:spPr>
          <a:xfrm>
            <a:off x="5669280" y="3931920"/>
            <a:ext cx="3200400" cy="201168"/>
          </a:xfrm>
          <a:prstGeom prst="rect">
            <a:avLst/>
          </a:prstGeom>
          <a:noFill/>
          <a:ln/>
        </p:spPr>
        <p:txBody>
          <a:bodyPr wrap="square" lIns="0" tIns="0" rIns="0" bIns="0" rtlCol="0" anchor="ctr"/>
          <a:lstStyle/>
          <a:p>
            <a:pPr indent="0" marL="0">
              <a:buNone/>
            </a:pPr>
            <a:r>
              <a:rPr lang="en-US" sz="950" dirty="0">
                <a:solidFill>
                  <a:srgbClr val="64748B"/>
                </a:solidFill>
              </a:rPr>
              <a:t>Cloud GPU runtime environment</a:t>
            </a:r>
            <a:endParaRPr lang="en-US" sz="950" dirty="0"/>
          </a:p>
        </p:txBody>
      </p:sp>
      <p:sp>
        <p:nvSpPr>
          <p:cNvPr id="36" name="Text 34"/>
          <p:cNvSpPr/>
          <p:nvPr/>
        </p:nvSpPr>
        <p:spPr>
          <a:xfrm>
            <a:off x="5669280" y="4233672"/>
            <a:ext cx="3200400" cy="228600"/>
          </a:xfrm>
          <a:prstGeom prst="rect">
            <a:avLst/>
          </a:prstGeom>
          <a:noFill/>
          <a:ln/>
        </p:spPr>
        <p:txBody>
          <a:bodyPr wrap="square" lIns="0" tIns="0" rIns="0" bIns="0" rtlCol="0" anchor="ctr"/>
          <a:lstStyle/>
          <a:p>
            <a:pPr indent="0" marL="0">
              <a:buNone/>
            </a:pPr>
            <a:r>
              <a:rPr lang="en-US" sz="1100" b="1" dirty="0">
                <a:solidFill>
                  <a:srgbClr val="1E293B"/>
                </a:solidFill>
              </a:rPr>
              <a:t>💾  @st.cache_resource</a:t>
            </a:r>
            <a:endParaRPr lang="en-US" sz="1100" dirty="0"/>
          </a:p>
        </p:txBody>
      </p:sp>
      <p:sp>
        <p:nvSpPr>
          <p:cNvPr id="37" name="Text 35"/>
          <p:cNvSpPr/>
          <p:nvPr/>
        </p:nvSpPr>
        <p:spPr>
          <a:xfrm>
            <a:off x="5669280" y="4453128"/>
            <a:ext cx="3200400" cy="201168"/>
          </a:xfrm>
          <a:prstGeom prst="rect">
            <a:avLst/>
          </a:prstGeom>
          <a:noFill/>
          <a:ln/>
        </p:spPr>
        <p:txBody>
          <a:bodyPr wrap="square" lIns="0" tIns="0" rIns="0" bIns="0" rtlCol="0" anchor="ctr"/>
          <a:lstStyle/>
          <a:p>
            <a:pPr indent="0" marL="0">
              <a:buNone/>
            </a:pPr>
            <a:r>
              <a:rPr lang="en-US" sz="950" dirty="0">
                <a:solidFill>
                  <a:srgbClr val="64748B"/>
                </a:solidFill>
              </a:rPr>
              <a:t>Load models once, reuse on requests</a:t>
            </a:r>
            <a:endParaRPr lang="en-US" sz="950" dirty="0"/>
          </a:p>
        </p:txBody>
      </p:sp>
      <p:sp>
        <p:nvSpPr>
          <p:cNvPr id="38" name="Text 36"/>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COMPARISON</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800" b="1" dirty="0">
                <a:solidFill>
                  <a:srgbClr val="1E293B"/>
                </a:solidFill>
              </a:rPr>
              <a:t>DocTrust vs Existing Tools</a:t>
            </a:r>
            <a:endParaRPr lang="en-US" sz="2800" dirty="0"/>
          </a:p>
        </p:txBody>
      </p:sp>
      <p:sp>
        <p:nvSpPr>
          <p:cNvPr id="5" name="Shape 3"/>
          <p:cNvSpPr/>
          <p:nvPr/>
        </p:nvSpPr>
        <p:spPr>
          <a:xfrm>
            <a:off x="365760" y="1298448"/>
            <a:ext cx="2926080" cy="365760"/>
          </a:xfrm>
          <a:prstGeom prst="rect">
            <a:avLst/>
          </a:prstGeom>
          <a:solidFill>
            <a:srgbClr val="0D1B3E"/>
          </a:solidFill>
          <a:ln w="6350">
            <a:solidFill>
              <a:srgbClr val="CBD5E1"/>
            </a:solidFill>
            <a:prstDash val="solid"/>
          </a:ln>
        </p:spPr>
      </p:sp>
      <p:sp>
        <p:nvSpPr>
          <p:cNvPr id="6" name="Text 4"/>
          <p:cNvSpPr/>
          <p:nvPr/>
        </p:nvSpPr>
        <p:spPr>
          <a:xfrm>
            <a:off x="365760" y="1298448"/>
            <a:ext cx="2926080" cy="365760"/>
          </a:xfrm>
          <a:prstGeom prst="rect">
            <a:avLst/>
          </a:prstGeom>
          <a:noFill/>
          <a:ln/>
        </p:spPr>
        <p:txBody>
          <a:bodyPr wrap="square" lIns="0" tIns="0" rIns="0" bIns="0" rtlCol="0" anchor="ctr"/>
          <a:lstStyle/>
          <a:p>
            <a:pPr algn="ctr" indent="0" marL="0">
              <a:buNone/>
            </a:pPr>
            <a:r>
              <a:rPr lang="en-US" sz="1100" b="1" dirty="0">
                <a:solidFill>
                  <a:srgbClr val="FFFFFF"/>
                </a:solidFill>
              </a:rPr>
              <a:t>Feature</a:t>
            </a:r>
            <a:endParaRPr lang="en-US" sz="1100" dirty="0"/>
          </a:p>
        </p:txBody>
      </p:sp>
      <p:sp>
        <p:nvSpPr>
          <p:cNvPr id="7" name="Shape 5"/>
          <p:cNvSpPr/>
          <p:nvPr/>
        </p:nvSpPr>
        <p:spPr>
          <a:xfrm>
            <a:off x="3291840" y="1298448"/>
            <a:ext cx="1188720" cy="365760"/>
          </a:xfrm>
          <a:prstGeom prst="rect">
            <a:avLst/>
          </a:prstGeom>
          <a:solidFill>
            <a:srgbClr val="0D1B3E"/>
          </a:solidFill>
          <a:ln w="6350">
            <a:solidFill>
              <a:srgbClr val="CBD5E1"/>
            </a:solidFill>
            <a:prstDash val="solid"/>
          </a:ln>
        </p:spPr>
      </p:sp>
      <p:sp>
        <p:nvSpPr>
          <p:cNvPr id="8" name="Text 6"/>
          <p:cNvSpPr/>
          <p:nvPr/>
        </p:nvSpPr>
        <p:spPr>
          <a:xfrm>
            <a:off x="3291840" y="1298448"/>
            <a:ext cx="1188720" cy="365760"/>
          </a:xfrm>
          <a:prstGeom prst="rect">
            <a:avLst/>
          </a:prstGeom>
          <a:noFill/>
          <a:ln/>
        </p:spPr>
        <p:txBody>
          <a:bodyPr wrap="square" lIns="0" tIns="0" rIns="0" bIns="0" rtlCol="0" anchor="ctr"/>
          <a:lstStyle/>
          <a:p>
            <a:pPr algn="ctr" indent="0" marL="0">
              <a:buNone/>
            </a:pPr>
            <a:r>
              <a:rPr lang="en-US" sz="1100" b="1" dirty="0">
                <a:solidFill>
                  <a:srgbClr val="FFFFFF"/>
                </a:solidFill>
              </a:rPr>
              <a:t>Grammarly</a:t>
            </a:r>
            <a:endParaRPr lang="en-US" sz="1100" dirty="0"/>
          </a:p>
        </p:txBody>
      </p:sp>
      <p:sp>
        <p:nvSpPr>
          <p:cNvPr id="9" name="Shape 7"/>
          <p:cNvSpPr/>
          <p:nvPr/>
        </p:nvSpPr>
        <p:spPr>
          <a:xfrm>
            <a:off x="4480560" y="1298448"/>
            <a:ext cx="1188720" cy="365760"/>
          </a:xfrm>
          <a:prstGeom prst="rect">
            <a:avLst/>
          </a:prstGeom>
          <a:solidFill>
            <a:srgbClr val="0D1B3E"/>
          </a:solidFill>
          <a:ln w="6350">
            <a:solidFill>
              <a:srgbClr val="CBD5E1"/>
            </a:solidFill>
            <a:prstDash val="solid"/>
          </a:ln>
        </p:spPr>
      </p:sp>
      <p:sp>
        <p:nvSpPr>
          <p:cNvPr id="10" name="Text 8"/>
          <p:cNvSpPr/>
          <p:nvPr/>
        </p:nvSpPr>
        <p:spPr>
          <a:xfrm>
            <a:off x="4480560" y="1298448"/>
            <a:ext cx="1188720" cy="365760"/>
          </a:xfrm>
          <a:prstGeom prst="rect">
            <a:avLst/>
          </a:prstGeom>
          <a:noFill/>
          <a:ln/>
        </p:spPr>
        <p:txBody>
          <a:bodyPr wrap="square" lIns="0" tIns="0" rIns="0" bIns="0" rtlCol="0" anchor="ctr"/>
          <a:lstStyle/>
          <a:p>
            <a:pPr algn="ctr" indent="0" marL="0">
              <a:buNone/>
            </a:pPr>
            <a:r>
              <a:rPr lang="en-US" sz="1100" b="1" dirty="0">
                <a:solidFill>
                  <a:srgbClr val="FFFFFF"/>
                </a:solidFill>
              </a:rPr>
              <a:t>QuillBot</a:t>
            </a:r>
            <a:endParaRPr lang="en-US" sz="1100" dirty="0"/>
          </a:p>
        </p:txBody>
      </p:sp>
      <p:sp>
        <p:nvSpPr>
          <p:cNvPr id="11" name="Shape 9"/>
          <p:cNvSpPr/>
          <p:nvPr/>
        </p:nvSpPr>
        <p:spPr>
          <a:xfrm>
            <a:off x="5669280" y="1298448"/>
            <a:ext cx="1188720" cy="365760"/>
          </a:xfrm>
          <a:prstGeom prst="rect">
            <a:avLst/>
          </a:prstGeom>
          <a:solidFill>
            <a:srgbClr val="0D1B3E"/>
          </a:solidFill>
          <a:ln w="6350">
            <a:solidFill>
              <a:srgbClr val="CBD5E1"/>
            </a:solidFill>
            <a:prstDash val="solid"/>
          </a:ln>
        </p:spPr>
      </p:sp>
      <p:sp>
        <p:nvSpPr>
          <p:cNvPr id="12" name="Text 10"/>
          <p:cNvSpPr/>
          <p:nvPr/>
        </p:nvSpPr>
        <p:spPr>
          <a:xfrm>
            <a:off x="5669280" y="1298448"/>
            <a:ext cx="1188720" cy="365760"/>
          </a:xfrm>
          <a:prstGeom prst="rect">
            <a:avLst/>
          </a:prstGeom>
          <a:noFill/>
          <a:ln/>
        </p:spPr>
        <p:txBody>
          <a:bodyPr wrap="square" lIns="0" tIns="0" rIns="0" bIns="0" rtlCol="0" anchor="ctr"/>
          <a:lstStyle/>
          <a:p>
            <a:pPr algn="ctr" indent="0" marL="0">
              <a:buNone/>
            </a:pPr>
            <a:r>
              <a:rPr lang="en-US" sz="1100" b="1" dirty="0">
                <a:solidFill>
                  <a:srgbClr val="FFFFFF"/>
                </a:solidFill>
              </a:rPr>
              <a:t>Turnitin</a:t>
            </a:r>
            <a:endParaRPr lang="en-US" sz="1100" dirty="0"/>
          </a:p>
        </p:txBody>
      </p:sp>
      <p:sp>
        <p:nvSpPr>
          <p:cNvPr id="13" name="Shape 11"/>
          <p:cNvSpPr/>
          <p:nvPr/>
        </p:nvSpPr>
        <p:spPr>
          <a:xfrm>
            <a:off x="6858000" y="1298448"/>
            <a:ext cx="1280160" cy="365760"/>
          </a:xfrm>
          <a:prstGeom prst="rect">
            <a:avLst/>
          </a:prstGeom>
          <a:solidFill>
            <a:srgbClr val="00BFA5"/>
          </a:solidFill>
          <a:ln w="6350">
            <a:solidFill>
              <a:srgbClr val="CBD5E1"/>
            </a:solidFill>
            <a:prstDash val="solid"/>
          </a:ln>
        </p:spPr>
      </p:sp>
      <p:sp>
        <p:nvSpPr>
          <p:cNvPr id="14" name="Text 12"/>
          <p:cNvSpPr/>
          <p:nvPr/>
        </p:nvSpPr>
        <p:spPr>
          <a:xfrm>
            <a:off x="6858000" y="1298448"/>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rPr>
              <a:t>DocTrust</a:t>
            </a:r>
            <a:endParaRPr lang="en-US" sz="1100" dirty="0"/>
          </a:p>
        </p:txBody>
      </p:sp>
      <p:sp>
        <p:nvSpPr>
          <p:cNvPr id="15" name="Shape 13"/>
          <p:cNvSpPr/>
          <p:nvPr/>
        </p:nvSpPr>
        <p:spPr>
          <a:xfrm>
            <a:off x="365760" y="1664208"/>
            <a:ext cx="2926080" cy="411480"/>
          </a:xfrm>
          <a:prstGeom prst="rect">
            <a:avLst/>
          </a:prstGeom>
          <a:solidFill>
            <a:srgbClr val="F8FAFC"/>
          </a:solidFill>
          <a:ln w="6350">
            <a:solidFill>
              <a:srgbClr val="CBD5E1"/>
            </a:solidFill>
            <a:prstDash val="solid"/>
          </a:ln>
        </p:spPr>
      </p:sp>
      <p:sp>
        <p:nvSpPr>
          <p:cNvPr id="16" name="Text 14"/>
          <p:cNvSpPr/>
          <p:nvPr/>
        </p:nvSpPr>
        <p:spPr>
          <a:xfrm>
            <a:off x="365760" y="1664208"/>
            <a:ext cx="2926080" cy="411480"/>
          </a:xfrm>
          <a:prstGeom prst="rect">
            <a:avLst/>
          </a:prstGeom>
          <a:noFill/>
          <a:ln/>
        </p:spPr>
        <p:txBody>
          <a:bodyPr wrap="square" lIns="0" tIns="0" rIns="76200" bIns="0" rtlCol="0" anchor="ctr"/>
          <a:lstStyle/>
          <a:p>
            <a:pPr algn="l" indent="0" marL="0">
              <a:buNone/>
            </a:pPr>
            <a:r>
              <a:rPr lang="en-US" sz="1000" dirty="0">
                <a:solidFill>
                  <a:srgbClr val="1E293B"/>
                </a:solidFill>
              </a:rPr>
              <a:t>Text Summarization</a:t>
            </a:r>
            <a:endParaRPr lang="en-US" sz="1000" dirty="0"/>
          </a:p>
        </p:txBody>
      </p:sp>
      <p:sp>
        <p:nvSpPr>
          <p:cNvPr id="17" name="Shape 15"/>
          <p:cNvSpPr/>
          <p:nvPr/>
        </p:nvSpPr>
        <p:spPr>
          <a:xfrm>
            <a:off x="3291840" y="1664208"/>
            <a:ext cx="1188720" cy="411480"/>
          </a:xfrm>
          <a:prstGeom prst="rect">
            <a:avLst/>
          </a:prstGeom>
          <a:solidFill>
            <a:srgbClr val="F8FAFC"/>
          </a:solidFill>
          <a:ln w="6350">
            <a:solidFill>
              <a:srgbClr val="CBD5E1"/>
            </a:solidFill>
            <a:prstDash val="solid"/>
          </a:ln>
        </p:spPr>
      </p:sp>
      <p:sp>
        <p:nvSpPr>
          <p:cNvPr id="18" name="Text 16"/>
          <p:cNvSpPr/>
          <p:nvPr/>
        </p:nvSpPr>
        <p:spPr>
          <a:xfrm>
            <a:off x="3291840" y="16642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19" name="Shape 17"/>
          <p:cNvSpPr/>
          <p:nvPr/>
        </p:nvSpPr>
        <p:spPr>
          <a:xfrm>
            <a:off x="4480560" y="1664208"/>
            <a:ext cx="1188720" cy="411480"/>
          </a:xfrm>
          <a:prstGeom prst="rect">
            <a:avLst/>
          </a:prstGeom>
          <a:solidFill>
            <a:srgbClr val="F8FAFC"/>
          </a:solidFill>
          <a:ln w="6350">
            <a:solidFill>
              <a:srgbClr val="CBD5E1"/>
            </a:solidFill>
            <a:prstDash val="solid"/>
          </a:ln>
        </p:spPr>
      </p:sp>
      <p:sp>
        <p:nvSpPr>
          <p:cNvPr id="20" name="Text 18"/>
          <p:cNvSpPr/>
          <p:nvPr/>
        </p:nvSpPr>
        <p:spPr>
          <a:xfrm>
            <a:off x="4480560" y="16642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21" name="Shape 19"/>
          <p:cNvSpPr/>
          <p:nvPr/>
        </p:nvSpPr>
        <p:spPr>
          <a:xfrm>
            <a:off x="5669280" y="1664208"/>
            <a:ext cx="1188720" cy="411480"/>
          </a:xfrm>
          <a:prstGeom prst="rect">
            <a:avLst/>
          </a:prstGeom>
          <a:solidFill>
            <a:srgbClr val="F8FAFC"/>
          </a:solidFill>
          <a:ln w="6350">
            <a:solidFill>
              <a:srgbClr val="CBD5E1"/>
            </a:solidFill>
            <a:prstDash val="solid"/>
          </a:ln>
        </p:spPr>
      </p:sp>
      <p:sp>
        <p:nvSpPr>
          <p:cNvPr id="22" name="Text 20"/>
          <p:cNvSpPr/>
          <p:nvPr/>
        </p:nvSpPr>
        <p:spPr>
          <a:xfrm>
            <a:off x="5669280" y="16642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23" name="Shape 21"/>
          <p:cNvSpPr/>
          <p:nvPr/>
        </p:nvSpPr>
        <p:spPr>
          <a:xfrm>
            <a:off x="6858000" y="1664208"/>
            <a:ext cx="1280160" cy="411480"/>
          </a:xfrm>
          <a:prstGeom prst="rect">
            <a:avLst/>
          </a:prstGeom>
          <a:solidFill>
            <a:srgbClr val="F0FDF4"/>
          </a:solidFill>
          <a:ln w="6350">
            <a:solidFill>
              <a:srgbClr val="CBD5E1"/>
            </a:solidFill>
            <a:prstDash val="solid"/>
          </a:ln>
        </p:spPr>
      </p:sp>
      <p:sp>
        <p:nvSpPr>
          <p:cNvPr id="24" name="Text 22"/>
          <p:cNvSpPr/>
          <p:nvPr/>
        </p:nvSpPr>
        <p:spPr>
          <a:xfrm>
            <a:off x="6858000" y="1664208"/>
            <a:ext cx="128016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25" name="Shape 23"/>
          <p:cNvSpPr/>
          <p:nvPr/>
        </p:nvSpPr>
        <p:spPr>
          <a:xfrm>
            <a:off x="365760" y="2121408"/>
            <a:ext cx="2926080" cy="411480"/>
          </a:xfrm>
          <a:prstGeom prst="rect">
            <a:avLst/>
          </a:prstGeom>
          <a:solidFill>
            <a:srgbClr val="FFFFFF"/>
          </a:solidFill>
          <a:ln w="6350">
            <a:solidFill>
              <a:srgbClr val="CBD5E1"/>
            </a:solidFill>
            <a:prstDash val="solid"/>
          </a:ln>
        </p:spPr>
      </p:sp>
      <p:sp>
        <p:nvSpPr>
          <p:cNvPr id="26" name="Text 24"/>
          <p:cNvSpPr/>
          <p:nvPr/>
        </p:nvSpPr>
        <p:spPr>
          <a:xfrm>
            <a:off x="365760" y="2121408"/>
            <a:ext cx="2926080" cy="411480"/>
          </a:xfrm>
          <a:prstGeom prst="rect">
            <a:avLst/>
          </a:prstGeom>
          <a:noFill/>
          <a:ln/>
        </p:spPr>
        <p:txBody>
          <a:bodyPr wrap="square" lIns="0" tIns="0" rIns="76200" bIns="0" rtlCol="0" anchor="ctr"/>
          <a:lstStyle/>
          <a:p>
            <a:pPr algn="l" indent="0" marL="0">
              <a:buNone/>
            </a:pPr>
            <a:r>
              <a:rPr lang="en-US" sz="1000" dirty="0">
                <a:solidFill>
                  <a:srgbClr val="1E293B"/>
                </a:solidFill>
              </a:rPr>
              <a:t>Paraphrasing</a:t>
            </a:r>
            <a:endParaRPr lang="en-US" sz="1000" dirty="0"/>
          </a:p>
        </p:txBody>
      </p:sp>
      <p:sp>
        <p:nvSpPr>
          <p:cNvPr id="27" name="Shape 25"/>
          <p:cNvSpPr/>
          <p:nvPr/>
        </p:nvSpPr>
        <p:spPr>
          <a:xfrm>
            <a:off x="3291840" y="2121408"/>
            <a:ext cx="1188720" cy="411480"/>
          </a:xfrm>
          <a:prstGeom prst="rect">
            <a:avLst/>
          </a:prstGeom>
          <a:solidFill>
            <a:srgbClr val="FFFFFF"/>
          </a:solidFill>
          <a:ln w="6350">
            <a:solidFill>
              <a:srgbClr val="CBD5E1"/>
            </a:solidFill>
            <a:prstDash val="solid"/>
          </a:ln>
        </p:spPr>
      </p:sp>
      <p:sp>
        <p:nvSpPr>
          <p:cNvPr id="28" name="Text 26"/>
          <p:cNvSpPr/>
          <p:nvPr/>
        </p:nvSpPr>
        <p:spPr>
          <a:xfrm>
            <a:off x="3291840" y="2121408"/>
            <a:ext cx="1188720" cy="411480"/>
          </a:xfrm>
          <a:prstGeom prst="rect">
            <a:avLst/>
          </a:prstGeom>
          <a:noFill/>
          <a:ln/>
        </p:spPr>
        <p:txBody>
          <a:bodyPr wrap="square" lIns="0" tIns="0" rIns="0" bIns="0" rtlCol="0" anchor="ctr"/>
          <a:lstStyle/>
          <a:p>
            <a:pPr algn="ctr" indent="0" marL="0">
              <a:buNone/>
            </a:pPr>
            <a:r>
              <a:rPr lang="en-US" sz="1200" dirty="0">
                <a:solidFill>
                  <a:srgbClr val="1E293B"/>
                </a:solidFill>
              </a:rPr>
              <a:t>Limited</a:t>
            </a:r>
            <a:endParaRPr lang="en-US" sz="1200" dirty="0"/>
          </a:p>
        </p:txBody>
      </p:sp>
      <p:sp>
        <p:nvSpPr>
          <p:cNvPr id="29" name="Shape 27"/>
          <p:cNvSpPr/>
          <p:nvPr/>
        </p:nvSpPr>
        <p:spPr>
          <a:xfrm>
            <a:off x="4480560" y="2121408"/>
            <a:ext cx="1188720" cy="411480"/>
          </a:xfrm>
          <a:prstGeom prst="rect">
            <a:avLst/>
          </a:prstGeom>
          <a:solidFill>
            <a:srgbClr val="FFFFFF"/>
          </a:solidFill>
          <a:ln w="6350">
            <a:solidFill>
              <a:srgbClr val="CBD5E1"/>
            </a:solidFill>
            <a:prstDash val="solid"/>
          </a:ln>
        </p:spPr>
      </p:sp>
      <p:sp>
        <p:nvSpPr>
          <p:cNvPr id="30" name="Text 28"/>
          <p:cNvSpPr/>
          <p:nvPr/>
        </p:nvSpPr>
        <p:spPr>
          <a:xfrm>
            <a:off x="4480560" y="2121408"/>
            <a:ext cx="118872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31" name="Shape 29"/>
          <p:cNvSpPr/>
          <p:nvPr/>
        </p:nvSpPr>
        <p:spPr>
          <a:xfrm>
            <a:off x="5669280" y="2121408"/>
            <a:ext cx="1188720" cy="411480"/>
          </a:xfrm>
          <a:prstGeom prst="rect">
            <a:avLst/>
          </a:prstGeom>
          <a:solidFill>
            <a:srgbClr val="FFFFFF"/>
          </a:solidFill>
          <a:ln w="6350">
            <a:solidFill>
              <a:srgbClr val="CBD5E1"/>
            </a:solidFill>
            <a:prstDash val="solid"/>
          </a:ln>
        </p:spPr>
      </p:sp>
      <p:sp>
        <p:nvSpPr>
          <p:cNvPr id="32" name="Text 30"/>
          <p:cNvSpPr/>
          <p:nvPr/>
        </p:nvSpPr>
        <p:spPr>
          <a:xfrm>
            <a:off x="5669280" y="21214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33" name="Shape 31"/>
          <p:cNvSpPr/>
          <p:nvPr/>
        </p:nvSpPr>
        <p:spPr>
          <a:xfrm>
            <a:off x="6858000" y="2121408"/>
            <a:ext cx="1280160" cy="411480"/>
          </a:xfrm>
          <a:prstGeom prst="rect">
            <a:avLst/>
          </a:prstGeom>
          <a:solidFill>
            <a:srgbClr val="F0FDF4"/>
          </a:solidFill>
          <a:ln w="6350">
            <a:solidFill>
              <a:srgbClr val="CBD5E1"/>
            </a:solidFill>
            <a:prstDash val="solid"/>
          </a:ln>
        </p:spPr>
      </p:sp>
      <p:sp>
        <p:nvSpPr>
          <p:cNvPr id="34" name="Text 32"/>
          <p:cNvSpPr/>
          <p:nvPr/>
        </p:nvSpPr>
        <p:spPr>
          <a:xfrm>
            <a:off x="6858000" y="2121408"/>
            <a:ext cx="128016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35" name="Shape 33"/>
          <p:cNvSpPr/>
          <p:nvPr/>
        </p:nvSpPr>
        <p:spPr>
          <a:xfrm>
            <a:off x="365760" y="2578608"/>
            <a:ext cx="2926080" cy="411480"/>
          </a:xfrm>
          <a:prstGeom prst="rect">
            <a:avLst/>
          </a:prstGeom>
          <a:solidFill>
            <a:srgbClr val="F8FAFC"/>
          </a:solidFill>
          <a:ln w="6350">
            <a:solidFill>
              <a:srgbClr val="CBD5E1"/>
            </a:solidFill>
            <a:prstDash val="solid"/>
          </a:ln>
        </p:spPr>
      </p:sp>
      <p:sp>
        <p:nvSpPr>
          <p:cNvPr id="36" name="Text 34"/>
          <p:cNvSpPr/>
          <p:nvPr/>
        </p:nvSpPr>
        <p:spPr>
          <a:xfrm>
            <a:off x="365760" y="2578608"/>
            <a:ext cx="2926080" cy="411480"/>
          </a:xfrm>
          <a:prstGeom prst="rect">
            <a:avLst/>
          </a:prstGeom>
          <a:noFill/>
          <a:ln/>
        </p:spPr>
        <p:txBody>
          <a:bodyPr wrap="square" lIns="0" tIns="0" rIns="76200" bIns="0" rtlCol="0" anchor="ctr"/>
          <a:lstStyle/>
          <a:p>
            <a:pPr algn="l" indent="0" marL="0">
              <a:buNone/>
            </a:pPr>
            <a:r>
              <a:rPr lang="en-US" sz="1000" dirty="0">
                <a:solidFill>
                  <a:srgbClr val="1E293B"/>
                </a:solidFill>
              </a:rPr>
              <a:t>Plagiarism Detection</a:t>
            </a:r>
            <a:endParaRPr lang="en-US" sz="1000" dirty="0"/>
          </a:p>
        </p:txBody>
      </p:sp>
      <p:sp>
        <p:nvSpPr>
          <p:cNvPr id="37" name="Shape 35"/>
          <p:cNvSpPr/>
          <p:nvPr/>
        </p:nvSpPr>
        <p:spPr>
          <a:xfrm>
            <a:off x="3291840" y="2578608"/>
            <a:ext cx="1188720" cy="411480"/>
          </a:xfrm>
          <a:prstGeom prst="rect">
            <a:avLst/>
          </a:prstGeom>
          <a:solidFill>
            <a:srgbClr val="F8FAFC"/>
          </a:solidFill>
          <a:ln w="6350">
            <a:solidFill>
              <a:srgbClr val="CBD5E1"/>
            </a:solidFill>
            <a:prstDash val="solid"/>
          </a:ln>
        </p:spPr>
      </p:sp>
      <p:sp>
        <p:nvSpPr>
          <p:cNvPr id="38" name="Text 36"/>
          <p:cNvSpPr/>
          <p:nvPr/>
        </p:nvSpPr>
        <p:spPr>
          <a:xfrm>
            <a:off x="3291840" y="25786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39" name="Shape 37"/>
          <p:cNvSpPr/>
          <p:nvPr/>
        </p:nvSpPr>
        <p:spPr>
          <a:xfrm>
            <a:off x="4480560" y="2578608"/>
            <a:ext cx="1188720" cy="411480"/>
          </a:xfrm>
          <a:prstGeom prst="rect">
            <a:avLst/>
          </a:prstGeom>
          <a:solidFill>
            <a:srgbClr val="F8FAFC"/>
          </a:solidFill>
          <a:ln w="6350">
            <a:solidFill>
              <a:srgbClr val="CBD5E1"/>
            </a:solidFill>
            <a:prstDash val="solid"/>
          </a:ln>
        </p:spPr>
      </p:sp>
      <p:sp>
        <p:nvSpPr>
          <p:cNvPr id="40" name="Text 38"/>
          <p:cNvSpPr/>
          <p:nvPr/>
        </p:nvSpPr>
        <p:spPr>
          <a:xfrm>
            <a:off x="4480560" y="25786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41" name="Shape 39"/>
          <p:cNvSpPr/>
          <p:nvPr/>
        </p:nvSpPr>
        <p:spPr>
          <a:xfrm>
            <a:off x="5669280" y="2578608"/>
            <a:ext cx="1188720" cy="411480"/>
          </a:xfrm>
          <a:prstGeom prst="rect">
            <a:avLst/>
          </a:prstGeom>
          <a:solidFill>
            <a:srgbClr val="F8FAFC"/>
          </a:solidFill>
          <a:ln w="6350">
            <a:solidFill>
              <a:srgbClr val="CBD5E1"/>
            </a:solidFill>
            <a:prstDash val="solid"/>
          </a:ln>
        </p:spPr>
      </p:sp>
      <p:sp>
        <p:nvSpPr>
          <p:cNvPr id="42" name="Text 40"/>
          <p:cNvSpPr/>
          <p:nvPr/>
        </p:nvSpPr>
        <p:spPr>
          <a:xfrm>
            <a:off x="5669280" y="2578608"/>
            <a:ext cx="118872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43" name="Shape 41"/>
          <p:cNvSpPr/>
          <p:nvPr/>
        </p:nvSpPr>
        <p:spPr>
          <a:xfrm>
            <a:off x="6858000" y="2578608"/>
            <a:ext cx="1280160" cy="411480"/>
          </a:xfrm>
          <a:prstGeom prst="rect">
            <a:avLst/>
          </a:prstGeom>
          <a:solidFill>
            <a:srgbClr val="F0FDF4"/>
          </a:solidFill>
          <a:ln w="6350">
            <a:solidFill>
              <a:srgbClr val="CBD5E1"/>
            </a:solidFill>
            <a:prstDash val="solid"/>
          </a:ln>
        </p:spPr>
      </p:sp>
      <p:sp>
        <p:nvSpPr>
          <p:cNvPr id="44" name="Text 42"/>
          <p:cNvSpPr/>
          <p:nvPr/>
        </p:nvSpPr>
        <p:spPr>
          <a:xfrm>
            <a:off x="6858000" y="2578608"/>
            <a:ext cx="128016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45" name="Shape 43"/>
          <p:cNvSpPr/>
          <p:nvPr/>
        </p:nvSpPr>
        <p:spPr>
          <a:xfrm>
            <a:off x="365760" y="3035808"/>
            <a:ext cx="2926080" cy="411480"/>
          </a:xfrm>
          <a:prstGeom prst="rect">
            <a:avLst/>
          </a:prstGeom>
          <a:solidFill>
            <a:srgbClr val="FFFFFF"/>
          </a:solidFill>
          <a:ln w="6350">
            <a:solidFill>
              <a:srgbClr val="CBD5E1"/>
            </a:solidFill>
            <a:prstDash val="solid"/>
          </a:ln>
        </p:spPr>
      </p:sp>
      <p:sp>
        <p:nvSpPr>
          <p:cNvPr id="46" name="Text 44"/>
          <p:cNvSpPr/>
          <p:nvPr/>
        </p:nvSpPr>
        <p:spPr>
          <a:xfrm>
            <a:off x="365760" y="3035808"/>
            <a:ext cx="2926080" cy="411480"/>
          </a:xfrm>
          <a:prstGeom prst="rect">
            <a:avLst/>
          </a:prstGeom>
          <a:noFill/>
          <a:ln/>
        </p:spPr>
        <p:txBody>
          <a:bodyPr wrap="square" lIns="0" tIns="0" rIns="76200" bIns="0" rtlCol="0" anchor="ctr"/>
          <a:lstStyle/>
          <a:p>
            <a:pPr algn="l" indent="0" marL="0">
              <a:buNone/>
            </a:pPr>
            <a:r>
              <a:rPr lang="en-US" sz="1000" dirty="0">
                <a:solidFill>
                  <a:srgbClr val="1E293B"/>
                </a:solidFill>
              </a:rPr>
              <a:t>Semantic (AI) Models</a:t>
            </a:r>
            <a:endParaRPr lang="en-US" sz="1000" dirty="0"/>
          </a:p>
        </p:txBody>
      </p:sp>
      <p:sp>
        <p:nvSpPr>
          <p:cNvPr id="47" name="Shape 45"/>
          <p:cNvSpPr/>
          <p:nvPr/>
        </p:nvSpPr>
        <p:spPr>
          <a:xfrm>
            <a:off x="3291840" y="3035808"/>
            <a:ext cx="1188720" cy="411480"/>
          </a:xfrm>
          <a:prstGeom prst="rect">
            <a:avLst/>
          </a:prstGeom>
          <a:solidFill>
            <a:srgbClr val="FFFFFF"/>
          </a:solidFill>
          <a:ln w="6350">
            <a:solidFill>
              <a:srgbClr val="CBD5E1"/>
            </a:solidFill>
            <a:prstDash val="solid"/>
          </a:ln>
        </p:spPr>
      </p:sp>
      <p:sp>
        <p:nvSpPr>
          <p:cNvPr id="48" name="Text 46"/>
          <p:cNvSpPr/>
          <p:nvPr/>
        </p:nvSpPr>
        <p:spPr>
          <a:xfrm>
            <a:off x="3291840" y="30358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49" name="Shape 47"/>
          <p:cNvSpPr/>
          <p:nvPr/>
        </p:nvSpPr>
        <p:spPr>
          <a:xfrm>
            <a:off x="4480560" y="3035808"/>
            <a:ext cx="1188720" cy="411480"/>
          </a:xfrm>
          <a:prstGeom prst="rect">
            <a:avLst/>
          </a:prstGeom>
          <a:solidFill>
            <a:srgbClr val="FFFFFF"/>
          </a:solidFill>
          <a:ln w="6350">
            <a:solidFill>
              <a:srgbClr val="CBD5E1"/>
            </a:solidFill>
            <a:prstDash val="solid"/>
          </a:ln>
        </p:spPr>
      </p:sp>
      <p:sp>
        <p:nvSpPr>
          <p:cNvPr id="50" name="Text 48"/>
          <p:cNvSpPr/>
          <p:nvPr/>
        </p:nvSpPr>
        <p:spPr>
          <a:xfrm>
            <a:off x="4480560" y="3035808"/>
            <a:ext cx="1188720" cy="411480"/>
          </a:xfrm>
          <a:prstGeom prst="rect">
            <a:avLst/>
          </a:prstGeom>
          <a:noFill/>
          <a:ln/>
        </p:spPr>
        <p:txBody>
          <a:bodyPr wrap="square" lIns="0" tIns="0" rIns="0" bIns="0" rtlCol="0" anchor="ctr"/>
          <a:lstStyle/>
          <a:p>
            <a:pPr algn="ctr" indent="0" marL="0">
              <a:buNone/>
            </a:pPr>
            <a:r>
              <a:rPr lang="en-US" sz="1200" dirty="0">
                <a:solidFill>
                  <a:srgbClr val="1E293B"/>
                </a:solidFill>
              </a:rPr>
              <a:t>Partial</a:t>
            </a:r>
            <a:endParaRPr lang="en-US" sz="1200" dirty="0"/>
          </a:p>
        </p:txBody>
      </p:sp>
      <p:sp>
        <p:nvSpPr>
          <p:cNvPr id="51" name="Shape 49"/>
          <p:cNvSpPr/>
          <p:nvPr/>
        </p:nvSpPr>
        <p:spPr>
          <a:xfrm>
            <a:off x="5669280" y="3035808"/>
            <a:ext cx="1188720" cy="411480"/>
          </a:xfrm>
          <a:prstGeom prst="rect">
            <a:avLst/>
          </a:prstGeom>
          <a:solidFill>
            <a:srgbClr val="FFFFFF"/>
          </a:solidFill>
          <a:ln w="6350">
            <a:solidFill>
              <a:srgbClr val="CBD5E1"/>
            </a:solidFill>
            <a:prstDash val="solid"/>
          </a:ln>
        </p:spPr>
      </p:sp>
      <p:sp>
        <p:nvSpPr>
          <p:cNvPr id="52" name="Text 50"/>
          <p:cNvSpPr/>
          <p:nvPr/>
        </p:nvSpPr>
        <p:spPr>
          <a:xfrm>
            <a:off x="5669280" y="30358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53" name="Shape 51"/>
          <p:cNvSpPr/>
          <p:nvPr/>
        </p:nvSpPr>
        <p:spPr>
          <a:xfrm>
            <a:off x="6858000" y="3035808"/>
            <a:ext cx="1280160" cy="411480"/>
          </a:xfrm>
          <a:prstGeom prst="rect">
            <a:avLst/>
          </a:prstGeom>
          <a:solidFill>
            <a:srgbClr val="F0FDF4"/>
          </a:solidFill>
          <a:ln w="6350">
            <a:solidFill>
              <a:srgbClr val="CBD5E1"/>
            </a:solidFill>
            <a:prstDash val="solid"/>
          </a:ln>
        </p:spPr>
      </p:sp>
      <p:sp>
        <p:nvSpPr>
          <p:cNvPr id="54" name="Text 52"/>
          <p:cNvSpPr/>
          <p:nvPr/>
        </p:nvSpPr>
        <p:spPr>
          <a:xfrm>
            <a:off x="6858000" y="3035808"/>
            <a:ext cx="128016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55" name="Shape 53"/>
          <p:cNvSpPr/>
          <p:nvPr/>
        </p:nvSpPr>
        <p:spPr>
          <a:xfrm>
            <a:off x="365760" y="3493008"/>
            <a:ext cx="2926080" cy="411480"/>
          </a:xfrm>
          <a:prstGeom prst="rect">
            <a:avLst/>
          </a:prstGeom>
          <a:solidFill>
            <a:srgbClr val="F8FAFC"/>
          </a:solidFill>
          <a:ln w="6350">
            <a:solidFill>
              <a:srgbClr val="CBD5E1"/>
            </a:solidFill>
            <a:prstDash val="solid"/>
          </a:ln>
        </p:spPr>
      </p:sp>
      <p:sp>
        <p:nvSpPr>
          <p:cNvPr id="56" name="Text 54"/>
          <p:cNvSpPr/>
          <p:nvPr/>
        </p:nvSpPr>
        <p:spPr>
          <a:xfrm>
            <a:off x="365760" y="3493008"/>
            <a:ext cx="2926080" cy="411480"/>
          </a:xfrm>
          <a:prstGeom prst="rect">
            <a:avLst/>
          </a:prstGeom>
          <a:noFill/>
          <a:ln/>
        </p:spPr>
        <p:txBody>
          <a:bodyPr wrap="square" lIns="0" tIns="0" rIns="76200" bIns="0" rtlCol="0" anchor="ctr"/>
          <a:lstStyle/>
          <a:p>
            <a:pPr algn="l" indent="0" marL="0">
              <a:buNone/>
            </a:pPr>
            <a:r>
              <a:rPr lang="en-US" sz="1000" dirty="0">
                <a:solidFill>
                  <a:srgbClr val="1E293B"/>
                </a:solidFill>
              </a:rPr>
              <a:t>Free &amp; Open Source</a:t>
            </a:r>
            <a:endParaRPr lang="en-US" sz="1000" dirty="0"/>
          </a:p>
        </p:txBody>
      </p:sp>
      <p:sp>
        <p:nvSpPr>
          <p:cNvPr id="57" name="Shape 55"/>
          <p:cNvSpPr/>
          <p:nvPr/>
        </p:nvSpPr>
        <p:spPr>
          <a:xfrm>
            <a:off x="3291840" y="3493008"/>
            <a:ext cx="1188720" cy="411480"/>
          </a:xfrm>
          <a:prstGeom prst="rect">
            <a:avLst/>
          </a:prstGeom>
          <a:solidFill>
            <a:srgbClr val="F8FAFC"/>
          </a:solidFill>
          <a:ln w="6350">
            <a:solidFill>
              <a:srgbClr val="CBD5E1"/>
            </a:solidFill>
            <a:prstDash val="solid"/>
          </a:ln>
        </p:spPr>
      </p:sp>
      <p:sp>
        <p:nvSpPr>
          <p:cNvPr id="58" name="Text 56"/>
          <p:cNvSpPr/>
          <p:nvPr/>
        </p:nvSpPr>
        <p:spPr>
          <a:xfrm>
            <a:off x="3291840" y="3493008"/>
            <a:ext cx="1188720" cy="411480"/>
          </a:xfrm>
          <a:prstGeom prst="rect">
            <a:avLst/>
          </a:prstGeom>
          <a:noFill/>
          <a:ln/>
        </p:spPr>
        <p:txBody>
          <a:bodyPr wrap="square" lIns="0" tIns="0" rIns="0" bIns="0" rtlCol="0" anchor="ctr"/>
          <a:lstStyle/>
          <a:p>
            <a:pPr algn="ctr" indent="0" marL="0">
              <a:buNone/>
            </a:pPr>
            <a:r>
              <a:rPr lang="en-US" sz="1200" dirty="0">
                <a:solidFill>
                  <a:srgbClr val="1E293B"/>
                </a:solidFill>
              </a:rPr>
              <a:t>❌ Paid</a:t>
            </a:r>
            <a:endParaRPr lang="en-US" sz="1200" dirty="0"/>
          </a:p>
        </p:txBody>
      </p:sp>
      <p:sp>
        <p:nvSpPr>
          <p:cNvPr id="59" name="Shape 57"/>
          <p:cNvSpPr/>
          <p:nvPr/>
        </p:nvSpPr>
        <p:spPr>
          <a:xfrm>
            <a:off x="4480560" y="3493008"/>
            <a:ext cx="1188720" cy="411480"/>
          </a:xfrm>
          <a:prstGeom prst="rect">
            <a:avLst/>
          </a:prstGeom>
          <a:solidFill>
            <a:srgbClr val="F8FAFC"/>
          </a:solidFill>
          <a:ln w="6350">
            <a:solidFill>
              <a:srgbClr val="CBD5E1"/>
            </a:solidFill>
            <a:prstDash val="solid"/>
          </a:ln>
        </p:spPr>
      </p:sp>
      <p:sp>
        <p:nvSpPr>
          <p:cNvPr id="60" name="Text 58"/>
          <p:cNvSpPr/>
          <p:nvPr/>
        </p:nvSpPr>
        <p:spPr>
          <a:xfrm>
            <a:off x="4480560" y="3493008"/>
            <a:ext cx="1188720" cy="411480"/>
          </a:xfrm>
          <a:prstGeom prst="rect">
            <a:avLst/>
          </a:prstGeom>
          <a:noFill/>
          <a:ln/>
        </p:spPr>
        <p:txBody>
          <a:bodyPr wrap="square" lIns="0" tIns="0" rIns="0" bIns="0" rtlCol="0" anchor="ctr"/>
          <a:lstStyle/>
          <a:p>
            <a:pPr algn="ctr" indent="0" marL="0">
              <a:buNone/>
            </a:pPr>
            <a:r>
              <a:rPr lang="en-US" sz="1200" dirty="0">
                <a:solidFill>
                  <a:srgbClr val="1E293B"/>
                </a:solidFill>
              </a:rPr>
              <a:t>❌ Paid</a:t>
            </a:r>
            <a:endParaRPr lang="en-US" sz="1200" dirty="0"/>
          </a:p>
        </p:txBody>
      </p:sp>
      <p:sp>
        <p:nvSpPr>
          <p:cNvPr id="61" name="Shape 59"/>
          <p:cNvSpPr/>
          <p:nvPr/>
        </p:nvSpPr>
        <p:spPr>
          <a:xfrm>
            <a:off x="5669280" y="3493008"/>
            <a:ext cx="1188720" cy="411480"/>
          </a:xfrm>
          <a:prstGeom prst="rect">
            <a:avLst/>
          </a:prstGeom>
          <a:solidFill>
            <a:srgbClr val="F8FAFC"/>
          </a:solidFill>
          <a:ln w="6350">
            <a:solidFill>
              <a:srgbClr val="CBD5E1"/>
            </a:solidFill>
            <a:prstDash val="solid"/>
          </a:ln>
        </p:spPr>
      </p:sp>
      <p:sp>
        <p:nvSpPr>
          <p:cNvPr id="62" name="Text 60"/>
          <p:cNvSpPr/>
          <p:nvPr/>
        </p:nvSpPr>
        <p:spPr>
          <a:xfrm>
            <a:off x="5669280" y="3493008"/>
            <a:ext cx="1188720" cy="411480"/>
          </a:xfrm>
          <a:prstGeom prst="rect">
            <a:avLst/>
          </a:prstGeom>
          <a:noFill/>
          <a:ln/>
        </p:spPr>
        <p:txBody>
          <a:bodyPr wrap="square" lIns="0" tIns="0" rIns="0" bIns="0" rtlCol="0" anchor="ctr"/>
          <a:lstStyle/>
          <a:p>
            <a:pPr algn="ctr" indent="0" marL="0">
              <a:buNone/>
            </a:pPr>
            <a:r>
              <a:rPr lang="en-US" sz="1200" dirty="0">
                <a:solidFill>
                  <a:srgbClr val="1E293B"/>
                </a:solidFill>
              </a:rPr>
              <a:t>❌ Paid</a:t>
            </a:r>
            <a:endParaRPr lang="en-US" sz="1200" dirty="0"/>
          </a:p>
        </p:txBody>
      </p:sp>
      <p:sp>
        <p:nvSpPr>
          <p:cNvPr id="63" name="Shape 61"/>
          <p:cNvSpPr/>
          <p:nvPr/>
        </p:nvSpPr>
        <p:spPr>
          <a:xfrm>
            <a:off x="6858000" y="3493008"/>
            <a:ext cx="1280160" cy="411480"/>
          </a:xfrm>
          <a:prstGeom prst="rect">
            <a:avLst/>
          </a:prstGeom>
          <a:solidFill>
            <a:srgbClr val="F0FDF4"/>
          </a:solidFill>
          <a:ln w="6350">
            <a:solidFill>
              <a:srgbClr val="CBD5E1"/>
            </a:solidFill>
            <a:prstDash val="solid"/>
          </a:ln>
        </p:spPr>
      </p:sp>
      <p:sp>
        <p:nvSpPr>
          <p:cNvPr id="64" name="Text 62"/>
          <p:cNvSpPr/>
          <p:nvPr/>
        </p:nvSpPr>
        <p:spPr>
          <a:xfrm>
            <a:off x="6858000" y="3493008"/>
            <a:ext cx="128016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65" name="Shape 63"/>
          <p:cNvSpPr/>
          <p:nvPr/>
        </p:nvSpPr>
        <p:spPr>
          <a:xfrm>
            <a:off x="365760" y="3950208"/>
            <a:ext cx="2926080" cy="411480"/>
          </a:xfrm>
          <a:prstGeom prst="rect">
            <a:avLst/>
          </a:prstGeom>
          <a:solidFill>
            <a:srgbClr val="FFFFFF"/>
          </a:solidFill>
          <a:ln w="6350">
            <a:solidFill>
              <a:srgbClr val="CBD5E1"/>
            </a:solidFill>
            <a:prstDash val="solid"/>
          </a:ln>
        </p:spPr>
      </p:sp>
      <p:sp>
        <p:nvSpPr>
          <p:cNvPr id="66" name="Text 64"/>
          <p:cNvSpPr/>
          <p:nvPr/>
        </p:nvSpPr>
        <p:spPr>
          <a:xfrm>
            <a:off x="365760" y="3950208"/>
            <a:ext cx="2926080" cy="411480"/>
          </a:xfrm>
          <a:prstGeom prst="rect">
            <a:avLst/>
          </a:prstGeom>
          <a:noFill/>
          <a:ln/>
        </p:spPr>
        <p:txBody>
          <a:bodyPr wrap="square" lIns="0" tIns="0" rIns="76200" bIns="0" rtlCol="0" anchor="ctr"/>
          <a:lstStyle/>
          <a:p>
            <a:pPr algn="l" indent="0" marL="0">
              <a:buNone/>
            </a:pPr>
            <a:r>
              <a:rPr lang="en-US" sz="1000" dirty="0">
                <a:solidFill>
                  <a:srgbClr val="1E293B"/>
                </a:solidFill>
              </a:rPr>
              <a:t>All 3 in One Tool</a:t>
            </a:r>
            <a:endParaRPr lang="en-US" sz="1000" dirty="0"/>
          </a:p>
        </p:txBody>
      </p:sp>
      <p:sp>
        <p:nvSpPr>
          <p:cNvPr id="67" name="Shape 65"/>
          <p:cNvSpPr/>
          <p:nvPr/>
        </p:nvSpPr>
        <p:spPr>
          <a:xfrm>
            <a:off x="3291840" y="3950208"/>
            <a:ext cx="1188720" cy="411480"/>
          </a:xfrm>
          <a:prstGeom prst="rect">
            <a:avLst/>
          </a:prstGeom>
          <a:solidFill>
            <a:srgbClr val="FFFFFF"/>
          </a:solidFill>
          <a:ln w="6350">
            <a:solidFill>
              <a:srgbClr val="CBD5E1"/>
            </a:solidFill>
            <a:prstDash val="solid"/>
          </a:ln>
        </p:spPr>
      </p:sp>
      <p:sp>
        <p:nvSpPr>
          <p:cNvPr id="68" name="Text 66"/>
          <p:cNvSpPr/>
          <p:nvPr/>
        </p:nvSpPr>
        <p:spPr>
          <a:xfrm>
            <a:off x="3291840" y="39502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69" name="Shape 67"/>
          <p:cNvSpPr/>
          <p:nvPr/>
        </p:nvSpPr>
        <p:spPr>
          <a:xfrm>
            <a:off x="4480560" y="3950208"/>
            <a:ext cx="1188720" cy="411480"/>
          </a:xfrm>
          <a:prstGeom prst="rect">
            <a:avLst/>
          </a:prstGeom>
          <a:solidFill>
            <a:srgbClr val="FFFFFF"/>
          </a:solidFill>
          <a:ln w="6350">
            <a:solidFill>
              <a:srgbClr val="CBD5E1"/>
            </a:solidFill>
            <a:prstDash val="solid"/>
          </a:ln>
        </p:spPr>
      </p:sp>
      <p:sp>
        <p:nvSpPr>
          <p:cNvPr id="70" name="Text 68"/>
          <p:cNvSpPr/>
          <p:nvPr/>
        </p:nvSpPr>
        <p:spPr>
          <a:xfrm>
            <a:off x="4480560" y="39502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71" name="Shape 69"/>
          <p:cNvSpPr/>
          <p:nvPr/>
        </p:nvSpPr>
        <p:spPr>
          <a:xfrm>
            <a:off x="5669280" y="3950208"/>
            <a:ext cx="1188720" cy="411480"/>
          </a:xfrm>
          <a:prstGeom prst="rect">
            <a:avLst/>
          </a:prstGeom>
          <a:solidFill>
            <a:srgbClr val="FFFFFF"/>
          </a:solidFill>
          <a:ln w="6350">
            <a:solidFill>
              <a:srgbClr val="CBD5E1"/>
            </a:solidFill>
            <a:prstDash val="solid"/>
          </a:ln>
        </p:spPr>
      </p:sp>
      <p:sp>
        <p:nvSpPr>
          <p:cNvPr id="72" name="Text 70"/>
          <p:cNvSpPr/>
          <p:nvPr/>
        </p:nvSpPr>
        <p:spPr>
          <a:xfrm>
            <a:off x="5669280" y="3950208"/>
            <a:ext cx="1188720" cy="411480"/>
          </a:xfrm>
          <a:prstGeom prst="rect">
            <a:avLst/>
          </a:prstGeom>
          <a:noFill/>
          <a:ln/>
        </p:spPr>
        <p:txBody>
          <a:bodyPr wrap="square" lIns="0" tIns="0" rIns="0" bIns="0" rtlCol="0" anchor="ctr"/>
          <a:lstStyle/>
          <a:p>
            <a:pPr algn="ctr" indent="0" marL="0">
              <a:buNone/>
            </a:pPr>
            <a:r>
              <a:rPr lang="en-US" sz="1200" dirty="0">
                <a:solidFill>
                  <a:srgbClr val="EF4444"/>
                </a:solidFill>
              </a:rPr>
              <a:t>❌</a:t>
            </a:r>
            <a:endParaRPr lang="en-US" sz="1200" dirty="0"/>
          </a:p>
        </p:txBody>
      </p:sp>
      <p:sp>
        <p:nvSpPr>
          <p:cNvPr id="73" name="Shape 71"/>
          <p:cNvSpPr/>
          <p:nvPr/>
        </p:nvSpPr>
        <p:spPr>
          <a:xfrm>
            <a:off x="6858000" y="3950208"/>
            <a:ext cx="1280160" cy="411480"/>
          </a:xfrm>
          <a:prstGeom prst="rect">
            <a:avLst/>
          </a:prstGeom>
          <a:solidFill>
            <a:srgbClr val="F0FDF4"/>
          </a:solidFill>
          <a:ln w="6350">
            <a:solidFill>
              <a:srgbClr val="CBD5E1"/>
            </a:solidFill>
            <a:prstDash val="solid"/>
          </a:ln>
        </p:spPr>
      </p:sp>
      <p:sp>
        <p:nvSpPr>
          <p:cNvPr id="74" name="Text 72"/>
          <p:cNvSpPr/>
          <p:nvPr/>
        </p:nvSpPr>
        <p:spPr>
          <a:xfrm>
            <a:off x="6858000" y="3950208"/>
            <a:ext cx="1280160" cy="411480"/>
          </a:xfrm>
          <a:prstGeom prst="rect">
            <a:avLst/>
          </a:prstGeom>
          <a:noFill/>
          <a:ln/>
        </p:spPr>
        <p:txBody>
          <a:bodyPr wrap="square" lIns="0" tIns="0" rIns="0" bIns="0" rtlCol="0" anchor="ctr"/>
          <a:lstStyle/>
          <a:p>
            <a:pPr algn="ctr" indent="0" marL="0">
              <a:buNone/>
            </a:pPr>
            <a:r>
              <a:rPr lang="en-US" sz="1200" dirty="0">
                <a:solidFill>
                  <a:srgbClr val="10B981"/>
                </a:solidFill>
              </a:rPr>
              <a:t>✅</a:t>
            </a:r>
            <a:endParaRPr lang="en-US" sz="1200" dirty="0"/>
          </a:p>
        </p:txBody>
      </p:sp>
      <p:sp>
        <p:nvSpPr>
          <p:cNvPr id="75" name="Shape 73"/>
          <p:cNvSpPr/>
          <p:nvPr/>
        </p:nvSpPr>
        <p:spPr>
          <a:xfrm>
            <a:off x="365760" y="4572000"/>
            <a:ext cx="8412480" cy="320040"/>
          </a:xfrm>
          <a:prstGeom prst="rect">
            <a:avLst/>
          </a:prstGeom>
          <a:solidFill>
            <a:srgbClr val="00BFA5"/>
          </a:solidFill>
          <a:ln w="12700">
            <a:solidFill>
              <a:srgbClr val="000000"/>
            </a:solidFill>
            <a:prstDash val="solid"/>
          </a:ln>
        </p:spPr>
      </p:sp>
      <p:sp>
        <p:nvSpPr>
          <p:cNvPr id="76" name="Text 74"/>
          <p:cNvSpPr/>
          <p:nvPr/>
        </p:nvSpPr>
        <p:spPr>
          <a:xfrm>
            <a:off x="365760" y="4572000"/>
            <a:ext cx="8412480" cy="320040"/>
          </a:xfrm>
          <a:prstGeom prst="rect">
            <a:avLst/>
          </a:prstGeom>
          <a:noFill/>
          <a:ln/>
        </p:spPr>
        <p:txBody>
          <a:bodyPr wrap="square" lIns="0" tIns="0" rIns="0" bIns="0" rtlCol="0" anchor="ctr"/>
          <a:lstStyle/>
          <a:p>
            <a:pPr algn="ctr" indent="0" marL="0">
              <a:buNone/>
            </a:pPr>
            <a:r>
              <a:rPr lang="en-US" sz="1100" b="1" dirty="0">
                <a:solidFill>
                  <a:srgbClr val="FFFFFF"/>
                </a:solidFill>
              </a:rPr>
              <a:t>DocTrust is the only tool that integrates all three NLP capabilities in a single free, open-source platform</a:t>
            </a:r>
            <a:endParaRPr lang="en-US" sz="1100" dirty="0"/>
          </a:p>
        </p:txBody>
      </p:sp>
      <p:sp>
        <p:nvSpPr>
          <p:cNvPr id="77" name="Text 75"/>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365760" y="274320"/>
            <a:ext cx="1554480" cy="274320"/>
          </a:xfrm>
          <a:prstGeom prst="roundRect">
            <a:avLst>
              <a:gd name="adj" fmla="val 16667"/>
            </a:avLst>
          </a:prstGeom>
          <a:solidFill>
            <a:srgbClr val="1A73E8">
              <a:alpha val="80000"/>
            </a:srgbClr>
          </a:solidFill>
          <a:ln w="12700">
            <a:solidFill>
              <a:srgbClr val="1A73E8"/>
            </a:solidFill>
            <a:prstDash val="solid"/>
          </a:ln>
        </p:spPr>
      </p:sp>
      <p:sp>
        <p:nvSpPr>
          <p:cNvPr id="3" name="Text 1"/>
          <p:cNvSpPr/>
          <p:nvPr/>
        </p:nvSpPr>
        <p:spPr>
          <a:xfrm>
            <a:off x="365760" y="274320"/>
            <a:ext cx="1554480" cy="274320"/>
          </a:xfrm>
          <a:prstGeom prst="rect">
            <a:avLst/>
          </a:prstGeom>
          <a:noFill/>
          <a:ln/>
        </p:spPr>
        <p:txBody>
          <a:bodyPr wrap="square" lIns="0" tIns="0" rIns="0" bIns="0" rtlCol="0" anchor="ctr"/>
          <a:lstStyle/>
          <a:p>
            <a:pPr algn="ctr" indent="0" marL="0">
              <a:buNone/>
            </a:pPr>
            <a:r>
              <a:rPr lang="en-US" sz="900" b="1" dirty="0">
                <a:solidFill>
                  <a:srgbClr val="FFFFFF"/>
                </a:solidFill>
              </a:rPr>
              <a:t>08 · CONCLUSION</a:t>
            </a:r>
            <a:endParaRPr lang="en-US" sz="900" dirty="0"/>
          </a:p>
        </p:txBody>
      </p:sp>
      <p:sp>
        <p:nvSpPr>
          <p:cNvPr id="4" name="Text 2"/>
          <p:cNvSpPr/>
          <p:nvPr/>
        </p:nvSpPr>
        <p:spPr>
          <a:xfrm>
            <a:off x="365760" y="640080"/>
            <a:ext cx="8412480" cy="502920"/>
          </a:xfrm>
          <a:prstGeom prst="rect">
            <a:avLst/>
          </a:prstGeom>
          <a:noFill/>
          <a:ln/>
        </p:spPr>
        <p:txBody>
          <a:bodyPr wrap="square" rtlCol="0" anchor="ctr"/>
          <a:lstStyle/>
          <a:p>
            <a:pPr indent="0" marL="0">
              <a:buNone/>
            </a:pPr>
            <a:r>
              <a:rPr lang="en-US" sz="2800" b="1" dirty="0">
                <a:solidFill>
                  <a:srgbClr val="1E293B"/>
                </a:solidFill>
              </a:rPr>
              <a:t>Conclusion &amp; Future Work</a:t>
            </a:r>
            <a:endParaRPr lang="en-US" sz="2800" dirty="0"/>
          </a:p>
        </p:txBody>
      </p:sp>
      <p:sp>
        <p:nvSpPr>
          <p:cNvPr id="5" name="Text 3"/>
          <p:cNvSpPr/>
          <p:nvPr/>
        </p:nvSpPr>
        <p:spPr>
          <a:xfrm>
            <a:off x="365760" y="1261872"/>
            <a:ext cx="4206240" cy="274320"/>
          </a:xfrm>
          <a:prstGeom prst="rect">
            <a:avLst/>
          </a:prstGeom>
          <a:noFill/>
          <a:ln/>
        </p:spPr>
        <p:txBody>
          <a:bodyPr wrap="square" rtlCol="0" anchor="ctr"/>
          <a:lstStyle/>
          <a:p>
            <a:pPr indent="0" marL="0">
              <a:buNone/>
            </a:pPr>
            <a:r>
              <a:rPr lang="en-US" sz="1300" b="1" dirty="0">
                <a:solidFill>
                  <a:srgbClr val="1A73E8"/>
                </a:solidFill>
              </a:rPr>
              <a:t>Key Contributions</a:t>
            </a:r>
            <a:endParaRPr lang="en-US" sz="1300" dirty="0"/>
          </a:p>
        </p:txBody>
      </p:sp>
      <p:sp>
        <p:nvSpPr>
          <p:cNvPr id="6" name="Shape 4"/>
          <p:cNvSpPr/>
          <p:nvPr/>
        </p:nvSpPr>
        <p:spPr>
          <a:xfrm>
            <a:off x="365760" y="1627632"/>
            <a:ext cx="201168" cy="201168"/>
          </a:xfrm>
          <a:prstGeom prst="ellipse">
            <a:avLst/>
          </a:prstGeom>
          <a:solidFill>
            <a:srgbClr val="10B981"/>
          </a:solidFill>
          <a:ln w="12700">
            <a:solidFill>
              <a:srgbClr val="000000"/>
            </a:solidFill>
            <a:prstDash val="solid"/>
          </a:ln>
        </p:spPr>
      </p:sp>
      <p:sp>
        <p:nvSpPr>
          <p:cNvPr id="7" name="Text 5"/>
          <p:cNvSpPr/>
          <p:nvPr/>
        </p:nvSpPr>
        <p:spPr>
          <a:xfrm>
            <a:off x="658368" y="16093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Built a unified NLP platform combining 3 independent tools</a:t>
            </a:r>
            <a:endParaRPr lang="en-US" sz="1000" dirty="0"/>
          </a:p>
        </p:txBody>
      </p:sp>
      <p:sp>
        <p:nvSpPr>
          <p:cNvPr id="8" name="Shape 6"/>
          <p:cNvSpPr/>
          <p:nvPr/>
        </p:nvSpPr>
        <p:spPr>
          <a:xfrm>
            <a:off x="365760" y="2084832"/>
            <a:ext cx="201168" cy="201168"/>
          </a:xfrm>
          <a:prstGeom prst="ellipse">
            <a:avLst/>
          </a:prstGeom>
          <a:solidFill>
            <a:srgbClr val="10B981"/>
          </a:solidFill>
          <a:ln w="12700">
            <a:solidFill>
              <a:srgbClr val="000000"/>
            </a:solidFill>
            <a:prstDash val="solid"/>
          </a:ln>
        </p:spPr>
      </p:sp>
      <p:sp>
        <p:nvSpPr>
          <p:cNvPr id="9" name="Text 7"/>
          <p:cNvSpPr/>
          <p:nvPr/>
        </p:nvSpPr>
        <p:spPr>
          <a:xfrm>
            <a:off x="658368" y="20665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Implemented BART for abstractive summarization (ROUGE-1 ~0.50)</a:t>
            </a:r>
            <a:endParaRPr lang="en-US" sz="1000" dirty="0"/>
          </a:p>
        </p:txBody>
      </p:sp>
      <p:sp>
        <p:nvSpPr>
          <p:cNvPr id="10" name="Shape 8"/>
          <p:cNvSpPr/>
          <p:nvPr/>
        </p:nvSpPr>
        <p:spPr>
          <a:xfrm>
            <a:off x="365760" y="2542032"/>
            <a:ext cx="201168" cy="201168"/>
          </a:xfrm>
          <a:prstGeom prst="ellipse">
            <a:avLst/>
          </a:prstGeom>
          <a:solidFill>
            <a:srgbClr val="10B981"/>
          </a:solidFill>
          <a:ln w="12700">
            <a:solidFill>
              <a:srgbClr val="000000"/>
            </a:solidFill>
            <a:prstDash val="solid"/>
          </a:ln>
        </p:spPr>
      </p:sp>
      <p:sp>
        <p:nvSpPr>
          <p:cNvPr id="11" name="Text 9"/>
          <p:cNvSpPr/>
          <p:nvPr/>
        </p:nvSpPr>
        <p:spPr>
          <a:xfrm>
            <a:off x="658368" y="25237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Fixed a critical T5 paraphrasing bug (num_beams vs do_sample conflict)</a:t>
            </a:r>
            <a:endParaRPr lang="en-US" sz="1000" dirty="0"/>
          </a:p>
        </p:txBody>
      </p:sp>
      <p:sp>
        <p:nvSpPr>
          <p:cNvPr id="12" name="Shape 10"/>
          <p:cNvSpPr/>
          <p:nvPr/>
        </p:nvSpPr>
        <p:spPr>
          <a:xfrm>
            <a:off x="365760" y="2999232"/>
            <a:ext cx="201168" cy="201168"/>
          </a:xfrm>
          <a:prstGeom prst="ellipse">
            <a:avLst/>
          </a:prstGeom>
          <a:solidFill>
            <a:srgbClr val="10B981"/>
          </a:solidFill>
          <a:ln w="12700">
            <a:solidFill>
              <a:srgbClr val="000000"/>
            </a:solidFill>
            <a:prstDash val="solid"/>
          </a:ln>
        </p:spPr>
      </p:sp>
      <p:sp>
        <p:nvSpPr>
          <p:cNvPr id="13" name="Text 11"/>
          <p:cNvSpPr/>
          <p:nvPr/>
        </p:nvSpPr>
        <p:spPr>
          <a:xfrm>
            <a:off x="658368" y="29809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Used SBERT+FAISS for semantic plagiarism detection (detects paraphrased copies)</a:t>
            </a:r>
            <a:endParaRPr lang="en-US" sz="1000" dirty="0"/>
          </a:p>
        </p:txBody>
      </p:sp>
      <p:sp>
        <p:nvSpPr>
          <p:cNvPr id="14" name="Shape 12"/>
          <p:cNvSpPr/>
          <p:nvPr/>
        </p:nvSpPr>
        <p:spPr>
          <a:xfrm>
            <a:off x="365760" y="3456432"/>
            <a:ext cx="201168" cy="201168"/>
          </a:xfrm>
          <a:prstGeom prst="ellipse">
            <a:avLst/>
          </a:prstGeom>
          <a:solidFill>
            <a:srgbClr val="10B981"/>
          </a:solidFill>
          <a:ln w="12700">
            <a:solidFill>
              <a:srgbClr val="000000"/>
            </a:solidFill>
            <a:prstDash val="solid"/>
          </a:ln>
        </p:spPr>
      </p:sp>
      <p:sp>
        <p:nvSpPr>
          <p:cNvPr id="15" name="Text 13"/>
          <p:cNvSpPr/>
          <p:nvPr/>
        </p:nvSpPr>
        <p:spPr>
          <a:xfrm>
            <a:off x="658368" y="3438144"/>
            <a:ext cx="4114800" cy="256032"/>
          </a:xfrm>
          <a:prstGeom prst="rect">
            <a:avLst/>
          </a:prstGeom>
          <a:noFill/>
          <a:ln/>
        </p:spPr>
        <p:txBody>
          <a:bodyPr wrap="square" lIns="0" tIns="0" rIns="0" bIns="0" rtlCol="0" anchor="ctr"/>
          <a:lstStyle/>
          <a:p>
            <a:pPr indent="0" marL="0">
              <a:buNone/>
            </a:pPr>
            <a:r>
              <a:rPr lang="en-US" sz="1000" dirty="0">
                <a:solidFill>
                  <a:srgbClr val="1E293B"/>
                </a:solidFill>
              </a:rPr>
              <a:t>Deployed as a Streamlit web app accessible via ngrok tunnel</a:t>
            </a:r>
            <a:endParaRPr lang="en-US" sz="1000" dirty="0"/>
          </a:p>
        </p:txBody>
      </p:sp>
      <p:sp>
        <p:nvSpPr>
          <p:cNvPr id="16" name="Text 14"/>
          <p:cNvSpPr/>
          <p:nvPr/>
        </p:nvSpPr>
        <p:spPr>
          <a:xfrm>
            <a:off x="4754880" y="1261872"/>
            <a:ext cx="4114800" cy="274320"/>
          </a:xfrm>
          <a:prstGeom prst="rect">
            <a:avLst/>
          </a:prstGeom>
          <a:noFill/>
          <a:ln/>
        </p:spPr>
        <p:txBody>
          <a:bodyPr wrap="square" rtlCol="0" anchor="ctr"/>
          <a:lstStyle/>
          <a:p>
            <a:pPr indent="0" marL="0">
              <a:buNone/>
            </a:pPr>
            <a:r>
              <a:rPr lang="en-US" sz="1300" b="1" dirty="0">
                <a:solidFill>
                  <a:srgbClr val="7C3AED"/>
                </a:solidFill>
              </a:rPr>
              <a:t>Future Work</a:t>
            </a:r>
            <a:endParaRPr lang="en-US" sz="1300" dirty="0"/>
          </a:p>
        </p:txBody>
      </p:sp>
      <p:sp>
        <p:nvSpPr>
          <p:cNvPr id="17" name="Shape 15"/>
          <p:cNvSpPr/>
          <p:nvPr/>
        </p:nvSpPr>
        <p:spPr>
          <a:xfrm>
            <a:off x="4754880" y="1627632"/>
            <a:ext cx="4114800" cy="347472"/>
          </a:xfrm>
          <a:prstGeom prst="rect">
            <a:avLst/>
          </a:prstGeom>
          <a:solidFill>
            <a:srgbClr val="FFFFFF"/>
          </a:solidFill>
          <a:ln w="12700">
            <a:solidFill>
              <a:srgbClr val="BFDBFE"/>
            </a:solidFill>
            <a:prstDash val="solid"/>
          </a:ln>
        </p:spPr>
      </p:sp>
      <p:sp>
        <p:nvSpPr>
          <p:cNvPr id="18" name="Text 16"/>
          <p:cNvSpPr/>
          <p:nvPr/>
        </p:nvSpPr>
        <p:spPr>
          <a:xfrm>
            <a:off x="4846320" y="1627632"/>
            <a:ext cx="3931920" cy="347472"/>
          </a:xfrm>
          <a:prstGeom prst="rect">
            <a:avLst/>
          </a:prstGeom>
          <a:noFill/>
          <a:ln/>
        </p:spPr>
        <p:txBody>
          <a:bodyPr wrap="square" rtlCol="0" anchor="ctr"/>
          <a:lstStyle/>
          <a:p>
            <a:pPr indent="0" marL="0">
              <a:buNone/>
            </a:pPr>
            <a:r>
              <a:rPr lang="en-US" sz="1050" dirty="0">
                <a:solidFill>
                  <a:srgbClr val="1E293B"/>
                </a:solidFill>
              </a:rPr>
              <a:t>🌐  Arabic language support</a:t>
            </a:r>
            <a:endParaRPr lang="en-US" sz="1050" dirty="0"/>
          </a:p>
        </p:txBody>
      </p:sp>
      <p:sp>
        <p:nvSpPr>
          <p:cNvPr id="19" name="Shape 17"/>
          <p:cNvSpPr/>
          <p:nvPr/>
        </p:nvSpPr>
        <p:spPr>
          <a:xfrm>
            <a:off x="4754880" y="2084832"/>
            <a:ext cx="4114800" cy="347472"/>
          </a:xfrm>
          <a:prstGeom prst="rect">
            <a:avLst/>
          </a:prstGeom>
          <a:solidFill>
            <a:srgbClr val="FFFFFF"/>
          </a:solidFill>
          <a:ln w="12700">
            <a:solidFill>
              <a:srgbClr val="BFDBFE"/>
            </a:solidFill>
            <a:prstDash val="solid"/>
          </a:ln>
        </p:spPr>
      </p:sp>
      <p:sp>
        <p:nvSpPr>
          <p:cNvPr id="20" name="Text 18"/>
          <p:cNvSpPr/>
          <p:nvPr/>
        </p:nvSpPr>
        <p:spPr>
          <a:xfrm>
            <a:off x="4846320" y="2084832"/>
            <a:ext cx="3931920" cy="347472"/>
          </a:xfrm>
          <a:prstGeom prst="rect">
            <a:avLst/>
          </a:prstGeom>
          <a:noFill/>
          <a:ln/>
        </p:spPr>
        <p:txBody>
          <a:bodyPr wrap="square" rtlCol="0" anchor="ctr"/>
          <a:lstStyle/>
          <a:p>
            <a:pPr indent="0" marL="0">
              <a:buNone/>
            </a:pPr>
            <a:r>
              <a:rPr lang="en-US" sz="1050" dirty="0">
                <a:solidFill>
                  <a:srgbClr val="1E293B"/>
                </a:solidFill>
              </a:rPr>
              <a:t>📊  Expand corpus to full CNN/DailyMail (300K docs)</a:t>
            </a:r>
            <a:endParaRPr lang="en-US" sz="1050" dirty="0"/>
          </a:p>
        </p:txBody>
      </p:sp>
      <p:sp>
        <p:nvSpPr>
          <p:cNvPr id="21" name="Shape 19"/>
          <p:cNvSpPr/>
          <p:nvPr/>
        </p:nvSpPr>
        <p:spPr>
          <a:xfrm>
            <a:off x="4754880" y="2542032"/>
            <a:ext cx="4114800" cy="347472"/>
          </a:xfrm>
          <a:prstGeom prst="rect">
            <a:avLst/>
          </a:prstGeom>
          <a:solidFill>
            <a:srgbClr val="FFFFFF"/>
          </a:solidFill>
          <a:ln w="12700">
            <a:solidFill>
              <a:srgbClr val="BFDBFE"/>
            </a:solidFill>
            <a:prstDash val="solid"/>
          </a:ln>
        </p:spPr>
      </p:sp>
      <p:sp>
        <p:nvSpPr>
          <p:cNvPr id="22" name="Text 20"/>
          <p:cNvSpPr/>
          <p:nvPr/>
        </p:nvSpPr>
        <p:spPr>
          <a:xfrm>
            <a:off x="4846320" y="2542032"/>
            <a:ext cx="3931920" cy="347472"/>
          </a:xfrm>
          <a:prstGeom prst="rect">
            <a:avLst/>
          </a:prstGeom>
          <a:noFill/>
          <a:ln/>
        </p:spPr>
        <p:txBody>
          <a:bodyPr wrap="square" rtlCol="0" anchor="ctr"/>
          <a:lstStyle/>
          <a:p>
            <a:pPr indent="0" marL="0">
              <a:buNone/>
            </a:pPr>
            <a:r>
              <a:rPr lang="en-US" sz="1050" dirty="0">
                <a:solidFill>
                  <a:srgbClr val="1E293B"/>
                </a:solidFill>
              </a:rPr>
              <a:t>🎯  Fine-tune BART on academic papers (not just news)</a:t>
            </a:r>
            <a:endParaRPr lang="en-US" sz="1050" dirty="0"/>
          </a:p>
        </p:txBody>
      </p:sp>
      <p:sp>
        <p:nvSpPr>
          <p:cNvPr id="23" name="Shape 21"/>
          <p:cNvSpPr/>
          <p:nvPr/>
        </p:nvSpPr>
        <p:spPr>
          <a:xfrm>
            <a:off x="4754880" y="2999232"/>
            <a:ext cx="4114800" cy="347472"/>
          </a:xfrm>
          <a:prstGeom prst="rect">
            <a:avLst/>
          </a:prstGeom>
          <a:solidFill>
            <a:srgbClr val="FFFFFF"/>
          </a:solidFill>
          <a:ln w="12700">
            <a:solidFill>
              <a:srgbClr val="BFDBFE"/>
            </a:solidFill>
            <a:prstDash val="solid"/>
          </a:ln>
        </p:spPr>
      </p:sp>
      <p:sp>
        <p:nvSpPr>
          <p:cNvPr id="24" name="Text 22"/>
          <p:cNvSpPr/>
          <p:nvPr/>
        </p:nvSpPr>
        <p:spPr>
          <a:xfrm>
            <a:off x="4846320" y="2999232"/>
            <a:ext cx="3931920" cy="347472"/>
          </a:xfrm>
          <a:prstGeom prst="rect">
            <a:avLst/>
          </a:prstGeom>
          <a:noFill/>
          <a:ln/>
        </p:spPr>
        <p:txBody>
          <a:bodyPr wrap="square" rtlCol="0" anchor="ctr"/>
          <a:lstStyle/>
          <a:p>
            <a:pPr indent="0" marL="0">
              <a:buNone/>
            </a:pPr>
            <a:r>
              <a:rPr lang="en-US" sz="1050" dirty="0">
                <a:solidFill>
                  <a:srgbClr val="1E293B"/>
                </a:solidFill>
              </a:rPr>
              <a:t>🔒  Add user authentication &amp; document history</a:t>
            </a:r>
            <a:endParaRPr lang="en-US" sz="1050" dirty="0"/>
          </a:p>
        </p:txBody>
      </p:sp>
      <p:sp>
        <p:nvSpPr>
          <p:cNvPr id="25" name="Shape 23"/>
          <p:cNvSpPr/>
          <p:nvPr/>
        </p:nvSpPr>
        <p:spPr>
          <a:xfrm>
            <a:off x="4754880" y="3456432"/>
            <a:ext cx="4114800" cy="347472"/>
          </a:xfrm>
          <a:prstGeom prst="rect">
            <a:avLst/>
          </a:prstGeom>
          <a:solidFill>
            <a:srgbClr val="FFFFFF"/>
          </a:solidFill>
          <a:ln w="12700">
            <a:solidFill>
              <a:srgbClr val="BFDBFE"/>
            </a:solidFill>
            <a:prstDash val="solid"/>
          </a:ln>
        </p:spPr>
      </p:sp>
      <p:sp>
        <p:nvSpPr>
          <p:cNvPr id="26" name="Text 24"/>
          <p:cNvSpPr/>
          <p:nvPr/>
        </p:nvSpPr>
        <p:spPr>
          <a:xfrm>
            <a:off x="4846320" y="3456432"/>
            <a:ext cx="3931920" cy="347472"/>
          </a:xfrm>
          <a:prstGeom prst="rect">
            <a:avLst/>
          </a:prstGeom>
          <a:noFill/>
          <a:ln/>
        </p:spPr>
        <p:txBody>
          <a:bodyPr wrap="square" rtlCol="0" anchor="ctr"/>
          <a:lstStyle/>
          <a:p>
            <a:pPr indent="0" marL="0">
              <a:buNone/>
            </a:pPr>
            <a:r>
              <a:rPr lang="en-US" sz="1050" dirty="0">
                <a:solidFill>
                  <a:srgbClr val="1E293B"/>
                </a:solidFill>
              </a:rPr>
              <a:t>📱  Mobile-responsive interface</a:t>
            </a:r>
            <a:endParaRPr lang="en-US" sz="1050" dirty="0"/>
          </a:p>
        </p:txBody>
      </p:sp>
      <p:sp>
        <p:nvSpPr>
          <p:cNvPr id="27" name="Shape 25"/>
          <p:cNvSpPr/>
          <p:nvPr/>
        </p:nvSpPr>
        <p:spPr>
          <a:xfrm>
            <a:off x="4754880" y="3913632"/>
            <a:ext cx="4114800" cy="347472"/>
          </a:xfrm>
          <a:prstGeom prst="rect">
            <a:avLst/>
          </a:prstGeom>
          <a:solidFill>
            <a:srgbClr val="FFFFFF"/>
          </a:solidFill>
          <a:ln w="12700">
            <a:solidFill>
              <a:srgbClr val="BFDBFE"/>
            </a:solidFill>
            <a:prstDash val="solid"/>
          </a:ln>
        </p:spPr>
      </p:sp>
      <p:sp>
        <p:nvSpPr>
          <p:cNvPr id="28" name="Text 26"/>
          <p:cNvSpPr/>
          <p:nvPr/>
        </p:nvSpPr>
        <p:spPr>
          <a:xfrm>
            <a:off x="4846320" y="3913632"/>
            <a:ext cx="3931920" cy="347472"/>
          </a:xfrm>
          <a:prstGeom prst="rect">
            <a:avLst/>
          </a:prstGeom>
          <a:noFill/>
          <a:ln/>
        </p:spPr>
        <p:txBody>
          <a:bodyPr wrap="square" rtlCol="0" anchor="ctr"/>
          <a:lstStyle/>
          <a:p>
            <a:pPr indent="0" marL="0">
              <a:buNone/>
            </a:pPr>
            <a:r>
              <a:rPr lang="en-US" sz="1050" dirty="0">
                <a:solidFill>
                  <a:srgbClr val="1E293B"/>
                </a:solidFill>
              </a:rPr>
              <a:t>☁️  Deploy on scalable cloud (AWS/GCP)</a:t>
            </a:r>
            <a:endParaRPr lang="en-US" sz="1050" dirty="0"/>
          </a:p>
        </p:txBody>
      </p:sp>
      <p:sp>
        <p:nvSpPr>
          <p:cNvPr id="29" name="Shape 27"/>
          <p:cNvSpPr/>
          <p:nvPr/>
        </p:nvSpPr>
        <p:spPr>
          <a:xfrm>
            <a:off x="365760" y="4206240"/>
            <a:ext cx="8412480" cy="594360"/>
          </a:xfrm>
          <a:prstGeom prst="rect">
            <a:avLst/>
          </a:prstGeom>
          <a:solidFill>
            <a:srgbClr val="FFF7ED"/>
          </a:solidFill>
          <a:ln w="12700">
            <a:solidFill>
              <a:srgbClr val="FED7AA"/>
            </a:solidFill>
            <a:prstDash val="solid"/>
          </a:ln>
        </p:spPr>
      </p:sp>
      <p:sp>
        <p:nvSpPr>
          <p:cNvPr id="30" name="Text 28"/>
          <p:cNvSpPr/>
          <p:nvPr/>
        </p:nvSpPr>
        <p:spPr>
          <a:xfrm>
            <a:off x="502920" y="4206240"/>
            <a:ext cx="8229600" cy="594360"/>
          </a:xfrm>
          <a:prstGeom prst="rect">
            <a:avLst/>
          </a:prstGeom>
          <a:noFill/>
          <a:ln/>
        </p:spPr>
        <p:txBody>
          <a:bodyPr wrap="square" rtlCol="0" anchor="ctr"/>
          <a:lstStyle/>
          <a:p>
            <a:pPr indent="0" marL="0">
              <a:buNone/>
            </a:pPr>
            <a:r>
              <a:rPr lang="en-US" sz="1050" dirty="0">
                <a:solidFill>
                  <a:srgbClr val="92400E"/>
                </a:solidFill>
              </a:rPr>
              <a:t>⚠️ Limitations: English only • Small demo corpus (10 docs) • GPU required for production speed • Ngrok tunnel expires after 8 hours</a:t>
            </a:r>
            <a:endParaRPr lang="en-US" sz="1050" dirty="0"/>
          </a:p>
        </p:txBody>
      </p:sp>
      <p:sp>
        <p:nvSpPr>
          <p:cNvPr id="31" name="Text 29"/>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914400" y="2286000"/>
            <a:ext cx="4572000" cy="4572000"/>
          </a:xfrm>
          <a:prstGeom prst="ellipse">
            <a:avLst/>
          </a:prstGeom>
          <a:solidFill>
            <a:srgbClr val="1A73E8">
              <a:alpha val="18000"/>
            </a:srgbClr>
          </a:solidFill>
          <a:ln w="12700">
            <a:solidFill>
              <a:srgbClr val="000000"/>
            </a:solidFill>
            <a:prstDash val="solid"/>
          </a:ln>
        </p:spPr>
      </p:sp>
      <p:sp>
        <p:nvSpPr>
          <p:cNvPr id="3" name="Shape 1"/>
          <p:cNvSpPr/>
          <p:nvPr/>
        </p:nvSpPr>
        <p:spPr>
          <a:xfrm>
            <a:off x="6858000" y="-1371600"/>
            <a:ext cx="4572000" cy="4572000"/>
          </a:xfrm>
          <a:prstGeom prst="ellipse">
            <a:avLst/>
          </a:prstGeom>
          <a:solidFill>
            <a:srgbClr val="00BFA5">
              <a:alpha val="15000"/>
            </a:srgbClr>
          </a:solidFill>
          <a:ln w="12700">
            <a:solidFill>
              <a:srgbClr val="000000"/>
            </a:solidFill>
            <a:prstDash val="solid"/>
          </a:ln>
        </p:spPr>
      </p:sp>
      <p:sp>
        <p:nvSpPr>
          <p:cNvPr id="4" name="Text 2"/>
          <p:cNvSpPr/>
          <p:nvPr/>
        </p:nvSpPr>
        <p:spPr>
          <a:xfrm>
            <a:off x="457200" y="914400"/>
            <a:ext cx="8229600" cy="1005840"/>
          </a:xfrm>
          <a:prstGeom prst="rect">
            <a:avLst/>
          </a:prstGeom>
          <a:noFill/>
          <a:ln/>
        </p:spPr>
        <p:txBody>
          <a:bodyPr wrap="square"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3"/>
          <p:cNvSpPr/>
          <p:nvPr/>
        </p:nvSpPr>
        <p:spPr>
          <a:xfrm>
            <a:off x="457200" y="1920240"/>
            <a:ext cx="8229600" cy="365760"/>
          </a:xfrm>
          <a:prstGeom prst="rect">
            <a:avLst/>
          </a:prstGeom>
          <a:noFill/>
          <a:ln/>
        </p:spPr>
        <p:txBody>
          <a:bodyPr wrap="square" rtlCol="0" anchor="ctr"/>
          <a:lstStyle/>
          <a:p>
            <a:pPr algn="ctr" indent="0" marL="0">
              <a:buNone/>
            </a:pPr>
            <a:r>
              <a:rPr lang="en-US" sz="1400" dirty="0">
                <a:solidFill>
                  <a:srgbClr val="00BFA5"/>
                </a:solidFill>
              </a:rPr>
              <a:t>DocTrust — Integrated Academic Writing Assistance System</a:t>
            </a:r>
            <a:endParaRPr lang="en-US" sz="1400" dirty="0"/>
          </a:p>
        </p:txBody>
      </p:sp>
      <p:sp>
        <p:nvSpPr>
          <p:cNvPr id="6" name="Shape 4"/>
          <p:cNvSpPr/>
          <p:nvPr/>
        </p:nvSpPr>
        <p:spPr>
          <a:xfrm>
            <a:off x="1005840" y="2468880"/>
            <a:ext cx="1554480" cy="1097280"/>
          </a:xfrm>
          <a:prstGeom prst="rect">
            <a:avLst/>
          </a:prstGeom>
          <a:solidFill>
            <a:srgbClr val="1E293B"/>
          </a:solidFill>
          <a:ln w="19050">
            <a:solidFill>
              <a:srgbClr val="00BFA5"/>
            </a:solidFill>
            <a:prstDash val="solid"/>
          </a:ln>
        </p:spPr>
      </p:sp>
      <p:sp>
        <p:nvSpPr>
          <p:cNvPr id="7" name="Text 5"/>
          <p:cNvSpPr/>
          <p:nvPr/>
        </p:nvSpPr>
        <p:spPr>
          <a:xfrm>
            <a:off x="1005840" y="2514600"/>
            <a:ext cx="1554480" cy="502920"/>
          </a:xfrm>
          <a:prstGeom prst="rect">
            <a:avLst/>
          </a:prstGeom>
          <a:noFill/>
          <a:ln/>
        </p:spPr>
        <p:txBody>
          <a:bodyPr wrap="square" rtlCol="0" anchor="ctr"/>
          <a:lstStyle/>
          <a:p>
            <a:pPr algn="ctr" indent="0" marL="0">
              <a:buNone/>
            </a:pPr>
            <a:r>
              <a:rPr lang="en-US" sz="2600" b="1" dirty="0">
                <a:solidFill>
                  <a:srgbClr val="00BFA5"/>
                </a:solidFill>
              </a:rPr>
              <a:t>3</a:t>
            </a:r>
            <a:endParaRPr lang="en-US" sz="2600" dirty="0"/>
          </a:p>
        </p:txBody>
      </p:sp>
      <p:sp>
        <p:nvSpPr>
          <p:cNvPr id="8" name="Text 6"/>
          <p:cNvSpPr/>
          <p:nvPr/>
        </p:nvSpPr>
        <p:spPr>
          <a:xfrm>
            <a:off x="1005840" y="3017520"/>
            <a:ext cx="1554480" cy="457200"/>
          </a:xfrm>
          <a:prstGeom prst="rect">
            <a:avLst/>
          </a:prstGeom>
          <a:noFill/>
          <a:ln/>
        </p:spPr>
        <p:txBody>
          <a:bodyPr wrap="square" rtlCol="0" anchor="ctr"/>
          <a:lstStyle/>
          <a:p>
            <a:pPr algn="ctr" indent="0" marL="0">
              <a:buNone/>
            </a:pPr>
            <a:r>
              <a:rPr lang="en-US" sz="900" dirty="0">
                <a:solidFill>
                  <a:srgbClr val="CBD5E1"/>
                </a:solidFill>
              </a:rPr>
              <a:t>NLP Modules</a:t>
            </a:r>
            <a:endParaRPr lang="en-US" sz="900" dirty="0"/>
          </a:p>
        </p:txBody>
      </p:sp>
      <p:sp>
        <p:nvSpPr>
          <p:cNvPr id="9" name="Shape 7"/>
          <p:cNvSpPr/>
          <p:nvPr/>
        </p:nvSpPr>
        <p:spPr>
          <a:xfrm>
            <a:off x="2834640" y="2468880"/>
            <a:ext cx="1554480" cy="1097280"/>
          </a:xfrm>
          <a:prstGeom prst="rect">
            <a:avLst/>
          </a:prstGeom>
          <a:solidFill>
            <a:srgbClr val="1E293B"/>
          </a:solidFill>
          <a:ln w="19050">
            <a:solidFill>
              <a:srgbClr val="00BFA5"/>
            </a:solidFill>
            <a:prstDash val="solid"/>
          </a:ln>
        </p:spPr>
      </p:sp>
      <p:sp>
        <p:nvSpPr>
          <p:cNvPr id="10" name="Text 8"/>
          <p:cNvSpPr/>
          <p:nvPr/>
        </p:nvSpPr>
        <p:spPr>
          <a:xfrm>
            <a:off x="2834640" y="2514600"/>
            <a:ext cx="1554480" cy="502920"/>
          </a:xfrm>
          <a:prstGeom prst="rect">
            <a:avLst/>
          </a:prstGeom>
          <a:noFill/>
          <a:ln/>
        </p:spPr>
        <p:txBody>
          <a:bodyPr wrap="square" rtlCol="0" anchor="ctr"/>
          <a:lstStyle/>
          <a:p>
            <a:pPr algn="ctr" indent="0" marL="0">
              <a:buNone/>
            </a:pPr>
            <a:r>
              <a:rPr lang="en-US" sz="2600" b="1" dirty="0">
                <a:solidFill>
                  <a:srgbClr val="00BFA5"/>
                </a:solidFill>
              </a:rPr>
              <a:t>~0.50</a:t>
            </a:r>
            <a:endParaRPr lang="en-US" sz="2600" dirty="0"/>
          </a:p>
        </p:txBody>
      </p:sp>
      <p:sp>
        <p:nvSpPr>
          <p:cNvPr id="11" name="Text 9"/>
          <p:cNvSpPr/>
          <p:nvPr/>
        </p:nvSpPr>
        <p:spPr>
          <a:xfrm>
            <a:off x="2834640" y="3017520"/>
            <a:ext cx="1554480" cy="457200"/>
          </a:xfrm>
          <a:prstGeom prst="rect">
            <a:avLst/>
          </a:prstGeom>
          <a:noFill/>
          <a:ln/>
        </p:spPr>
        <p:txBody>
          <a:bodyPr wrap="square" rtlCol="0" anchor="ctr"/>
          <a:lstStyle/>
          <a:p>
            <a:pPr algn="ctr" indent="0" marL="0">
              <a:buNone/>
            </a:pPr>
            <a:r>
              <a:rPr lang="en-US" sz="900" dirty="0">
                <a:solidFill>
                  <a:srgbClr val="CBD5E1"/>
                </a:solidFill>
              </a:rPr>
              <a:t>Avg ROUGE-1</a:t>
            </a:r>
            <a:endParaRPr lang="en-US" sz="900" dirty="0"/>
          </a:p>
        </p:txBody>
      </p:sp>
      <p:sp>
        <p:nvSpPr>
          <p:cNvPr id="12" name="Shape 10"/>
          <p:cNvSpPr/>
          <p:nvPr/>
        </p:nvSpPr>
        <p:spPr>
          <a:xfrm>
            <a:off x="4663440" y="2468880"/>
            <a:ext cx="1554480" cy="1097280"/>
          </a:xfrm>
          <a:prstGeom prst="rect">
            <a:avLst/>
          </a:prstGeom>
          <a:solidFill>
            <a:srgbClr val="1E293B"/>
          </a:solidFill>
          <a:ln w="19050">
            <a:solidFill>
              <a:srgbClr val="00BFA5"/>
            </a:solidFill>
            <a:prstDash val="solid"/>
          </a:ln>
        </p:spPr>
      </p:sp>
      <p:sp>
        <p:nvSpPr>
          <p:cNvPr id="13" name="Text 11"/>
          <p:cNvSpPr/>
          <p:nvPr/>
        </p:nvSpPr>
        <p:spPr>
          <a:xfrm>
            <a:off x="4663440" y="2514600"/>
            <a:ext cx="1554480" cy="502920"/>
          </a:xfrm>
          <a:prstGeom prst="rect">
            <a:avLst/>
          </a:prstGeom>
          <a:noFill/>
          <a:ln/>
        </p:spPr>
        <p:txBody>
          <a:bodyPr wrap="square" rtlCol="0" anchor="ctr"/>
          <a:lstStyle/>
          <a:p>
            <a:pPr algn="ctr" indent="0" marL="0">
              <a:buNone/>
            </a:pPr>
            <a:r>
              <a:rPr lang="en-US" sz="2600" b="1" dirty="0">
                <a:solidFill>
                  <a:srgbClr val="00BFA5"/>
                </a:solidFill>
              </a:rPr>
              <a:t>~0.83</a:t>
            </a:r>
            <a:endParaRPr lang="en-US" sz="2600" dirty="0"/>
          </a:p>
        </p:txBody>
      </p:sp>
      <p:sp>
        <p:nvSpPr>
          <p:cNvPr id="14" name="Text 12"/>
          <p:cNvSpPr/>
          <p:nvPr/>
        </p:nvSpPr>
        <p:spPr>
          <a:xfrm>
            <a:off x="4663440" y="3017520"/>
            <a:ext cx="1554480" cy="457200"/>
          </a:xfrm>
          <a:prstGeom prst="rect">
            <a:avLst/>
          </a:prstGeom>
          <a:noFill/>
          <a:ln/>
        </p:spPr>
        <p:txBody>
          <a:bodyPr wrap="square" rtlCol="0" anchor="ctr"/>
          <a:lstStyle/>
          <a:p>
            <a:pPr algn="ctr" indent="0" marL="0">
              <a:buNone/>
            </a:pPr>
            <a:r>
              <a:rPr lang="en-US" sz="900" dirty="0">
                <a:solidFill>
                  <a:srgbClr val="CBD5E1"/>
                </a:solidFill>
              </a:rPr>
              <a:t>Paraphrase</a:t>
            </a:r>
            <a:endParaRPr lang="en-US" sz="900" dirty="0"/>
          </a:p>
          <a:p>
            <a:pPr algn="ctr" indent="0" marL="0">
              <a:buNone/>
            </a:pPr>
            <a:r>
              <a:rPr lang="en-US" sz="900" dirty="0">
                <a:solidFill>
                  <a:srgbClr val="CBD5E1"/>
                </a:solidFill>
              </a:rPr>
              <a:t>Similarity</a:t>
            </a:r>
            <a:endParaRPr lang="en-US" sz="900" dirty="0"/>
          </a:p>
        </p:txBody>
      </p:sp>
      <p:sp>
        <p:nvSpPr>
          <p:cNvPr id="15" name="Shape 13"/>
          <p:cNvSpPr/>
          <p:nvPr/>
        </p:nvSpPr>
        <p:spPr>
          <a:xfrm>
            <a:off x="6492240" y="2468880"/>
            <a:ext cx="1554480" cy="1097280"/>
          </a:xfrm>
          <a:prstGeom prst="rect">
            <a:avLst/>
          </a:prstGeom>
          <a:solidFill>
            <a:srgbClr val="1E293B"/>
          </a:solidFill>
          <a:ln w="19050">
            <a:solidFill>
              <a:srgbClr val="00BFA5"/>
            </a:solidFill>
            <a:prstDash val="solid"/>
          </a:ln>
        </p:spPr>
      </p:sp>
      <p:sp>
        <p:nvSpPr>
          <p:cNvPr id="16" name="Text 14"/>
          <p:cNvSpPr/>
          <p:nvPr/>
        </p:nvSpPr>
        <p:spPr>
          <a:xfrm>
            <a:off x="6492240" y="2514600"/>
            <a:ext cx="1554480" cy="502920"/>
          </a:xfrm>
          <a:prstGeom prst="rect">
            <a:avLst/>
          </a:prstGeom>
          <a:noFill/>
          <a:ln/>
        </p:spPr>
        <p:txBody>
          <a:bodyPr wrap="square" rtlCol="0" anchor="ctr"/>
          <a:lstStyle/>
          <a:p>
            <a:pPr algn="ctr" indent="0" marL="0">
              <a:buNone/>
            </a:pPr>
            <a:r>
              <a:rPr lang="en-US" sz="2600" b="1" dirty="0">
                <a:solidFill>
                  <a:srgbClr val="00BFA5"/>
                </a:solidFill>
              </a:rPr>
              <a:t>100%</a:t>
            </a:r>
            <a:endParaRPr lang="en-US" sz="2600" dirty="0"/>
          </a:p>
        </p:txBody>
      </p:sp>
      <p:sp>
        <p:nvSpPr>
          <p:cNvPr id="17" name="Text 15"/>
          <p:cNvSpPr/>
          <p:nvPr/>
        </p:nvSpPr>
        <p:spPr>
          <a:xfrm>
            <a:off x="6492240" y="3017520"/>
            <a:ext cx="1554480" cy="457200"/>
          </a:xfrm>
          <a:prstGeom prst="rect">
            <a:avLst/>
          </a:prstGeom>
          <a:noFill/>
          <a:ln/>
        </p:spPr>
        <p:txBody>
          <a:bodyPr wrap="square" rtlCol="0" anchor="ctr"/>
          <a:lstStyle/>
          <a:p>
            <a:pPr algn="ctr" indent="0" marL="0">
              <a:buNone/>
            </a:pPr>
            <a:r>
              <a:rPr lang="en-US" sz="900" dirty="0">
                <a:solidFill>
                  <a:srgbClr val="CBD5E1"/>
                </a:solidFill>
              </a:rPr>
              <a:t>Plagiarism</a:t>
            </a:r>
            <a:endParaRPr lang="en-US" sz="900" dirty="0"/>
          </a:p>
          <a:p>
            <a:pPr algn="ctr" indent="0" marL="0">
              <a:buNone/>
            </a:pPr>
            <a:r>
              <a:rPr lang="en-US" sz="900" dirty="0">
                <a:solidFill>
                  <a:srgbClr val="CBD5E1"/>
                </a:solidFill>
              </a:rPr>
              <a:t>Detection Rate</a:t>
            </a:r>
            <a:endParaRPr lang="en-US" sz="900" dirty="0"/>
          </a:p>
        </p:txBody>
      </p:sp>
      <p:sp>
        <p:nvSpPr>
          <p:cNvPr id="18" name="Text 16"/>
          <p:cNvSpPr/>
          <p:nvPr/>
        </p:nvSpPr>
        <p:spPr>
          <a:xfrm>
            <a:off x="457200" y="3749040"/>
            <a:ext cx="8229600" cy="274320"/>
          </a:xfrm>
          <a:prstGeom prst="rect">
            <a:avLst/>
          </a:prstGeom>
          <a:noFill/>
          <a:ln/>
        </p:spPr>
        <p:txBody>
          <a:bodyPr wrap="square" rtlCol="0" anchor="ctr"/>
          <a:lstStyle/>
          <a:p>
            <a:pPr algn="ctr" indent="0" marL="0">
              <a:buNone/>
            </a:pPr>
            <a:r>
              <a:rPr lang="en-US" sz="1200" b="1" dirty="0">
                <a:solidFill>
                  <a:srgbClr val="F59E0B"/>
                </a:solidFill>
              </a:rPr>
              <a:t>Team</a:t>
            </a:r>
            <a:endParaRPr lang="en-US" sz="1200" dirty="0"/>
          </a:p>
        </p:txBody>
      </p:sp>
      <p:sp>
        <p:nvSpPr>
          <p:cNvPr id="19" name="Text 17"/>
          <p:cNvSpPr/>
          <p:nvPr/>
        </p:nvSpPr>
        <p:spPr>
          <a:xfrm>
            <a:off x="457200" y="4069080"/>
            <a:ext cx="8229600" cy="274320"/>
          </a:xfrm>
          <a:prstGeom prst="rect">
            <a:avLst/>
          </a:prstGeom>
          <a:noFill/>
          <a:ln/>
        </p:spPr>
        <p:txBody>
          <a:bodyPr wrap="square" rtlCol="0" anchor="ctr"/>
          <a:lstStyle/>
          <a:p>
            <a:pPr algn="ctr" indent="0" marL="0">
              <a:buNone/>
            </a:pPr>
            <a:r>
              <a:rPr lang="en-US" sz="1050" dirty="0">
                <a:solidFill>
                  <a:srgbClr val="CBD5E1"/>
                </a:solidFill>
              </a:rPr>
              <a:t>Omar Essam (TL)  •  Ahmed Khaled  •  Sara Mohamed  •  Seif Tarek  •  Abdelrahman Khaled  •  Mohamed Mahmoud  •  Nesma Mohamed</a:t>
            </a:r>
            <a:endParaRPr lang="en-US" sz="1050" dirty="0"/>
          </a:p>
        </p:txBody>
      </p:sp>
      <p:sp>
        <p:nvSpPr>
          <p:cNvPr id="20" name="Text 18"/>
          <p:cNvSpPr/>
          <p:nvPr/>
        </p:nvSpPr>
        <p:spPr>
          <a:xfrm>
            <a:off x="457200" y="4434840"/>
            <a:ext cx="8229600" cy="228600"/>
          </a:xfrm>
          <a:prstGeom prst="rect">
            <a:avLst/>
          </a:prstGeom>
          <a:noFill/>
          <a:ln/>
        </p:spPr>
        <p:txBody>
          <a:bodyPr wrap="square" rtlCol="0" anchor="ctr"/>
          <a:lstStyle/>
          <a:p>
            <a:pPr algn="ctr" indent="0" marL="0">
              <a:buNone/>
            </a:pPr>
            <a:r>
              <a:rPr lang="en-US" sz="1000" dirty="0">
                <a:solidFill>
                  <a:srgbClr val="64748B"/>
                </a:solidFill>
              </a:rPr>
              <a:t>Supervised by: Dr. Haithem Ghallab  |  2026</a:t>
            </a:r>
            <a:endParaRPr lang="en-US" sz="1000" dirty="0"/>
          </a:p>
        </p:txBody>
      </p:sp>
      <p:sp>
        <p:nvSpPr>
          <p:cNvPr id="21" name="Text 19"/>
          <p:cNvSpPr/>
          <p:nvPr/>
        </p:nvSpPr>
        <p:spPr>
          <a:xfrm>
            <a:off x="3200400" y="4709160"/>
            <a:ext cx="2743200" cy="274320"/>
          </a:xfrm>
          <a:prstGeom prst="rect">
            <a:avLst/>
          </a:prstGeom>
          <a:noFill/>
          <a:ln/>
        </p:spPr>
        <p:txBody>
          <a:bodyPr wrap="square" rtlCol="0" anchor="ctr"/>
          <a:lstStyle/>
          <a:p>
            <a:pPr algn="ctr" indent="0" marL="0">
              <a:buNone/>
            </a:pPr>
            <a:r>
              <a:rPr lang="en-US" sz="1300" b="1" dirty="0">
                <a:solidFill>
                  <a:srgbClr val="00BFA5"/>
                </a:solidFill>
              </a:rPr>
              <a:t>Questions?</a:t>
            </a:r>
            <a:endParaRPr lang="en-US" sz="1300" dirty="0"/>
          </a:p>
        </p:txBody>
      </p:sp>
      <p:sp>
        <p:nvSpPr>
          <p:cNvPr id="22" name="Text 20"/>
          <p:cNvSpPr/>
          <p:nvPr/>
        </p:nvSpPr>
        <p:spPr>
          <a:xfrm>
            <a:off x="8503920" y="4846320"/>
            <a:ext cx="548640" cy="201168"/>
          </a:xfrm>
          <a:prstGeom prst="rect">
            <a:avLst/>
          </a:prstGeom>
          <a:noFill/>
          <a:ln/>
        </p:spPr>
        <p:txBody>
          <a:bodyPr wrap="square" rtlCol="0" anchor="ctr"/>
          <a:lstStyle/>
          <a:p>
            <a:pPr algn="r" indent="0" marL="0">
              <a:buNone/>
            </a:pPr>
            <a:r>
              <a:rPr lang="en-US" sz="900" dirty="0">
                <a:solidFill>
                  <a:srgbClr val="CBD5E1"/>
                </a:solidFill>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DocTrust — Integrated Academic Writing Assistance System</dc:title>
  <dc:subject>PptxGenJS Presentation</dc:subject>
  <dc:creator>PptxGenJS</dc:creator>
  <cp:lastModifiedBy>PptxGenJS</cp:lastModifiedBy>
  <cp:revision>1</cp:revision>
  <dcterms:created xsi:type="dcterms:W3CDTF">2026-05-28T10:12:19Z</dcterms:created>
  <dcterms:modified xsi:type="dcterms:W3CDTF">2026-05-28T10:12:19Z</dcterms:modified>
</cp:coreProperties>
</file>